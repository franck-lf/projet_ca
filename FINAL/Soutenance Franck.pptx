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24"/>
  </p:notesMasterIdLst>
  <p:handoutMasterIdLst>
    <p:handoutMasterId r:id="rId125"/>
  </p:handoutMasterIdLst>
  <p:sldIdLst>
    <p:sldId id="256" r:id="rId2"/>
    <p:sldId id="257" r:id="rId3"/>
    <p:sldId id="304" r:id="rId4"/>
    <p:sldId id="305" r:id="rId5"/>
    <p:sldId id="307" r:id="rId6"/>
    <p:sldId id="324" r:id="rId7"/>
    <p:sldId id="325" r:id="rId8"/>
    <p:sldId id="465" r:id="rId9"/>
    <p:sldId id="329" r:id="rId10"/>
    <p:sldId id="327" r:id="rId11"/>
    <p:sldId id="467" r:id="rId12"/>
    <p:sldId id="330" r:id="rId13"/>
    <p:sldId id="331" r:id="rId14"/>
    <p:sldId id="334" r:id="rId15"/>
    <p:sldId id="336" r:id="rId16"/>
    <p:sldId id="340" r:id="rId17"/>
    <p:sldId id="342" r:id="rId18"/>
    <p:sldId id="341" r:id="rId19"/>
    <p:sldId id="349" r:id="rId20"/>
    <p:sldId id="346" r:id="rId21"/>
    <p:sldId id="347" r:id="rId22"/>
    <p:sldId id="344" r:id="rId23"/>
    <p:sldId id="343" r:id="rId24"/>
    <p:sldId id="323" r:id="rId25"/>
    <p:sldId id="351" r:id="rId26"/>
    <p:sldId id="350" r:id="rId27"/>
    <p:sldId id="398" r:id="rId28"/>
    <p:sldId id="352" r:id="rId29"/>
    <p:sldId id="399" r:id="rId30"/>
    <p:sldId id="353" r:id="rId31"/>
    <p:sldId id="355" r:id="rId32"/>
    <p:sldId id="356" r:id="rId33"/>
    <p:sldId id="357" r:id="rId34"/>
    <p:sldId id="354" r:id="rId35"/>
    <p:sldId id="358" r:id="rId36"/>
    <p:sldId id="359" r:id="rId37"/>
    <p:sldId id="368" r:id="rId38"/>
    <p:sldId id="367" r:id="rId39"/>
    <p:sldId id="363" r:id="rId40"/>
    <p:sldId id="469" r:id="rId41"/>
    <p:sldId id="364" r:id="rId42"/>
    <p:sldId id="366" r:id="rId43"/>
    <p:sldId id="369" r:id="rId44"/>
    <p:sldId id="372" r:id="rId45"/>
    <p:sldId id="468" r:id="rId46"/>
    <p:sldId id="377" r:id="rId47"/>
    <p:sldId id="379" r:id="rId48"/>
    <p:sldId id="380" r:id="rId49"/>
    <p:sldId id="378" r:id="rId50"/>
    <p:sldId id="381" r:id="rId51"/>
    <p:sldId id="382" r:id="rId52"/>
    <p:sldId id="384" r:id="rId53"/>
    <p:sldId id="385" r:id="rId54"/>
    <p:sldId id="386" r:id="rId55"/>
    <p:sldId id="387" r:id="rId56"/>
    <p:sldId id="392" r:id="rId57"/>
    <p:sldId id="393" r:id="rId58"/>
    <p:sldId id="394" r:id="rId59"/>
    <p:sldId id="391" r:id="rId60"/>
    <p:sldId id="396" r:id="rId61"/>
    <p:sldId id="397" r:id="rId62"/>
    <p:sldId id="400" r:id="rId63"/>
    <p:sldId id="401" r:id="rId64"/>
    <p:sldId id="328" r:id="rId65"/>
    <p:sldId id="402" r:id="rId66"/>
    <p:sldId id="420" r:id="rId67"/>
    <p:sldId id="421" r:id="rId68"/>
    <p:sldId id="406" r:id="rId69"/>
    <p:sldId id="423" r:id="rId70"/>
    <p:sldId id="422" r:id="rId71"/>
    <p:sldId id="410" r:id="rId72"/>
    <p:sldId id="424" r:id="rId73"/>
    <p:sldId id="425" r:id="rId74"/>
    <p:sldId id="426" r:id="rId75"/>
    <p:sldId id="411" r:id="rId76"/>
    <p:sldId id="428" r:id="rId77"/>
    <p:sldId id="429" r:id="rId78"/>
    <p:sldId id="432" r:id="rId79"/>
    <p:sldId id="412" r:id="rId80"/>
    <p:sldId id="407" r:id="rId81"/>
    <p:sldId id="427" r:id="rId82"/>
    <p:sldId id="435" r:id="rId83"/>
    <p:sldId id="436" r:id="rId84"/>
    <p:sldId id="442" r:id="rId85"/>
    <p:sldId id="409" r:id="rId86"/>
    <p:sldId id="437" r:id="rId87"/>
    <p:sldId id="438" r:id="rId88"/>
    <p:sldId id="443" r:id="rId89"/>
    <p:sldId id="462" r:id="rId90"/>
    <p:sldId id="444" r:id="rId91"/>
    <p:sldId id="463" r:id="rId92"/>
    <p:sldId id="464" r:id="rId93"/>
    <p:sldId id="413" r:id="rId94"/>
    <p:sldId id="415" r:id="rId95"/>
    <p:sldId id="446" r:id="rId96"/>
    <p:sldId id="445" r:id="rId97"/>
    <p:sldId id="447" r:id="rId98"/>
    <p:sldId id="448" r:id="rId99"/>
    <p:sldId id="449" r:id="rId100"/>
    <p:sldId id="450" r:id="rId101"/>
    <p:sldId id="451" r:id="rId102"/>
    <p:sldId id="452" r:id="rId103"/>
    <p:sldId id="416" r:id="rId104"/>
    <p:sldId id="454" r:id="rId105"/>
    <p:sldId id="458" r:id="rId106"/>
    <p:sldId id="455" r:id="rId107"/>
    <p:sldId id="456" r:id="rId108"/>
    <p:sldId id="457" r:id="rId109"/>
    <p:sldId id="453" r:id="rId110"/>
    <p:sldId id="461" r:id="rId111"/>
    <p:sldId id="459" r:id="rId112"/>
    <p:sldId id="460" r:id="rId113"/>
    <p:sldId id="470" r:id="rId114"/>
    <p:sldId id="441" r:id="rId115"/>
    <p:sldId id="404" r:id="rId116"/>
    <p:sldId id="376" r:id="rId117"/>
    <p:sldId id="322" r:id="rId118"/>
    <p:sldId id="466" r:id="rId119"/>
    <p:sldId id="395" r:id="rId120"/>
    <p:sldId id="430" r:id="rId121"/>
    <p:sldId id="431" r:id="rId122"/>
    <p:sldId id="434" r:id="rId12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26"/>
      <p:bold r:id="rId127"/>
      <p:italic r:id="rId128"/>
      <p:boldItalic r:id="rId129"/>
    </p:embeddedFont>
    <p:embeddedFont>
      <p:font typeface="Tajawal" panose="020B0604020202020204" charset="-78"/>
      <p:regular r:id="rId130"/>
      <p:bold r:id="rId1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05813F-81AF-4D59-B5DD-05007582F939}" v="92" dt="2023-04-27T12:18:11.151"/>
  </p1510:revLst>
</p1510:revInfo>
</file>

<file path=ppt/tableStyles.xml><?xml version="1.0" encoding="utf-8"?>
<a:tblStyleLst xmlns:a="http://schemas.openxmlformats.org/drawingml/2006/main" def="{42ECD5B0-B39D-4D39-BD9C-B6D7D6AF88A7}">
  <a:tblStyle styleId="{42ECD5B0-B39D-4D39-BD9C-B6D7D6AF88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62" y="2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font" Target="fonts/font3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129" Type="http://schemas.openxmlformats.org/officeDocument/2006/relationships/font" Target="fonts/font4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5.fntdata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6.fntdata"/><Relationship Id="rId136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hann FIN" userId="f77984fa3435669e" providerId="Windows Live" clId="Web-{A105813F-81AF-4D59-B5DD-05007582F939}"/>
    <pc:docChg chg="modSld modMainMaster">
      <pc:chgData name="Yohann FIN" userId="f77984fa3435669e" providerId="Windows Live" clId="Web-{A105813F-81AF-4D59-B5DD-05007582F939}" dt="2023-04-27T12:18:11.151" v="91"/>
      <pc:docMkLst>
        <pc:docMk/>
      </pc:docMkLst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56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57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58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59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60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61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66"/>
        </pc:sldMkLst>
      </pc:sldChg>
      <pc:sldChg chg="modTransition">
        <pc:chgData name="Yohann FIN" userId="f77984fa3435669e" providerId="Windows Live" clId="Web-{A105813F-81AF-4D59-B5DD-05007582F939}" dt="2023-04-27T12:18:02.932" v="90"/>
        <pc:sldMkLst>
          <pc:docMk/>
          <pc:sldMk cId="0" sldId="277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773395267" sldId="298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81498732" sldId="299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543192515" sldId="300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035049915" sldId="301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517214333" sldId="302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966490342" sldId="303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612188110" sldId="304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430122690" sldId="305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532483205" sldId="306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40450523" sldId="307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66807773" sldId="308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703018715" sldId="309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538394332" sldId="310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712192516" sldId="311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182733959" sldId="312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009647571" sldId="313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016242216" sldId="314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447354572" sldId="315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912182317" sldId="316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966940072" sldId="317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991253622" sldId="318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064749033" sldId="319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677175526" sldId="320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79169496" sldId="321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220073716" sldId="322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13516643" sldId="323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126433256" sldId="324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307276461" sldId="325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106272107" sldId="326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151021557" sldId="327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931778267" sldId="328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758828393" sldId="329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409606502" sldId="330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945012751" sldId="331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002147026" sldId="332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194325530" sldId="333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981227741" sldId="334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633377989" sldId="335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637552687" sldId="336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665490146" sldId="337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672483485" sldId="338"/>
        </pc:sldMkLst>
      </pc:sldChg>
      <pc:sldMasterChg chg="mod modTransition modSldLayout">
        <pc:chgData name="Yohann FIN" userId="f77984fa3435669e" providerId="Windows Live" clId="Web-{A105813F-81AF-4D59-B5DD-05007582F939}" dt="2023-04-27T12:18:11.151" v="91"/>
        <pc:sldMasterMkLst>
          <pc:docMk/>
          <pc:sldMasterMk cId="0" sldId="2147483673"/>
        </pc:sldMasterMkLst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48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49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52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54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55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57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58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59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0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3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5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6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7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8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9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7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7E4454F-3EE2-7B0C-A043-46588F7F8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D7B0AFA-84D9-6839-32D7-9860B687D5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3573F-35E8-4ECF-8807-E6DB34C1B182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F425AA-C25A-EAD5-5407-93A53352AC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3E169D-A558-D4E4-754D-C4E89D1FFC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20381-8443-40E3-9494-67F009D7BF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6770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1f682941b8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21" name="Google Shape;921;g11f682941b8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11efcb08b7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154" name="Google Shape;1154;g11efcb08b7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3350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EB9E19E4-2BD4-82CC-66EA-70444BED5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F5221061-836B-BB91-3CA0-F19AAAA396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E9013EA9-E229-40C3-C213-C9760C235A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84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D56E3C7A-5418-C756-712C-FC750251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1070E24C-87A2-68FE-A0BF-4D43B81BA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C27D623D-01CB-AE4E-DACD-0859BAD11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6536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BFFF53FC-300D-4715-5CDF-720E4E2AB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51EE6ABA-ADE0-0160-0E76-519F42A5E8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2DB4AB65-C954-34F5-828A-5A4495F0F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40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6083A311-6EB3-4897-021D-56F14040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3DAACF2B-CD60-FD3F-7DDA-F7169131D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FD3901A7-810C-8AB5-B267-7E62C855B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4164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E2FFE9D0-6E65-A365-3E28-1FDF264F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D558363D-9D9A-D608-42A3-3B6DC5B56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8BC479B9-89A2-1DF5-FD1C-2EC53C5617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6084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9D799351-9104-AF62-38D5-5CBA6815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AC2D32F4-CBCC-1148-6131-4902CA29A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CF42193F-6E09-14EF-766B-6498956F2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235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F99CF620-94C9-2A0B-810B-C45ADA532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2E3CF572-0F62-9A70-4256-0FEB91E10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794AD513-29E1-EE5F-DAA7-86467D2698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9412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C705D174-3031-845E-7D8E-A89F40CE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5C23925D-7C3B-471B-EEEF-CEAB9478BC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AD28E3FF-0B01-5351-20DD-7879AF013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469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6C5A600D-1534-10F9-F1F2-78F9D6375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29A632C7-274B-04B8-0E4C-95AF2B9289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107824D6-034D-6CF8-44E7-B5C5E9B3E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9326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B2AF2EEF-D93B-6C00-632F-8855D93B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8563357F-305A-F5B5-B529-5CB028953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D7988FEC-989A-1EB2-A885-E7C48E26A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259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514DE3CF-3878-CEE4-022B-75921A069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9EE96C66-AB52-D329-5D9F-D2D02B73D6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0438D48C-6C40-BF77-EDD4-0272AE6402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57077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93C57EA6-3F69-CF32-3D4A-D7D80A0E2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0B2B0A21-FE41-F9B2-1644-2A1D9EFEC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95A3956E-2560-B97C-48E5-73BA37912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72484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CDC089CA-9F1B-07E4-1473-1CE95A264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8A5689F9-1F5D-2AFC-78D0-431A7160A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7A28B051-217E-21F6-BDFE-B20FF7B3F8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19962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C78121E4-7A7A-9805-F5E4-7F4AEA75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7E614654-16B3-4EC3-EBA8-EF40700F07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83AA93CE-B957-BA8C-7DF7-62312B0E6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8238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92639E2F-3E7F-FF89-FF7A-A4F6AC7C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26A49A74-D4E5-1370-AC5F-9EAC3F6E81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F4780CE0-BA0C-CF60-F413-A95BEAE87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6838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3A001553-73FA-58EF-A8C3-0A485CC4A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E67BC0B1-17B4-32E9-0E59-11D357C9E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882CE7AF-18BF-504F-1DEA-6E7C979023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17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84504EC7-4829-E3D6-0B32-64A6AFFF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1854E9C2-EED0-E228-7A51-B17F94620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4BBDD2B5-251D-3DC5-C83E-7A1F3F4418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91270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C176B849-C1A4-77D2-D563-B619A5157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FCE1C5F4-25C7-E350-6759-E7B761F168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92CB9AFE-4060-A469-D57C-35C226B37D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28917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0B549554-FA93-470B-D2CB-3598D5186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0D59E5F3-1C06-BC9E-4638-9B44B682EA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F1C991A6-1E4D-708C-0132-713F380D6C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68315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4699A07A-CF93-F586-31C9-21433022B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3C8A052B-6CD4-7009-4E31-8484AB7202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3FB0ACCE-3AF9-8749-4910-DC7894869D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97134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23D61E74-176B-0DA2-185C-5F0167C8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C931787A-BC01-695F-A8B7-5C5CA65DD3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5A2A6372-6255-E032-A773-023DD26220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35823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ED101437-8229-69EB-F588-7A012780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55A4FA6B-BB83-B1C3-DC6D-0326C3B4D9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49166EBB-C2A7-F270-E7C1-C736EC6FB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7925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783D7676-9EA8-7031-182C-14C5023B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48C94E12-8DDF-A21C-26C0-2FDE922569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06C4D36A-C462-A729-33F2-8A6A6A476C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23334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3234D833-EA3F-7335-9FDE-F719FF38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98E1DB8E-BDC5-4663-D3B0-ECEF34F5D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C14D5AE3-F20C-240A-3AA6-FBD6F67D2D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81268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BA1E6C6C-6E9F-1A40-D6CC-6EFF0A4A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350E2F47-94D0-0BFE-1D0A-CB34AD90B2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03812B6F-8C85-8702-BE27-BF3E963F8F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23260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0B61EC3B-46BA-A503-7FAE-5B1E2AE00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EB386154-F300-F6CF-B23B-4C84816CAE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A6A0BB36-D781-3C8E-C5B7-85F4A4F27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59490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500A2B71-5B52-8575-4CA7-C40659F2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48362B71-CC51-BED4-5306-8A3043B4F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CA3796A3-1348-BB92-EB0B-4002ECA65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94803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42D6412A-05CE-7486-C4EF-754F1620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72E0CA57-22CA-4E88-684E-488C45D81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EB5556E1-5F7D-F45D-5267-FE48AD68B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74592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A9A51D75-CB63-B5F5-C56C-83813E9C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6545D080-B5BD-9EC0-C99C-0750C39F3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A0A3C5F7-6B08-FD16-ED13-6B844935B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72747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62AC9BDA-BB81-47EC-97D2-8FE74D9F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FC4E50B0-41B3-72D0-B7EF-1578D793C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7A5C8C2D-8DED-EDBF-4582-5E673BFB3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9969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74808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>
          <a:extLst>
            <a:ext uri="{FF2B5EF4-FFF2-40B4-BE49-F238E27FC236}">
              <a16:creationId xmlns:a16="http://schemas.microsoft.com/office/drawing/2014/main" id="{30ADCF2A-3AF1-8551-2530-29D25629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>
            <a:extLst>
              <a:ext uri="{FF2B5EF4-FFF2-40B4-BE49-F238E27FC236}">
                <a16:creationId xmlns:a16="http://schemas.microsoft.com/office/drawing/2014/main" id="{59BC0498-EB10-7FEA-72F0-DA98B8553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7" name="Google Shape;967;g11efcb08b7f_0_0:notes">
            <a:extLst>
              <a:ext uri="{FF2B5EF4-FFF2-40B4-BE49-F238E27FC236}">
                <a16:creationId xmlns:a16="http://schemas.microsoft.com/office/drawing/2014/main" id="{1CA3620D-9068-C954-EB8C-97FEE781FE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89192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097C9571-E07D-4CEF-300F-90741B46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>
            <a:extLst>
              <a:ext uri="{FF2B5EF4-FFF2-40B4-BE49-F238E27FC236}">
                <a16:creationId xmlns:a16="http://schemas.microsoft.com/office/drawing/2014/main" id="{497430F5-15D3-B636-B1EB-E0670D261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442" name="Google Shape;1442;g11efcb08b7f_0_79:notes">
            <a:extLst>
              <a:ext uri="{FF2B5EF4-FFF2-40B4-BE49-F238E27FC236}">
                <a16:creationId xmlns:a16="http://schemas.microsoft.com/office/drawing/2014/main" id="{2CBB28A1-6C3C-39C6-B3B6-B6B8E6891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2509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743325" y="1454185"/>
            <a:ext cx="6952800" cy="1339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flipH="1">
            <a:off x="3452019" y="-348332"/>
            <a:ext cx="1019565" cy="1290805"/>
            <a:chOff x="-4017975" y="-49702"/>
            <a:chExt cx="1162825" cy="1472177"/>
          </a:xfrm>
        </p:grpSpPr>
        <p:sp>
          <p:nvSpPr>
            <p:cNvPr id="12" name="Google Shape;12;p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 flipH="1">
            <a:off x="8425338" y="2120543"/>
            <a:ext cx="1938846" cy="1720830"/>
            <a:chOff x="-1873362" y="2120543"/>
            <a:chExt cx="1938846" cy="1720830"/>
          </a:xfrm>
        </p:grpSpPr>
        <p:sp>
          <p:nvSpPr>
            <p:cNvPr id="20" name="Google Shape;2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 flipH="1">
            <a:off x="-1155987" y="-912707"/>
            <a:ext cx="1938846" cy="1720830"/>
            <a:chOff x="-1873362" y="2120543"/>
            <a:chExt cx="1938846" cy="1720830"/>
          </a:xfrm>
        </p:grpSpPr>
        <p:sp>
          <p:nvSpPr>
            <p:cNvPr id="40" name="Google Shape;4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2"/>
          <p:cNvGrpSpPr/>
          <p:nvPr/>
        </p:nvGrpSpPr>
        <p:grpSpPr>
          <a:xfrm flipH="1">
            <a:off x="6857372" y="-188512"/>
            <a:ext cx="1516025" cy="1489525"/>
            <a:chOff x="-3888525" y="-3012325"/>
            <a:chExt cx="1516025" cy="1489525"/>
          </a:xfrm>
        </p:grpSpPr>
        <p:sp>
          <p:nvSpPr>
            <p:cNvPr id="60" name="Google Shape;60;p2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6"/>
          <p:cNvGrpSpPr/>
          <p:nvPr/>
        </p:nvGrpSpPr>
        <p:grpSpPr>
          <a:xfrm>
            <a:off x="8361160" y="-152294"/>
            <a:ext cx="1040638" cy="1353907"/>
            <a:chOff x="8361160" y="-152294"/>
            <a:chExt cx="1040638" cy="1353907"/>
          </a:xfrm>
        </p:grpSpPr>
        <p:grpSp>
          <p:nvGrpSpPr>
            <p:cNvPr id="209" name="Google Shape;209;p6"/>
            <p:cNvGrpSpPr/>
            <p:nvPr/>
          </p:nvGrpSpPr>
          <p:grpSpPr>
            <a:xfrm flipH="1">
              <a:off x="8361160" y="300238"/>
              <a:ext cx="1040638" cy="901375"/>
              <a:chOff x="948060" y="3972813"/>
              <a:chExt cx="1040638" cy="901375"/>
            </a:xfrm>
          </p:grpSpPr>
          <p:grpSp>
            <p:nvGrpSpPr>
              <p:cNvPr id="210" name="Google Shape;210;p6"/>
              <p:cNvGrpSpPr/>
              <p:nvPr/>
            </p:nvGrpSpPr>
            <p:grpSpPr>
              <a:xfrm flipH="1">
                <a:off x="948060" y="3972813"/>
                <a:ext cx="716725" cy="901375"/>
                <a:chOff x="-3888525" y="-2483300"/>
                <a:chExt cx="716725" cy="901375"/>
              </a:xfrm>
            </p:grpSpPr>
            <p:sp>
              <p:nvSpPr>
                <p:cNvPr id="211" name="Google Shape;211;p6"/>
                <p:cNvSpPr/>
                <p:nvPr/>
              </p:nvSpPr>
              <p:spPr>
                <a:xfrm>
                  <a:off x="-3719475" y="-2483300"/>
                  <a:ext cx="547675" cy="54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" h="21882" extrusionOk="0">
                      <a:moveTo>
                        <a:pt x="21756" y="1"/>
                      </a:moveTo>
                      <a:cubicBezTo>
                        <a:pt x="21723" y="1"/>
                        <a:pt x="21689" y="15"/>
                        <a:pt x="21661" y="43"/>
                      </a:cubicBezTo>
                      <a:lnTo>
                        <a:pt x="56" y="21647"/>
                      </a:lnTo>
                      <a:cubicBezTo>
                        <a:pt x="1" y="21703"/>
                        <a:pt x="1" y="21781"/>
                        <a:pt x="56" y="21837"/>
                      </a:cubicBezTo>
                      <a:cubicBezTo>
                        <a:pt x="79" y="21870"/>
                        <a:pt x="112" y="21882"/>
                        <a:pt x="157" y="21882"/>
                      </a:cubicBezTo>
                      <a:cubicBezTo>
                        <a:pt x="190" y="21882"/>
                        <a:pt x="224" y="21870"/>
                        <a:pt x="257" y="21837"/>
                      </a:cubicBezTo>
                      <a:lnTo>
                        <a:pt x="21851" y="243"/>
                      </a:lnTo>
                      <a:cubicBezTo>
                        <a:pt x="21907" y="188"/>
                        <a:pt x="21907" y="98"/>
                        <a:pt x="21851" y="43"/>
                      </a:cubicBezTo>
                      <a:cubicBezTo>
                        <a:pt x="21823" y="15"/>
                        <a:pt x="21790" y="1"/>
                        <a:pt x="217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6"/>
                <p:cNvSpPr/>
                <p:nvPr/>
              </p:nvSpPr>
              <p:spPr>
                <a:xfrm>
                  <a:off x="-3888525" y="-2128825"/>
                  <a:ext cx="549275" cy="54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71" h="21876" extrusionOk="0">
                      <a:moveTo>
                        <a:pt x="21780" y="1"/>
                      </a:moveTo>
                      <a:cubicBezTo>
                        <a:pt x="21751" y="1"/>
                        <a:pt x="21721" y="11"/>
                        <a:pt x="21694" y="36"/>
                      </a:cubicBezTo>
                      <a:lnTo>
                        <a:pt x="89" y="21630"/>
                      </a:lnTo>
                      <a:cubicBezTo>
                        <a:pt x="0" y="21719"/>
                        <a:pt x="67" y="21864"/>
                        <a:pt x="190" y="21875"/>
                      </a:cubicBezTo>
                      <a:cubicBezTo>
                        <a:pt x="223" y="21864"/>
                        <a:pt x="268" y="21853"/>
                        <a:pt x="290" y="21830"/>
                      </a:cubicBezTo>
                      <a:lnTo>
                        <a:pt x="21884" y="226"/>
                      </a:lnTo>
                      <a:cubicBezTo>
                        <a:pt x="21971" y="130"/>
                        <a:pt x="21882" y="1"/>
                        <a:pt x="217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3" name="Google Shape;213;p6"/>
              <p:cNvGrpSpPr/>
              <p:nvPr/>
            </p:nvGrpSpPr>
            <p:grpSpPr>
              <a:xfrm flipH="1">
                <a:off x="1664772" y="4493938"/>
                <a:ext cx="323925" cy="323650"/>
                <a:chOff x="1608625" y="299800"/>
                <a:chExt cx="323925" cy="323650"/>
              </a:xfrm>
            </p:grpSpPr>
            <p:sp>
              <p:nvSpPr>
                <p:cNvPr id="214" name="Google Shape;214;p6"/>
                <p:cNvSpPr/>
                <p:nvPr/>
              </p:nvSpPr>
              <p:spPr>
                <a:xfrm>
                  <a:off x="1633450" y="324425"/>
                  <a:ext cx="275900" cy="27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6" h="10968" extrusionOk="0">
                      <a:moveTo>
                        <a:pt x="10830" y="0"/>
                      </a:moveTo>
                      <a:cubicBezTo>
                        <a:pt x="10795" y="0"/>
                        <a:pt x="10758" y="16"/>
                        <a:pt x="10725" y="54"/>
                      </a:cubicBezTo>
                      <a:lnTo>
                        <a:pt x="46" y="10733"/>
                      </a:lnTo>
                      <a:cubicBezTo>
                        <a:pt x="1" y="10789"/>
                        <a:pt x="1" y="10867"/>
                        <a:pt x="46" y="10923"/>
                      </a:cubicBezTo>
                      <a:cubicBezTo>
                        <a:pt x="79" y="10956"/>
                        <a:pt x="112" y="10968"/>
                        <a:pt x="146" y="10968"/>
                      </a:cubicBezTo>
                      <a:cubicBezTo>
                        <a:pt x="191" y="10968"/>
                        <a:pt x="224" y="10956"/>
                        <a:pt x="246" y="10923"/>
                      </a:cubicBezTo>
                      <a:lnTo>
                        <a:pt x="10926" y="254"/>
                      </a:lnTo>
                      <a:cubicBezTo>
                        <a:pt x="11036" y="153"/>
                        <a:pt x="10941" y="0"/>
                        <a:pt x="10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6"/>
                <p:cNvSpPr/>
                <p:nvPr/>
              </p:nvSpPr>
              <p:spPr>
                <a:xfrm>
                  <a:off x="1875625" y="299800"/>
                  <a:ext cx="56925" cy="5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7" h="2278" extrusionOk="0">
                      <a:moveTo>
                        <a:pt x="1139" y="1"/>
                      </a:moveTo>
                      <a:cubicBezTo>
                        <a:pt x="514" y="1"/>
                        <a:pt x="0" y="514"/>
                        <a:pt x="0" y="1139"/>
                      </a:cubicBezTo>
                      <a:cubicBezTo>
                        <a:pt x="0" y="1764"/>
                        <a:pt x="514" y="2277"/>
                        <a:pt x="1139" y="2277"/>
                      </a:cubicBezTo>
                      <a:cubicBezTo>
                        <a:pt x="1764" y="2277"/>
                        <a:pt x="2277" y="1764"/>
                        <a:pt x="2277" y="1139"/>
                      </a:cubicBezTo>
                      <a:cubicBezTo>
                        <a:pt x="2277" y="514"/>
                        <a:pt x="1764" y="1"/>
                        <a:pt x="113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6"/>
                <p:cNvSpPr/>
                <p:nvPr/>
              </p:nvSpPr>
              <p:spPr>
                <a:xfrm>
                  <a:off x="1608625" y="566800"/>
                  <a:ext cx="56950" cy="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2266" extrusionOk="0">
                      <a:moveTo>
                        <a:pt x="1139" y="0"/>
                      </a:moveTo>
                      <a:cubicBezTo>
                        <a:pt x="514" y="0"/>
                        <a:pt x="1" y="503"/>
                        <a:pt x="1" y="1127"/>
                      </a:cubicBezTo>
                      <a:cubicBezTo>
                        <a:pt x="1" y="1764"/>
                        <a:pt x="514" y="2266"/>
                        <a:pt x="1139" y="2266"/>
                      </a:cubicBezTo>
                      <a:cubicBezTo>
                        <a:pt x="1775" y="2266"/>
                        <a:pt x="2277" y="1764"/>
                        <a:pt x="2277" y="1127"/>
                      </a:cubicBezTo>
                      <a:cubicBezTo>
                        <a:pt x="2277" y="503"/>
                        <a:pt x="1775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7" name="Google Shape;217;p6"/>
            <p:cNvGrpSpPr/>
            <p:nvPr/>
          </p:nvGrpSpPr>
          <p:grpSpPr>
            <a:xfrm rot="10800000">
              <a:off x="8442919" y="-152294"/>
              <a:ext cx="777174" cy="1001897"/>
              <a:chOff x="-4604150" y="-305525"/>
              <a:chExt cx="886375" cy="1142675"/>
            </a:xfrm>
          </p:grpSpPr>
          <p:sp>
            <p:nvSpPr>
              <p:cNvPr id="218" name="Google Shape;218;p6"/>
              <p:cNvSpPr/>
              <p:nvPr/>
            </p:nvSpPr>
            <p:spPr>
              <a:xfrm>
                <a:off x="-4604150" y="-280425"/>
                <a:ext cx="858750" cy="1117575"/>
              </a:xfrm>
              <a:custGeom>
                <a:avLst/>
                <a:gdLst/>
                <a:ahLst/>
                <a:cxnLst/>
                <a:rect l="l" t="t" r="r" b="b"/>
                <a:pathLst>
                  <a:path w="34350" h="44703" extrusionOk="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-3780300" y="-305525"/>
                <a:ext cx="62525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2280" extrusionOk="0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-4199050" y="281125"/>
                <a:ext cx="155150" cy="154850"/>
              </a:xfrm>
              <a:custGeom>
                <a:avLst/>
                <a:gdLst/>
                <a:ahLst/>
                <a:cxnLst/>
                <a:rect l="l" t="t" r="r" b="b"/>
                <a:pathLst>
                  <a:path w="6206" h="6194" extrusionOk="0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1" name="Google Shape;221;p6"/>
          <p:cNvGrpSpPr/>
          <p:nvPr/>
        </p:nvGrpSpPr>
        <p:grpSpPr>
          <a:xfrm>
            <a:off x="778838" y="379263"/>
            <a:ext cx="184175" cy="158025"/>
            <a:chOff x="-3626300" y="-1680825"/>
            <a:chExt cx="184175" cy="158025"/>
          </a:xfrm>
        </p:grpSpPr>
        <p:sp>
          <p:nvSpPr>
            <p:cNvPr id="222" name="Google Shape;222;p6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6"/>
          <p:cNvGrpSpPr/>
          <p:nvPr/>
        </p:nvGrpSpPr>
        <p:grpSpPr>
          <a:xfrm>
            <a:off x="-252062" y="300238"/>
            <a:ext cx="716725" cy="901375"/>
            <a:chOff x="-3888525" y="-2483300"/>
            <a:chExt cx="716725" cy="901375"/>
          </a:xfrm>
        </p:grpSpPr>
        <p:sp>
          <p:nvSpPr>
            <p:cNvPr id="225" name="Google Shape;225;p6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 txBox="1">
            <a:spLocks noGrp="1"/>
          </p:cNvSpPr>
          <p:nvPr>
            <p:ph type="title"/>
          </p:nvPr>
        </p:nvSpPr>
        <p:spPr>
          <a:xfrm>
            <a:off x="1388100" y="556250"/>
            <a:ext cx="5904000" cy="40311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94" name="Google Shape;294;p8"/>
          <p:cNvGrpSpPr/>
          <p:nvPr/>
        </p:nvGrpSpPr>
        <p:grpSpPr>
          <a:xfrm flipH="1">
            <a:off x="7745597" y="3097813"/>
            <a:ext cx="1516025" cy="1489525"/>
            <a:chOff x="-3888525" y="-3012325"/>
            <a:chExt cx="1516025" cy="1489525"/>
          </a:xfrm>
        </p:grpSpPr>
        <p:sp>
          <p:nvSpPr>
            <p:cNvPr id="295" name="Google Shape;295;p8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8"/>
          <p:cNvGrpSpPr/>
          <p:nvPr/>
        </p:nvGrpSpPr>
        <p:grpSpPr>
          <a:xfrm>
            <a:off x="7994347" y="735313"/>
            <a:ext cx="873188" cy="546900"/>
            <a:chOff x="1115510" y="4327288"/>
            <a:chExt cx="873188" cy="546900"/>
          </a:xfrm>
        </p:grpSpPr>
        <p:sp>
          <p:nvSpPr>
            <p:cNvPr id="307" name="Google Shape;307;p8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" name="Google Shape;308;p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309" name="Google Shape;309;p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2" name="Google Shape;312;p8"/>
          <p:cNvGrpSpPr/>
          <p:nvPr/>
        </p:nvGrpSpPr>
        <p:grpSpPr>
          <a:xfrm flipH="1">
            <a:off x="6119781" y="4587350"/>
            <a:ext cx="713803" cy="706547"/>
            <a:chOff x="-4017975" y="616650"/>
            <a:chExt cx="814100" cy="805825"/>
          </a:xfrm>
        </p:grpSpPr>
        <p:sp>
          <p:nvSpPr>
            <p:cNvPr id="313" name="Google Shape;313;p8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" name="Google Shape;317;p8"/>
          <p:cNvGrpSpPr/>
          <p:nvPr/>
        </p:nvGrpSpPr>
        <p:grpSpPr>
          <a:xfrm>
            <a:off x="665435" y="-108237"/>
            <a:ext cx="1040638" cy="901375"/>
            <a:chOff x="948060" y="3972813"/>
            <a:chExt cx="1040638" cy="901375"/>
          </a:xfrm>
        </p:grpSpPr>
        <p:grpSp>
          <p:nvGrpSpPr>
            <p:cNvPr id="318" name="Google Shape;318;p8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319" name="Google Shape;319;p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1" name="Google Shape;321;p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322" name="Google Shape;322;p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4"/>
          <p:cNvSpPr txBox="1">
            <a:spLocks noGrp="1"/>
          </p:cNvSpPr>
          <p:nvPr>
            <p:ph type="title"/>
          </p:nvPr>
        </p:nvSpPr>
        <p:spPr>
          <a:xfrm>
            <a:off x="1940550" y="3438075"/>
            <a:ext cx="5262900" cy="363000"/>
          </a:xfrm>
          <a:prstGeom prst="rect">
            <a:avLst/>
          </a:prstGeom>
          <a:noFill/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3" name="Google Shape;473;p14"/>
          <p:cNvSpPr txBox="1">
            <a:spLocks noGrp="1"/>
          </p:cNvSpPr>
          <p:nvPr>
            <p:ph type="subTitle" idx="1"/>
          </p:nvPr>
        </p:nvSpPr>
        <p:spPr>
          <a:xfrm>
            <a:off x="1940550" y="1342425"/>
            <a:ext cx="5262900" cy="1592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474" name="Google Shape;474;p14"/>
          <p:cNvGrpSpPr/>
          <p:nvPr/>
        </p:nvGrpSpPr>
        <p:grpSpPr>
          <a:xfrm>
            <a:off x="8103363" y="1111063"/>
            <a:ext cx="1040638" cy="901375"/>
            <a:chOff x="8457538" y="810363"/>
            <a:chExt cx="1040638" cy="901375"/>
          </a:xfrm>
        </p:grpSpPr>
        <p:grpSp>
          <p:nvGrpSpPr>
            <p:cNvPr id="475" name="Google Shape;475;p1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476" name="Google Shape;476;p1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1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479" name="Google Shape;479;p1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2" name="Google Shape;482;p14"/>
          <p:cNvGrpSpPr/>
          <p:nvPr/>
        </p:nvGrpSpPr>
        <p:grpSpPr>
          <a:xfrm>
            <a:off x="214269" y="2098393"/>
            <a:ext cx="1019565" cy="1290805"/>
            <a:chOff x="-4017975" y="-49702"/>
            <a:chExt cx="1162825" cy="1472177"/>
          </a:xfrm>
        </p:grpSpPr>
        <p:sp>
          <p:nvSpPr>
            <p:cNvPr id="483" name="Google Shape;483;p1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_1_1"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9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19"/>
          <p:cNvSpPr txBox="1">
            <a:spLocks noGrp="1"/>
          </p:cNvSpPr>
          <p:nvPr>
            <p:ph type="subTitle" idx="1"/>
          </p:nvPr>
        </p:nvSpPr>
        <p:spPr>
          <a:xfrm>
            <a:off x="785913" y="20885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4" name="Google Shape;664;p19"/>
          <p:cNvSpPr txBox="1">
            <a:spLocks noGrp="1"/>
          </p:cNvSpPr>
          <p:nvPr>
            <p:ph type="subTitle" idx="2"/>
          </p:nvPr>
        </p:nvSpPr>
        <p:spPr>
          <a:xfrm>
            <a:off x="785913" y="17176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5" name="Google Shape;665;p19"/>
          <p:cNvSpPr txBox="1">
            <a:spLocks noGrp="1"/>
          </p:cNvSpPr>
          <p:nvPr>
            <p:ph type="subTitle" idx="3"/>
          </p:nvPr>
        </p:nvSpPr>
        <p:spPr>
          <a:xfrm>
            <a:off x="3428113" y="20885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6" name="Google Shape;666;p19"/>
          <p:cNvSpPr txBox="1">
            <a:spLocks noGrp="1"/>
          </p:cNvSpPr>
          <p:nvPr>
            <p:ph type="subTitle" idx="4"/>
          </p:nvPr>
        </p:nvSpPr>
        <p:spPr>
          <a:xfrm>
            <a:off x="3428100" y="17176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7" name="Google Shape;667;p19"/>
          <p:cNvSpPr txBox="1">
            <a:spLocks noGrp="1"/>
          </p:cNvSpPr>
          <p:nvPr>
            <p:ph type="subTitle" idx="5"/>
          </p:nvPr>
        </p:nvSpPr>
        <p:spPr>
          <a:xfrm>
            <a:off x="6070288" y="20885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8" name="Google Shape;668;p19"/>
          <p:cNvSpPr txBox="1">
            <a:spLocks noGrp="1"/>
          </p:cNvSpPr>
          <p:nvPr>
            <p:ph type="subTitle" idx="6"/>
          </p:nvPr>
        </p:nvSpPr>
        <p:spPr>
          <a:xfrm>
            <a:off x="6070288" y="17176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9" name="Google Shape;669;p19"/>
          <p:cNvSpPr txBox="1">
            <a:spLocks noGrp="1"/>
          </p:cNvSpPr>
          <p:nvPr>
            <p:ph type="subTitle" idx="7"/>
          </p:nvPr>
        </p:nvSpPr>
        <p:spPr>
          <a:xfrm>
            <a:off x="785913" y="38246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0" name="Google Shape;670;p19"/>
          <p:cNvSpPr txBox="1">
            <a:spLocks noGrp="1"/>
          </p:cNvSpPr>
          <p:nvPr>
            <p:ph type="subTitle" idx="8"/>
          </p:nvPr>
        </p:nvSpPr>
        <p:spPr>
          <a:xfrm>
            <a:off x="785913" y="34537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1" name="Google Shape;671;p19"/>
          <p:cNvSpPr txBox="1">
            <a:spLocks noGrp="1"/>
          </p:cNvSpPr>
          <p:nvPr>
            <p:ph type="subTitle" idx="9"/>
          </p:nvPr>
        </p:nvSpPr>
        <p:spPr>
          <a:xfrm>
            <a:off x="3428113" y="38246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2" name="Google Shape;672;p19"/>
          <p:cNvSpPr txBox="1">
            <a:spLocks noGrp="1"/>
          </p:cNvSpPr>
          <p:nvPr>
            <p:ph type="subTitle" idx="13"/>
          </p:nvPr>
        </p:nvSpPr>
        <p:spPr>
          <a:xfrm>
            <a:off x="3428100" y="34537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3" name="Google Shape;673;p19"/>
          <p:cNvSpPr txBox="1">
            <a:spLocks noGrp="1"/>
          </p:cNvSpPr>
          <p:nvPr>
            <p:ph type="subTitle" idx="14"/>
          </p:nvPr>
        </p:nvSpPr>
        <p:spPr>
          <a:xfrm>
            <a:off x="6070288" y="38246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4" name="Google Shape;674;p19"/>
          <p:cNvSpPr txBox="1">
            <a:spLocks noGrp="1"/>
          </p:cNvSpPr>
          <p:nvPr>
            <p:ph type="subTitle" idx="15"/>
          </p:nvPr>
        </p:nvSpPr>
        <p:spPr>
          <a:xfrm>
            <a:off x="6070288" y="34537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675" name="Google Shape;675;p19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676" name="Google Shape;676;p1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677" name="Google Shape;677;p1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1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9" name="Google Shape;679;p1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680" name="Google Shape;680;p1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3" name="Google Shape;683;p19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684" name="Google Shape;684;p1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685" name="Google Shape;685;p1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7" name="Google Shape;687;p1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688" name="Google Shape;688;p1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1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1" name="Google Shape;691;p19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692" name="Google Shape;692;p19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19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697" name="Google Shape;697;p19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2"/>
          <p:cNvSpPr txBox="1">
            <a:spLocks noGrp="1"/>
          </p:cNvSpPr>
          <p:nvPr>
            <p:ph type="ctrTitle"/>
          </p:nvPr>
        </p:nvSpPr>
        <p:spPr>
          <a:xfrm>
            <a:off x="782850" y="1264217"/>
            <a:ext cx="3380400" cy="712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14" name="Google Shape;814;p22"/>
          <p:cNvSpPr txBox="1">
            <a:spLocks noGrp="1"/>
          </p:cNvSpPr>
          <p:nvPr>
            <p:ph type="subTitle" idx="1"/>
          </p:nvPr>
        </p:nvSpPr>
        <p:spPr>
          <a:xfrm>
            <a:off x="782850" y="2542667"/>
            <a:ext cx="3687900" cy="134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15" name="Google Shape;815;p22"/>
          <p:cNvSpPr txBox="1"/>
          <p:nvPr/>
        </p:nvSpPr>
        <p:spPr>
          <a:xfrm>
            <a:off x="3038500" y="3831325"/>
            <a:ext cx="45435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u="sng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816" name="Google Shape;816;p22"/>
          <p:cNvGrpSpPr/>
          <p:nvPr/>
        </p:nvGrpSpPr>
        <p:grpSpPr>
          <a:xfrm flipH="1">
            <a:off x="-262674" y="3935863"/>
            <a:ext cx="716725" cy="901375"/>
            <a:chOff x="-3888525" y="-2483300"/>
            <a:chExt cx="716725" cy="901375"/>
          </a:xfrm>
        </p:grpSpPr>
        <p:sp>
          <p:nvSpPr>
            <p:cNvPr id="817" name="Google Shape;817;p2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9" name="Google Shape;819;p22"/>
          <p:cNvGrpSpPr/>
          <p:nvPr/>
        </p:nvGrpSpPr>
        <p:grpSpPr>
          <a:xfrm flipH="1">
            <a:off x="454038" y="4456988"/>
            <a:ext cx="323925" cy="323650"/>
            <a:chOff x="1608625" y="299800"/>
            <a:chExt cx="323925" cy="323650"/>
          </a:xfrm>
        </p:grpSpPr>
        <p:sp>
          <p:nvSpPr>
            <p:cNvPr id="820" name="Google Shape;820;p22"/>
            <p:cNvSpPr/>
            <p:nvPr/>
          </p:nvSpPr>
          <p:spPr>
            <a:xfrm>
              <a:off x="1633450" y="324425"/>
              <a:ext cx="275900" cy="274200"/>
            </a:xfrm>
            <a:custGeom>
              <a:avLst/>
              <a:gdLst/>
              <a:ahLst/>
              <a:cxnLst/>
              <a:rect l="l" t="t" r="r" b="b"/>
              <a:pathLst>
                <a:path w="11036" h="10968" extrusionOk="0">
                  <a:moveTo>
                    <a:pt x="10830" y="0"/>
                  </a:moveTo>
                  <a:cubicBezTo>
                    <a:pt x="10795" y="0"/>
                    <a:pt x="10758" y="16"/>
                    <a:pt x="10725" y="54"/>
                  </a:cubicBezTo>
                  <a:lnTo>
                    <a:pt x="46" y="10733"/>
                  </a:lnTo>
                  <a:cubicBezTo>
                    <a:pt x="1" y="10789"/>
                    <a:pt x="1" y="10867"/>
                    <a:pt x="46" y="10923"/>
                  </a:cubicBezTo>
                  <a:cubicBezTo>
                    <a:pt x="79" y="10956"/>
                    <a:pt x="112" y="10968"/>
                    <a:pt x="146" y="10968"/>
                  </a:cubicBezTo>
                  <a:cubicBezTo>
                    <a:pt x="191" y="10968"/>
                    <a:pt x="224" y="10956"/>
                    <a:pt x="246" y="10923"/>
                  </a:cubicBezTo>
                  <a:lnTo>
                    <a:pt x="10926" y="254"/>
                  </a:lnTo>
                  <a:cubicBezTo>
                    <a:pt x="11036" y="153"/>
                    <a:pt x="10941" y="0"/>
                    <a:pt x="108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>
              <a:off x="1875625" y="299800"/>
              <a:ext cx="56925" cy="56950"/>
            </a:xfrm>
            <a:custGeom>
              <a:avLst/>
              <a:gdLst/>
              <a:ahLst/>
              <a:cxnLst/>
              <a:rect l="l" t="t" r="r" b="b"/>
              <a:pathLst>
                <a:path w="2277" h="2278" extrusionOk="0">
                  <a:moveTo>
                    <a:pt x="1139" y="1"/>
                  </a:moveTo>
                  <a:cubicBezTo>
                    <a:pt x="514" y="1"/>
                    <a:pt x="0" y="514"/>
                    <a:pt x="0" y="1139"/>
                  </a:cubicBezTo>
                  <a:cubicBezTo>
                    <a:pt x="0" y="1764"/>
                    <a:pt x="514" y="2277"/>
                    <a:pt x="1139" y="2277"/>
                  </a:cubicBezTo>
                  <a:cubicBezTo>
                    <a:pt x="1764" y="2277"/>
                    <a:pt x="2277" y="1764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>
              <a:off x="1608625" y="566800"/>
              <a:ext cx="56950" cy="56650"/>
            </a:xfrm>
            <a:custGeom>
              <a:avLst/>
              <a:gdLst/>
              <a:ahLst/>
              <a:cxnLst/>
              <a:rect l="l" t="t" r="r" b="b"/>
              <a:pathLst>
                <a:path w="2278" h="2266" extrusionOk="0">
                  <a:moveTo>
                    <a:pt x="1139" y="0"/>
                  </a:moveTo>
                  <a:cubicBezTo>
                    <a:pt x="514" y="0"/>
                    <a:pt x="1" y="503"/>
                    <a:pt x="1" y="1127"/>
                  </a:cubicBezTo>
                  <a:cubicBezTo>
                    <a:pt x="1" y="1764"/>
                    <a:pt x="514" y="2266"/>
                    <a:pt x="1139" y="2266"/>
                  </a:cubicBezTo>
                  <a:cubicBezTo>
                    <a:pt x="1775" y="2266"/>
                    <a:pt x="2277" y="1764"/>
                    <a:pt x="2277" y="1127"/>
                  </a:cubicBezTo>
                  <a:cubicBezTo>
                    <a:pt x="2277" y="503"/>
                    <a:pt x="1775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" name="Google Shape;823;p22"/>
          <p:cNvGrpSpPr/>
          <p:nvPr/>
        </p:nvGrpSpPr>
        <p:grpSpPr>
          <a:xfrm flipH="1">
            <a:off x="7896101" y="233975"/>
            <a:ext cx="1516025" cy="1489525"/>
            <a:chOff x="-3888525" y="-3012325"/>
            <a:chExt cx="1516025" cy="1489525"/>
          </a:xfrm>
        </p:grpSpPr>
        <p:sp>
          <p:nvSpPr>
            <p:cNvPr id="824" name="Google Shape;824;p22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2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2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5" name="Google Shape;835;p22"/>
          <p:cNvGrpSpPr/>
          <p:nvPr/>
        </p:nvGrpSpPr>
        <p:grpSpPr>
          <a:xfrm flipH="1">
            <a:off x="2309235" y="-400369"/>
            <a:ext cx="1019565" cy="1290805"/>
            <a:chOff x="-4017975" y="-49702"/>
            <a:chExt cx="1162825" cy="1472177"/>
          </a:xfrm>
        </p:grpSpPr>
        <p:sp>
          <p:nvSpPr>
            <p:cNvPr id="836" name="Google Shape;836;p2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2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22"/>
          <p:cNvGrpSpPr/>
          <p:nvPr/>
        </p:nvGrpSpPr>
        <p:grpSpPr>
          <a:xfrm>
            <a:off x="3698801" y="156500"/>
            <a:ext cx="873200" cy="618275"/>
            <a:chOff x="2240101" y="2000"/>
            <a:chExt cx="873200" cy="618275"/>
          </a:xfrm>
        </p:grpSpPr>
        <p:grpSp>
          <p:nvGrpSpPr>
            <p:cNvPr id="844" name="Google Shape;844;p22"/>
            <p:cNvGrpSpPr/>
            <p:nvPr/>
          </p:nvGrpSpPr>
          <p:grpSpPr>
            <a:xfrm flipH="1">
              <a:off x="2240101" y="2000"/>
              <a:ext cx="323925" cy="323650"/>
              <a:chOff x="1608625" y="299800"/>
              <a:chExt cx="323925" cy="323650"/>
            </a:xfrm>
          </p:grpSpPr>
          <p:sp>
            <p:nvSpPr>
              <p:cNvPr id="845" name="Google Shape;845;p22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22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22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48" name="Google Shape;848;p22"/>
            <p:cNvSpPr/>
            <p:nvPr/>
          </p:nvSpPr>
          <p:spPr>
            <a:xfrm flipH="1">
              <a:off x="2564026" y="7337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22"/>
          <p:cNvGrpSpPr/>
          <p:nvPr/>
        </p:nvGrpSpPr>
        <p:grpSpPr>
          <a:xfrm flipH="1">
            <a:off x="4163242" y="3973306"/>
            <a:ext cx="1938846" cy="1720830"/>
            <a:chOff x="-4912150" y="-540150"/>
            <a:chExt cx="2211275" cy="1962625"/>
          </a:xfrm>
        </p:grpSpPr>
        <p:sp>
          <p:nvSpPr>
            <p:cNvPr id="850" name="Google Shape;850;p22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2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2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2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2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2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2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2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2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2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2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2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2"/>
            <p:cNvSpPr/>
            <p:nvPr/>
          </p:nvSpPr>
          <p:spPr>
            <a:xfrm>
              <a:off x="-3248550" y="-540150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9" name="Google Shape;869;p22"/>
          <p:cNvSpPr txBox="1"/>
          <p:nvPr/>
        </p:nvSpPr>
        <p:spPr>
          <a:xfrm>
            <a:off x="4980600" y="2573200"/>
            <a:ext cx="3380400" cy="8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CRÉDITS: Ce modèle de présentation a été créé par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comprenant des icônes de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des infographies et des images de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24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873" name="Google Shape;873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74" name="Google Shape;874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6" name="Google Shape;876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77" name="Google Shape;877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0" name="Google Shape;880;p24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881" name="Google Shape;881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82" name="Google Shape;882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4" name="Google Shape;884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85" name="Google Shape;885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8" name="Google Shape;888;p24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889" name="Google Shape;889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24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894" name="Google Shape;894;p24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8" r:id="rId4"/>
    <p:sldLayoutId id="2147483660" r:id="rId5"/>
    <p:sldLayoutId id="2147483665" r:id="rId6"/>
    <p:sldLayoutId id="2147483668" r:id="rId7"/>
    <p:sldLayoutId id="2147483670" r:id="rId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jpg"/><Relationship Id="rId4" Type="http://schemas.openxmlformats.org/officeDocument/2006/relationships/image" Target="../media/image2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9.jpg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7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2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3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3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9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79.png"/><Relationship Id="rId4" Type="http://schemas.openxmlformats.org/officeDocument/2006/relationships/image" Target="../media/image157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28"/>
          <p:cNvSpPr/>
          <p:nvPr/>
        </p:nvSpPr>
        <p:spPr>
          <a:xfrm flipH="1">
            <a:off x="-186582" y="5584563"/>
            <a:ext cx="29" cy="29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1"/>
                </a:move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 w="56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2" name="Google Shape;952;p28"/>
          <p:cNvGrpSpPr/>
          <p:nvPr/>
        </p:nvGrpSpPr>
        <p:grpSpPr>
          <a:xfrm>
            <a:off x="0" y="3835020"/>
            <a:ext cx="1040638" cy="901375"/>
            <a:chOff x="948060" y="3972813"/>
            <a:chExt cx="1040638" cy="901375"/>
          </a:xfrm>
        </p:grpSpPr>
        <p:grpSp>
          <p:nvGrpSpPr>
            <p:cNvPr id="953" name="Google Shape;953;p28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954" name="Google Shape;954;p2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6" name="Google Shape;956;p2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957" name="Google Shape;957;p2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2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2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0" name="Google Shape;960;p28"/>
          <p:cNvGrpSpPr/>
          <p:nvPr/>
        </p:nvGrpSpPr>
        <p:grpSpPr>
          <a:xfrm>
            <a:off x="807622" y="2822035"/>
            <a:ext cx="4208350" cy="192185"/>
            <a:chOff x="948060" y="2996029"/>
            <a:chExt cx="4208350" cy="192185"/>
          </a:xfrm>
        </p:grpSpPr>
        <p:sp>
          <p:nvSpPr>
            <p:cNvPr id="961" name="Google Shape;961;p28"/>
            <p:cNvSpPr/>
            <p:nvPr/>
          </p:nvSpPr>
          <p:spPr>
            <a:xfrm rot="-2700000" flipH="1">
              <a:off x="1692865" y="3024234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62" name="Google Shape;962;p28"/>
            <p:cNvCxnSpPr>
              <a:stCxn id="963" idx="6"/>
              <a:endCxn id="964" idx="2"/>
            </p:cNvCxnSpPr>
            <p:nvPr/>
          </p:nvCxnSpPr>
          <p:spPr>
            <a:xfrm rot="10800000">
              <a:off x="1005010" y="3091118"/>
              <a:ext cx="4094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63" name="Google Shape;963;p28"/>
            <p:cNvSpPr/>
            <p:nvPr/>
          </p:nvSpPr>
          <p:spPr>
            <a:xfrm flipH="1">
              <a:off x="5099410" y="306261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8"/>
            <p:cNvSpPr/>
            <p:nvPr/>
          </p:nvSpPr>
          <p:spPr>
            <a:xfrm flipH="1">
              <a:off x="948060" y="306264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923;p28">
            <a:extLst>
              <a:ext uri="{FF2B5EF4-FFF2-40B4-BE49-F238E27FC236}">
                <a16:creationId xmlns:a16="http://schemas.microsoft.com/office/drawing/2014/main" id="{0F67C2B1-A1E0-168A-1E42-7445D329450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807622" y="715583"/>
            <a:ext cx="7528755" cy="120379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>
                <a:latin typeface="+mj-lt"/>
              </a:rPr>
              <a:t>Soutenance</a:t>
            </a:r>
            <a:br>
              <a:rPr lang="fr-FR" sz="4000" dirty="0">
                <a:latin typeface="+mj-lt"/>
              </a:rPr>
            </a:br>
            <a:r>
              <a:rPr lang="fr-FR" sz="4000" dirty="0">
                <a:latin typeface="+mj-lt"/>
              </a:rPr>
              <a:t>Intelligence Artificielle</a:t>
            </a:r>
          </a:p>
        </p:txBody>
      </p:sp>
      <p:sp>
        <p:nvSpPr>
          <p:cNvPr id="10" name="Google Shape;924;p28">
            <a:extLst>
              <a:ext uri="{FF2B5EF4-FFF2-40B4-BE49-F238E27FC236}">
                <a16:creationId xmlns:a16="http://schemas.microsoft.com/office/drawing/2014/main" id="{DDB63267-9073-B906-CCFA-60857CB4222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715125" y="3241961"/>
            <a:ext cx="7482031" cy="104111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fr-FR" sz="1400" b="1" dirty="0">
                <a:latin typeface="+mj-lt"/>
              </a:rPr>
              <a:t>Titre professionnel développeur en intelligence artificielle</a:t>
            </a:r>
            <a:br>
              <a:rPr lang="fr-FR" sz="1400" b="1" dirty="0">
                <a:latin typeface="+mj-lt"/>
              </a:rPr>
            </a:br>
            <a:r>
              <a:rPr lang="fr-FR" sz="1400" dirty="0">
                <a:latin typeface="+mj-lt"/>
              </a:rPr>
              <a:t>de niveau 6 enregistré au RNCP sous le n°37827. </a:t>
            </a:r>
            <a:br>
              <a:rPr lang="fr-FR" sz="1400" dirty="0">
                <a:latin typeface="+mj-lt"/>
              </a:rPr>
            </a:br>
            <a:r>
              <a:rPr lang="fr-FR" sz="1400" dirty="0">
                <a:latin typeface="+mj-lt"/>
              </a:rPr>
              <a:t>Passage par la voie de la formation - parcours de 19 mois achevé en mars 2026</a:t>
            </a:r>
            <a:endParaRPr lang="en" sz="1400" dirty="0">
              <a:latin typeface="+mj-lt"/>
            </a:endParaRPr>
          </a:p>
        </p:txBody>
      </p:sp>
      <p:sp>
        <p:nvSpPr>
          <p:cNvPr id="11" name="Google Shape;924;p28">
            <a:extLst>
              <a:ext uri="{FF2B5EF4-FFF2-40B4-BE49-F238E27FC236}">
                <a16:creationId xmlns:a16="http://schemas.microsoft.com/office/drawing/2014/main" id="{3DE51CB9-1E89-DA5A-AF7B-ECF56BE3D5FF}"/>
              </a:ext>
            </a:extLst>
          </p:cNvPr>
          <p:cNvSpPr txBox="1">
            <a:spLocks/>
          </p:cNvSpPr>
          <p:nvPr/>
        </p:nvSpPr>
        <p:spPr>
          <a:xfrm flipH="1">
            <a:off x="99178" y="4825940"/>
            <a:ext cx="6692662" cy="64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fr-FR" sz="1400" dirty="0">
                <a:latin typeface="+mj-lt"/>
              </a:rPr>
              <a:t>1</a:t>
            </a:r>
            <a:r>
              <a:rPr lang="fr-FR" sz="1400" baseline="30000" dirty="0">
                <a:latin typeface="+mj-lt"/>
              </a:rPr>
              <a:t>er</a:t>
            </a:r>
            <a:r>
              <a:rPr lang="fr-FR" sz="1400" dirty="0">
                <a:latin typeface="+mj-lt"/>
              </a:rPr>
              <a:t> avril 2026</a:t>
            </a:r>
            <a:endParaRPr lang="en" sz="1400" dirty="0">
              <a:latin typeface="+mj-lt"/>
            </a:endParaRPr>
          </a:p>
        </p:txBody>
      </p:sp>
      <p:sp>
        <p:nvSpPr>
          <p:cNvPr id="12" name="Google Shape;924;p28">
            <a:extLst>
              <a:ext uri="{FF2B5EF4-FFF2-40B4-BE49-F238E27FC236}">
                <a16:creationId xmlns:a16="http://schemas.microsoft.com/office/drawing/2014/main" id="{497B61E7-0A15-F5C0-0D04-E7BA4865DD23}"/>
              </a:ext>
            </a:extLst>
          </p:cNvPr>
          <p:cNvSpPr txBox="1">
            <a:spLocks/>
          </p:cNvSpPr>
          <p:nvPr/>
        </p:nvSpPr>
        <p:spPr>
          <a:xfrm flipH="1">
            <a:off x="7759817" y="4847800"/>
            <a:ext cx="6692662" cy="64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fr-FR" sz="1400" dirty="0">
                <a:latin typeface="+mj-lt"/>
              </a:rPr>
              <a:t>Franck Le Fur</a:t>
            </a:r>
            <a:endParaRPr lang="en" sz="14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4" name="Google Shape;974;p29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264;p37">
            <a:extLst>
              <a:ext uri="{FF2B5EF4-FFF2-40B4-BE49-F238E27FC236}">
                <a16:creationId xmlns:a16="http://schemas.microsoft.com/office/drawing/2014/main" id="{3E4BB775-1844-0F2D-64D9-2391A5AAC3AB}"/>
              </a:ext>
            </a:extLst>
          </p:cNvPr>
          <p:cNvSpPr txBox="1">
            <a:spLocks/>
          </p:cNvSpPr>
          <p:nvPr/>
        </p:nvSpPr>
        <p:spPr>
          <a:xfrm>
            <a:off x="489857" y="1421286"/>
            <a:ext cx="7895786" cy="2793269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Projet d’entreprise :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Application moteur de recherche au Crédit Agricole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Projets Personnels :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(a) application moteur de recherche Flask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(b) modèle d’IA de classification documentaire (API + application)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Veille technique : la vectorisation de textes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Incident technique</a:t>
            </a:r>
          </a:p>
          <a:p>
            <a:pPr marL="342900" lvl="1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Google Shape;969;p29">
            <a:extLst>
              <a:ext uri="{FF2B5EF4-FFF2-40B4-BE49-F238E27FC236}">
                <a16:creationId xmlns:a16="http://schemas.microsoft.com/office/drawing/2014/main" id="{F9C79339-8AF1-F77B-0C52-627067838B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2029" y="538955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SOMMAIRE</a:t>
            </a:r>
            <a:endParaRPr dirty="0">
              <a:latin typeface="+mj-lt"/>
            </a:endParaRPr>
          </a:p>
        </p:txBody>
      </p:sp>
      <p:sp>
        <p:nvSpPr>
          <p:cNvPr id="7" name="Google Shape;969;p29">
            <a:extLst>
              <a:ext uri="{FF2B5EF4-FFF2-40B4-BE49-F238E27FC236}">
                <a16:creationId xmlns:a16="http://schemas.microsoft.com/office/drawing/2014/main" id="{1D9E20E6-F377-EDC8-C9DB-D64958D8BC0C}"/>
              </a:ext>
            </a:extLst>
          </p:cNvPr>
          <p:cNvSpPr txBox="1">
            <a:spLocks/>
          </p:cNvSpPr>
          <p:nvPr/>
        </p:nvSpPr>
        <p:spPr>
          <a:xfrm>
            <a:off x="5550730" y="1840824"/>
            <a:ext cx="628029" cy="43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</a:p>
        </p:txBody>
      </p:sp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94F01AC0-3A6D-8EAE-DFB6-540AB716174F}"/>
              </a:ext>
            </a:extLst>
          </p:cNvPr>
          <p:cNvSpPr txBox="1">
            <a:spLocks/>
          </p:cNvSpPr>
          <p:nvPr/>
        </p:nvSpPr>
        <p:spPr>
          <a:xfrm>
            <a:off x="4759865" y="2563692"/>
            <a:ext cx="628029" cy="43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</a:p>
        </p:txBody>
      </p:sp>
      <p:sp>
        <p:nvSpPr>
          <p:cNvPr id="9" name="Google Shape;969;p29">
            <a:extLst>
              <a:ext uri="{FF2B5EF4-FFF2-40B4-BE49-F238E27FC236}">
                <a16:creationId xmlns:a16="http://schemas.microsoft.com/office/drawing/2014/main" id="{84505090-6476-B89D-17E5-A61D5AC36EEE}"/>
              </a:ext>
            </a:extLst>
          </p:cNvPr>
          <p:cNvSpPr txBox="1">
            <a:spLocks/>
          </p:cNvSpPr>
          <p:nvPr/>
        </p:nvSpPr>
        <p:spPr>
          <a:xfrm>
            <a:off x="6876321" y="2952751"/>
            <a:ext cx="628029" cy="43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</a:p>
        </p:txBody>
      </p:sp>
      <p:sp>
        <p:nvSpPr>
          <p:cNvPr id="10" name="Google Shape;969;p29">
            <a:extLst>
              <a:ext uri="{FF2B5EF4-FFF2-40B4-BE49-F238E27FC236}">
                <a16:creationId xmlns:a16="http://schemas.microsoft.com/office/drawing/2014/main" id="{265DCE19-40C3-2A93-C533-B3A71470B58F}"/>
              </a:ext>
            </a:extLst>
          </p:cNvPr>
          <p:cNvSpPr txBox="1">
            <a:spLocks/>
          </p:cNvSpPr>
          <p:nvPr/>
        </p:nvSpPr>
        <p:spPr>
          <a:xfrm>
            <a:off x="4922701" y="3302676"/>
            <a:ext cx="628029" cy="43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</a:p>
        </p:txBody>
      </p:sp>
      <p:sp>
        <p:nvSpPr>
          <p:cNvPr id="11" name="Google Shape;969;p29">
            <a:extLst>
              <a:ext uri="{FF2B5EF4-FFF2-40B4-BE49-F238E27FC236}">
                <a16:creationId xmlns:a16="http://schemas.microsoft.com/office/drawing/2014/main" id="{08499915-FE5E-D67B-B69C-093FD95CA691}"/>
              </a:ext>
            </a:extLst>
          </p:cNvPr>
          <p:cNvSpPr txBox="1">
            <a:spLocks/>
          </p:cNvSpPr>
          <p:nvPr/>
        </p:nvSpPr>
        <p:spPr>
          <a:xfrm>
            <a:off x="2718793" y="3631351"/>
            <a:ext cx="628029" cy="43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94FB7D5-18DE-AF97-EAAB-67D4D73DD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870" y="4266065"/>
            <a:ext cx="5128260" cy="586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A664F18E-CCA2-EDCC-8D1B-C7C2E48D17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078" y="538955"/>
            <a:ext cx="5381588" cy="55506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j-lt"/>
              </a:rPr>
              <a:t>Crédit Agricole Côtes d’Armor</a:t>
            </a:r>
            <a:br>
              <a:rPr lang="en" sz="2800" dirty="0">
                <a:latin typeface="+mj-lt"/>
              </a:rPr>
            </a:br>
            <a:endParaRPr sz="2800" dirty="0">
              <a:latin typeface="+mj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868F30C-B251-73A1-6DE7-B79868B9784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5683666" y="-11306"/>
            <a:ext cx="2317814" cy="16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E0C98FD8-6F25-C3FC-8EAE-420B7E30BCCA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C14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F4F0178-7EE2-0CDB-611E-19D998E46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88932"/>
            <a:ext cx="4358118" cy="2361308"/>
          </a:xfrm>
          <a:prstGeom prst="rect">
            <a:avLst/>
          </a:prstGeom>
        </p:spPr>
      </p:pic>
      <p:sp>
        <p:nvSpPr>
          <p:cNvPr id="6" name="Google Shape;1264;p37">
            <a:extLst>
              <a:ext uri="{FF2B5EF4-FFF2-40B4-BE49-F238E27FC236}">
                <a16:creationId xmlns:a16="http://schemas.microsoft.com/office/drawing/2014/main" id="{EA5672D3-BC7D-F3F3-9BAD-72F788BD3E2C}"/>
              </a:ext>
            </a:extLst>
          </p:cNvPr>
          <p:cNvSpPr txBox="1">
            <a:spLocks/>
          </p:cNvSpPr>
          <p:nvPr/>
        </p:nvSpPr>
        <p:spPr>
          <a:xfrm>
            <a:off x="408214" y="1240971"/>
            <a:ext cx="4425043" cy="3608615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Siège Côtes d’Armor :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Marketing – communication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Flux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Sécurité Logique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Coopération des 4 départements bretons :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b="1" dirty="0">
                <a:solidFill>
                  <a:schemeClr val="bg1"/>
                </a:solidFill>
              </a:rPr>
              <a:t>Assurances des biens et des personnes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Assurances emprunteurs et crédits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Pôle gestion finance</a:t>
            </a: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9771640-A1A8-7081-8362-74F1B73324E4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12188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EC70867F-94E9-D8FD-D85A-405548603F1B}"/>
              </a:ext>
            </a:extLst>
          </p:cNvPr>
          <p:cNvSpPr txBox="1">
            <a:spLocks/>
          </p:cNvSpPr>
          <p:nvPr/>
        </p:nvSpPr>
        <p:spPr>
          <a:xfrm>
            <a:off x="359230" y="1749947"/>
            <a:ext cx="8160664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Immersion dans le service assurances : observation et échanges avec les collègues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Problématique : pas de données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Beaucoup de demandes concernant de l’automatisation mais pas d’IA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=&gt; Acculturation à l’IA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 algn="ctr">
              <a:lnSpc>
                <a:spcPct val="150000"/>
              </a:lnSpc>
              <a:buClr>
                <a:schemeClr val="bg1"/>
              </a:buClr>
            </a:pPr>
            <a:r>
              <a:rPr lang="fr-FR" sz="1800" b="1" dirty="0">
                <a:solidFill>
                  <a:schemeClr val="bg1"/>
                </a:solidFill>
                <a:latin typeface="+mj-lt"/>
              </a:rPr>
              <a:t>Création d’un moteur de recherche</a:t>
            </a:r>
            <a:br>
              <a:rPr lang="fr-FR" sz="1800" b="1" dirty="0">
                <a:solidFill>
                  <a:schemeClr val="bg1"/>
                </a:solidFill>
                <a:latin typeface="+mj-lt"/>
              </a:rPr>
            </a:br>
            <a:r>
              <a:rPr lang="fr-FR" sz="1800" b="1" dirty="0">
                <a:solidFill>
                  <a:schemeClr val="bg1"/>
                </a:solidFill>
                <a:latin typeface="+mj-lt"/>
              </a:rPr>
              <a:t>sur leurs documents d’assurances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3804AA39-66C9-FD5E-7265-98BD4CF6C688}"/>
              </a:ext>
            </a:extLst>
          </p:cNvPr>
          <p:cNvSpPr/>
          <p:nvPr/>
        </p:nvSpPr>
        <p:spPr>
          <a:xfrm>
            <a:off x="979714" y="3583369"/>
            <a:ext cx="914400" cy="66947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86686472-A210-94A3-8909-235F2EA9E268}"/>
              </a:ext>
            </a:extLst>
          </p:cNvPr>
          <p:cNvSpPr txBox="1">
            <a:spLocks/>
          </p:cNvSpPr>
          <p:nvPr/>
        </p:nvSpPr>
        <p:spPr>
          <a:xfrm>
            <a:off x="824592" y="335488"/>
            <a:ext cx="5992588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Création d’un projet</a:t>
            </a:r>
          </a:p>
        </p:txBody>
      </p:sp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DD23E28D-B8FD-3B46-73A1-E5B21B306A94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C14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500603E-A95B-BB32-8E6B-A90F90CA06E6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33A975E-D93B-569F-BF67-60ACD6E19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971" y="85695"/>
            <a:ext cx="1992085" cy="129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22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3" name="Google Shape;1163;p34"/>
          <p:cNvGrpSpPr/>
          <p:nvPr/>
        </p:nvGrpSpPr>
        <p:grpSpPr>
          <a:xfrm rot="10800000">
            <a:off x="2460069" y="-714219"/>
            <a:ext cx="1803578" cy="1592367"/>
            <a:chOff x="-4912150" y="-393637"/>
            <a:chExt cx="2057000" cy="1816112"/>
          </a:xfrm>
        </p:grpSpPr>
        <p:sp>
          <p:nvSpPr>
            <p:cNvPr id="1164" name="Google Shape;1164;p34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3" name="Google Shape;1183;p34"/>
          <p:cNvGrpSpPr/>
          <p:nvPr/>
        </p:nvGrpSpPr>
        <p:grpSpPr>
          <a:xfrm>
            <a:off x="6286297" y="3482200"/>
            <a:ext cx="1929500" cy="2210100"/>
            <a:chOff x="295725" y="-3462825"/>
            <a:chExt cx="1929500" cy="2210100"/>
          </a:xfrm>
        </p:grpSpPr>
        <p:sp>
          <p:nvSpPr>
            <p:cNvPr id="1184" name="Google Shape;1184;p34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44389F99-9D56-0913-CEE0-16C880FF3E66}"/>
              </a:ext>
            </a:extLst>
          </p:cNvPr>
          <p:cNvSpPr txBox="1">
            <a:spLocks/>
          </p:cNvSpPr>
          <p:nvPr/>
        </p:nvSpPr>
        <p:spPr>
          <a:xfrm>
            <a:off x="1078853" y="1224217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Diagnostic des documents dans les 4 unités d’assurances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Analyse des formats (PDF, Word, Excel, PowerPoint)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Analyse des images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</a:rPr>
              <a:t>Organisation car les documents sont dispatchées à plein d’endroits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Besoins spécifiques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(a) Aperçu rapide des documents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(b) Mise à jour rapide des documents dans le moteur de recherche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548C4671-DE96-5B26-CFC0-714B49FCDA3E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C14</a:t>
            </a:r>
          </a:p>
        </p:txBody>
      </p:sp>
      <p:sp>
        <p:nvSpPr>
          <p:cNvPr id="7" name="Google Shape;969;p29">
            <a:extLst>
              <a:ext uri="{FF2B5EF4-FFF2-40B4-BE49-F238E27FC236}">
                <a16:creationId xmlns:a16="http://schemas.microsoft.com/office/drawing/2014/main" id="{48EC05BE-2D63-191E-8E39-08150EDCB868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Création du projet moteur de recherche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8471F17-0F77-A2D3-9811-B78457B26359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0450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EC3FE-B215-91D0-1CB1-9A146900D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83B3CCEC-2281-3701-13C6-FBD2F08DBD95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>
                <a:latin typeface="+mj-lt"/>
              </a:rPr>
              <a:t>Cadre technique</a:t>
            </a:r>
            <a:endParaRPr lang="fr-FR" sz="1800" dirty="0">
              <a:latin typeface="+mj-lt"/>
            </a:endParaRPr>
          </a:p>
        </p:txBody>
      </p:sp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E4E49FDD-9966-F577-A7CE-18D1D887353C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C15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8C16C2B-1061-EA0C-4393-08AA316DD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" y="722729"/>
            <a:ext cx="8282940" cy="425196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0C1C37C-D550-1B52-93FA-45F9739F16E1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85349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ECFD0-7E02-8031-E5E2-C014E8DC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B2E44C63-2B20-F9B6-4A05-C814A87EBF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756" y="302190"/>
            <a:ext cx="6980465" cy="33462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+mj-lt"/>
              </a:rPr>
              <a:t>Organisation du développement</a:t>
            </a:r>
            <a:endParaRPr sz="1800" dirty="0">
              <a:latin typeface="+mj-lt"/>
            </a:endParaRP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E46092E7-D08C-9EED-5467-BBDF4CA42586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C16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3F8F96E-9D21-436E-91E7-754A1798F347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F5278B2-CB6D-5448-E612-CDA81E70F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15" y="1034186"/>
            <a:ext cx="7396842" cy="33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77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68B09-D144-862A-9AA5-DDA4DCCCE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C0BB8385-AB1F-50C3-DD93-EA42924105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756" y="302190"/>
            <a:ext cx="6980465" cy="33462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+mj-lt"/>
              </a:rPr>
              <a:t>Organisation du développement</a:t>
            </a:r>
            <a:endParaRPr sz="1800" dirty="0">
              <a:latin typeface="+mj-lt"/>
            </a:endParaRP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B05FFBAB-DDD3-CBD9-88DB-EE8F921755A2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C16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FA02652-0939-D75F-4935-785CB0044227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7153089-D6B2-EE43-02AC-5B3E4BCC8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68822"/>
            <a:ext cx="2451152" cy="112118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6906A34-4FDD-7B6A-4C72-0D8FE438C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636" y="1129414"/>
            <a:ext cx="6751863" cy="377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83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0D96B-4C34-2D2F-1F95-0D3C2C422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12E732D1-6F12-2B39-ABE4-0CE95879E0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4206" y="236900"/>
            <a:ext cx="6980465" cy="33462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+mj-lt"/>
              </a:rPr>
              <a:t>Inscrire le développement dans une démarche AGILE</a:t>
            </a:r>
            <a:endParaRPr sz="1800" dirty="0">
              <a:latin typeface="+mj-lt"/>
            </a:endParaRP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BD46AA35-31FD-92F8-23E9-D2FB80E2537F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C16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DC53388-5BC8-98B8-98CA-70205AD74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722730"/>
            <a:ext cx="7658100" cy="429418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76275C4-2383-A01F-F155-9B0CD52618BE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90859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25963-8F0F-51C3-BD91-1D294645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088DA0DD-7A35-FA66-9B5D-5A1DB5385D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756" y="302190"/>
            <a:ext cx="6980465" cy="33462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+mj-lt"/>
              </a:rPr>
              <a:t>Architecture du moteur de recherche</a:t>
            </a:r>
            <a:endParaRPr sz="1800" dirty="0">
              <a:latin typeface="+mj-lt"/>
            </a:endParaRP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FC56FF31-DDCD-898F-35F5-C839E62EB225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8F7402D-755B-1C0B-6118-3AFBAF0DCE35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22B90D4-B1FC-66DD-4C53-6155F83B37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230"/>
          <a:stretch>
            <a:fillRect/>
          </a:stretch>
        </p:blipFill>
        <p:spPr>
          <a:xfrm>
            <a:off x="2364648" y="722730"/>
            <a:ext cx="3916680" cy="424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38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432C-6805-387D-37F7-68D4ABF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2144CFAB-86CB-15F0-32AD-7252F5D983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756" y="302190"/>
            <a:ext cx="6980465" cy="33462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+mj-lt"/>
              </a:rPr>
              <a:t>Architecture du moteur de recherche</a:t>
            </a:r>
            <a:endParaRPr sz="1800" dirty="0">
              <a:latin typeface="+mj-lt"/>
            </a:endParaRP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2C36661E-0FCA-130F-F86F-D8B2911E1D36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6454DD5-6CC6-8557-D896-292D583F185D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C0A9A8E-14EC-128E-E8F9-4CB5626E3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77" y="722730"/>
            <a:ext cx="8374380" cy="424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98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97F2-D56E-7A1E-D625-5E154693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9B77B8D1-702F-E72B-5070-0962725B49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756" y="302190"/>
            <a:ext cx="6980465" cy="33462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 algn="ctr"/>
            <a:r>
              <a:rPr lang="en" sz="1800" dirty="0"/>
              <a:t>Prétraitement</a:t>
            </a:r>
            <a:r>
              <a:rPr lang="en" sz="1800" dirty="0">
                <a:latin typeface="+mj-lt"/>
              </a:rPr>
              <a:t> des documents</a:t>
            </a:r>
            <a:endParaRPr sz="1800" dirty="0">
              <a:latin typeface="+mj-lt"/>
            </a:endParaRP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AA43B9B3-2904-5954-B7B2-FAFC7DA4F782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EDA0134-77B3-A78A-EA76-A12B5D21900C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B483F50-7A96-EACC-C63E-35CE24ECF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728721"/>
            <a:ext cx="8092440" cy="406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6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771CE-AB07-63CA-12BC-6834C07F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295D96D5-E0CC-4D95-B33D-736B596666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756" y="302190"/>
            <a:ext cx="6980465" cy="33462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 algn="ctr"/>
            <a:r>
              <a:rPr lang="en" sz="1800" dirty="0"/>
              <a:t>Prétraitement</a:t>
            </a:r>
            <a:r>
              <a:rPr lang="en" sz="1800" dirty="0">
                <a:latin typeface="+mj-lt"/>
              </a:rPr>
              <a:t> des documents</a:t>
            </a:r>
            <a:endParaRPr sz="1800" dirty="0">
              <a:latin typeface="+mj-lt"/>
            </a:endParaRP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3030A8F4-71CC-3065-7BAD-34ED17F2A8D4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D3D311B-F6CA-B2E3-8F22-370C7663E969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11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AF6B952-C9C3-D186-AA0B-12F713757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722730"/>
            <a:ext cx="8092440" cy="406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88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BEA97-214A-EC3E-4B06-158BCF18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8519CC9E-AB88-E1CD-45B3-97EAF22F1A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756" y="302190"/>
            <a:ext cx="6980465" cy="33462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 algn="ctr"/>
            <a:r>
              <a:rPr lang="en" sz="1800" dirty="0"/>
              <a:t>Prétraitement</a:t>
            </a:r>
            <a:r>
              <a:rPr lang="en" sz="1800" dirty="0">
                <a:latin typeface="+mj-lt"/>
              </a:rPr>
              <a:t> des documents</a:t>
            </a:r>
            <a:endParaRPr sz="1800" dirty="0">
              <a:latin typeface="+mj-lt"/>
            </a:endParaRP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330CF2AD-DFA0-98FE-CFA4-590BF0D1DBD1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A9E0BAF-99EA-FA05-95F0-ECF21D98E63E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12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B5DC85E-E8D9-1F09-8F56-E2B6E2624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722730"/>
            <a:ext cx="8092440" cy="406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0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78E5D-3CCB-7A5D-1798-0AA3143CF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526B1393-E6E7-D976-43D9-37E6C20580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756" y="302190"/>
            <a:ext cx="6980465" cy="33462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 algn="ctr"/>
            <a:r>
              <a:rPr lang="en" sz="1800" dirty="0"/>
              <a:t>Prétraitement</a:t>
            </a:r>
            <a:r>
              <a:rPr lang="en" sz="1800" dirty="0">
                <a:latin typeface="+mj-lt"/>
              </a:rPr>
              <a:t> des documents</a:t>
            </a:r>
            <a:endParaRPr sz="1800" dirty="0">
              <a:latin typeface="+mj-lt"/>
            </a:endParaRP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0916081D-E950-F41D-8A42-F3D7F4A6A5E0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B849678-789B-46FB-32FB-7C67DC1F2302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13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E2AEEE3-182B-FBB6-8762-470FD89F6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722730"/>
            <a:ext cx="8092440" cy="406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4A2D405E-5A63-D039-8491-70754DE6E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C767AD2F-6B4B-C688-1251-3A82C997B132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 err="1">
                <a:latin typeface="+mj-lt"/>
              </a:rPr>
              <a:t>Chunking</a:t>
            </a:r>
            <a:r>
              <a:rPr lang="fr-FR" sz="1800" dirty="0">
                <a:latin typeface="+mj-lt"/>
              </a:rPr>
              <a:t> des documents</a:t>
            </a: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8B140206-C8AF-2A1F-4CB2-47D671E5BF53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9DDE3E5-000D-D8C7-379F-EEA1E136FD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772"/>
          <a:stretch>
            <a:fillRect/>
          </a:stretch>
        </p:blipFill>
        <p:spPr>
          <a:xfrm>
            <a:off x="302079" y="865277"/>
            <a:ext cx="3502479" cy="174445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94B7FAF-409F-DA81-ACB5-5B0D08191960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69934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E90D3061-FF99-E221-0DD9-4C3EA69F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00BD95E0-62DB-2142-13BA-5FF41567610D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 err="1">
                <a:latin typeface="+mj-lt"/>
              </a:rPr>
              <a:t>Chunking</a:t>
            </a:r>
            <a:r>
              <a:rPr lang="fr-FR" sz="1800" dirty="0">
                <a:latin typeface="+mj-lt"/>
              </a:rPr>
              <a:t> des documents</a:t>
            </a: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03E65FA2-1729-EC22-D0D1-EBA411E16680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A2B7534-D557-3B09-9241-FE9EEE5632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772"/>
          <a:stretch>
            <a:fillRect/>
          </a:stretch>
        </p:blipFill>
        <p:spPr>
          <a:xfrm>
            <a:off x="302079" y="865277"/>
            <a:ext cx="3502479" cy="174445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2B179AF-16C4-F78A-9015-D49150C6C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05995"/>
            <a:ext cx="4367893" cy="159928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BA3BFB1-E9D6-6751-AEAE-AE028E53EA35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10583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2B2A74D1-80FD-D09A-0252-A54BF005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BB5A83DC-4C08-FBBA-CFD1-5F81DFD78ABA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 err="1">
                <a:latin typeface="+mj-lt"/>
              </a:rPr>
              <a:t>Chunking</a:t>
            </a:r>
            <a:r>
              <a:rPr lang="fr-FR" sz="1800" dirty="0">
                <a:latin typeface="+mj-lt"/>
              </a:rPr>
              <a:t> des documents</a:t>
            </a: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FDCF7AED-C2E0-8806-0EE7-4A714AD05783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D9FD3A0-2DEE-AD8B-A8FB-4A4DB9BC3E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772"/>
          <a:stretch>
            <a:fillRect/>
          </a:stretch>
        </p:blipFill>
        <p:spPr>
          <a:xfrm>
            <a:off x="302079" y="865277"/>
            <a:ext cx="3502479" cy="174445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70D67E16-0671-D24B-7DA7-C8110EA2C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8875" y="4084058"/>
            <a:ext cx="1077208" cy="6037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DF3F997-CD02-3160-FC11-05F02E7EB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05995"/>
            <a:ext cx="4367893" cy="159928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D19B3E5-8DA3-1D45-8E2A-89406C6B4D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7892" y="757587"/>
            <a:ext cx="4776107" cy="280673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1EA1A72-A9A9-9D68-467F-6295843F1999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59325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5C562E04-F028-D058-C0DE-2207CF77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C60E02D8-791C-7EAA-5DAF-18CA34BD453F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 err="1">
                <a:latin typeface="+mj-lt"/>
              </a:rPr>
              <a:t>Chunking</a:t>
            </a:r>
            <a:r>
              <a:rPr lang="fr-FR" sz="1800" dirty="0">
                <a:latin typeface="+mj-lt"/>
              </a:rPr>
              <a:t> des documents</a:t>
            </a: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B7E13B22-E75F-B9EF-115F-4D5532F7C11E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E2699A1-79AD-A654-4CAD-0A9636C079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772"/>
          <a:stretch>
            <a:fillRect/>
          </a:stretch>
        </p:blipFill>
        <p:spPr>
          <a:xfrm>
            <a:off x="302079" y="865277"/>
            <a:ext cx="3502479" cy="174445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0CD8402-5129-7AE2-373C-EE7181147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8875" y="4084058"/>
            <a:ext cx="1077208" cy="6037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097EE53-6926-A189-4C33-29EF719399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05995"/>
            <a:ext cx="4367893" cy="159928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4C1C4AC-640D-B7C3-315D-A91C94B55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7892" y="757587"/>
            <a:ext cx="4776107" cy="280673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C015D11-9185-4149-CC15-9406FB49EF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7364" y="3675694"/>
            <a:ext cx="1943075" cy="142043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CD5CAC5-9D04-0110-63D4-E880AFA0D3FC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0062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E0C2B424-B08A-B005-51F8-7E1777827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A7BEB07A-ED79-1C63-E892-2528CE9E4C8D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Vectorisation</a:t>
            </a: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CD413957-908B-2AB9-2C36-BA6B1152BB11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5A83E692-36E8-7259-EE19-0D062B4225BF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55965" y="3426674"/>
            <a:ext cx="699387" cy="9163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2876C1D6-D49E-AABC-26C7-C7BAC0A367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717"/>
          <a:stretch>
            <a:fillRect/>
          </a:stretch>
        </p:blipFill>
        <p:spPr>
          <a:xfrm>
            <a:off x="324211" y="1002835"/>
            <a:ext cx="7701282" cy="250101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52F5196-A2E2-F45D-2BB0-0D1CD854E76A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16558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D255DEB1-7D5A-D964-F7B1-6FA7204B0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750C43E1-567A-B4CA-C7F5-A3F460DA88DD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Vectorisation</a:t>
            </a: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7E908952-F461-4744-7F5B-C33AACB7A7C1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03E7BF6-AA1F-702E-283C-1B16B80ED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172" y="3950590"/>
            <a:ext cx="675367" cy="85742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C671694-7F4B-F93E-F789-BB8D652E9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3" y="4234521"/>
            <a:ext cx="2346960" cy="289560"/>
          </a:xfrm>
          <a:prstGeom prst="rect">
            <a:avLst/>
          </a:prstGeom>
        </p:spPr>
      </p:pic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42DF51A0-DB5D-57A1-5DEC-1746C78F2D68}"/>
              </a:ext>
            </a:extLst>
          </p:cNvPr>
          <p:cNvCxnSpPr>
            <a:cxnSpLocks/>
            <a:endCxn id="14" idx="0"/>
          </p:cNvCxnSpPr>
          <p:nvPr/>
        </p:nvCxnSpPr>
        <p:spPr>
          <a:xfrm rot="16200000" flipH="1">
            <a:off x="4680458" y="3426675"/>
            <a:ext cx="699387" cy="9163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èche : bas 25">
            <a:extLst>
              <a:ext uri="{FF2B5EF4-FFF2-40B4-BE49-F238E27FC236}">
                <a16:creationId xmlns:a16="http://schemas.microsoft.com/office/drawing/2014/main" id="{A83D8494-5ECD-5F88-10B2-1A659D775449}"/>
              </a:ext>
            </a:extLst>
          </p:cNvPr>
          <p:cNvSpPr/>
          <p:nvPr/>
        </p:nvSpPr>
        <p:spPr>
          <a:xfrm>
            <a:off x="4567918" y="3535132"/>
            <a:ext cx="285750" cy="6368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2F0DD63-A483-6D1B-4A6C-34C683FC81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211" y="1002835"/>
            <a:ext cx="8625750" cy="250101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2069449-50E6-9089-3B0E-D498B51FFBF2}"/>
              </a:ext>
            </a:extLst>
          </p:cNvPr>
          <p:cNvSpPr txBox="1"/>
          <p:nvPr/>
        </p:nvSpPr>
        <p:spPr>
          <a:xfrm>
            <a:off x="324211" y="3561996"/>
            <a:ext cx="3757932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/>
              <a:t>Sauvegarde des items </a:t>
            </a:r>
            <a:r>
              <a:rPr lang="fr-FR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Vectorizer</a:t>
            </a:r>
            <a:r>
              <a:rPr lang="fr-FR" dirty="0"/>
              <a:t> TD-IDF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Matrice TF-IDF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Matrice des </a:t>
            </a:r>
            <a:r>
              <a:rPr lang="fr-FR" dirty="0" err="1"/>
              <a:t>embeddings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A6B0A1B-EC47-64F2-EFA0-4D1819F5F42F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858711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54C50EA8-DED4-46F2-C2ED-958A34C08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2BB26C9D-B391-C46B-72D2-70859C94A473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Processus : Recherche Documentaire</a:t>
            </a: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E24A7E65-5104-00A2-9C88-BCE48091C34F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0081F78-C93A-E7C2-7339-C0817C975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904602"/>
            <a:ext cx="7978140" cy="372618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D8AA122-EBA6-DB6E-654E-43B617D087CA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18273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C17965A9-E654-16CB-7F9C-EAD0BCEEF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72E41ED1-F0B6-B058-5DDB-236A5AD289E7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Similarité cosinus</a:t>
            </a: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AAFAD686-E50A-A8B3-9B50-3383DEFE8919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751FCFA-AC5E-0471-771B-CDBA710F0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72" y="1138251"/>
            <a:ext cx="7805056" cy="286699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1B70742-6F51-7B86-895C-CA49FFD36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40" y="4262365"/>
            <a:ext cx="7805056" cy="54240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F992DF8-52A0-2919-7F1C-E3E96D8C62B0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48273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E1CB717F-9779-6B25-A406-8131DB532F28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FAISS</a:t>
            </a: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EF23DE2B-91B0-301A-6200-A4953398A23F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6A71CCC-0302-B442-4222-B6D683391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95" y="699536"/>
            <a:ext cx="7674114" cy="444396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F0264F1-A5A1-37E5-1164-1FA0E3F92760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13516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ACBD8BCC-1ABA-ACF0-DB06-A899BDEEF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9;p29">
            <a:extLst>
              <a:ext uri="{FF2B5EF4-FFF2-40B4-BE49-F238E27FC236}">
                <a16:creationId xmlns:a16="http://schemas.microsoft.com/office/drawing/2014/main" id="{8FFDAC89-8E62-5A7B-1BFE-0A8359401DC1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FAISS</a:t>
            </a:r>
          </a:p>
        </p:txBody>
      </p: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A1B66416-96A3-12DF-C90C-059DFE2A69B2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06EE86F-23BC-CE0B-C54B-75FA7669E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64" y="722729"/>
            <a:ext cx="7984671" cy="442619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2965CD4-4536-257A-44B5-9E72E3CA333B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23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D1CA9CB-DE1A-E078-3743-8AD5C26605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435"/>
          <a:stretch>
            <a:fillRect/>
          </a:stretch>
        </p:blipFill>
        <p:spPr>
          <a:xfrm>
            <a:off x="636814" y="4192372"/>
            <a:ext cx="7927521" cy="96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60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6E04A3AF-1314-7588-AB92-63680074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8871AB1B-06D5-DA2C-CBF8-44A63025600D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34AB41F-8C05-AFF3-4000-741CE808F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6971"/>
            <a:ext cx="9144000" cy="4306529"/>
          </a:xfrm>
          <a:prstGeom prst="rect">
            <a:avLst/>
          </a:prstGeom>
        </p:spPr>
      </p:pic>
      <p:sp>
        <p:nvSpPr>
          <p:cNvPr id="6" name="Google Shape;969;p29">
            <a:extLst>
              <a:ext uri="{FF2B5EF4-FFF2-40B4-BE49-F238E27FC236}">
                <a16:creationId xmlns:a16="http://schemas.microsoft.com/office/drawing/2014/main" id="{6F19BA34-5DD3-21C2-0C9E-3E6F5263FE73}"/>
              </a:ext>
            </a:extLst>
          </p:cNvPr>
          <p:cNvSpPr txBox="1">
            <a:spLocks/>
          </p:cNvSpPr>
          <p:nvPr/>
        </p:nvSpPr>
        <p:spPr>
          <a:xfrm>
            <a:off x="693964" y="335488"/>
            <a:ext cx="7470322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1ère version du moteur de recherche (application </a:t>
            </a:r>
            <a:r>
              <a:rPr lang="fr-FR" sz="1800" dirty="0" err="1">
                <a:latin typeface="+mj-lt"/>
              </a:rPr>
              <a:t>streamlit</a:t>
            </a:r>
            <a:r>
              <a:rPr lang="fr-FR" sz="1800" dirty="0">
                <a:latin typeface="+mj-lt"/>
              </a:rPr>
              <a:t>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960E414-596F-28BF-7F6A-96AA2E9F6ADD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99257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04A49D37-1019-C879-E5D8-2B12AC6B8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65C24725-08EE-075E-1B88-C6CC8CE45BC2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sp>
        <p:nvSpPr>
          <p:cNvPr id="6" name="Google Shape;969;p29">
            <a:extLst>
              <a:ext uri="{FF2B5EF4-FFF2-40B4-BE49-F238E27FC236}">
                <a16:creationId xmlns:a16="http://schemas.microsoft.com/office/drawing/2014/main" id="{98BE2BE5-09B3-FE26-F6C1-31BD4B7C4BA1}"/>
              </a:ext>
            </a:extLst>
          </p:cNvPr>
          <p:cNvSpPr txBox="1">
            <a:spLocks/>
          </p:cNvSpPr>
          <p:nvPr/>
        </p:nvSpPr>
        <p:spPr>
          <a:xfrm>
            <a:off x="693964" y="335488"/>
            <a:ext cx="7470322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1ère version du moteur de recherche (application </a:t>
            </a:r>
            <a:r>
              <a:rPr lang="fr-FR" sz="1800" dirty="0" err="1">
                <a:latin typeface="+mj-lt"/>
              </a:rPr>
              <a:t>streamlit</a:t>
            </a:r>
            <a:r>
              <a:rPr lang="fr-FR" sz="1800" dirty="0">
                <a:latin typeface="+mj-lt"/>
              </a:rPr>
              <a:t>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600E88A-43EE-2E94-C85C-201A7BAEE53A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25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A7039F-DEF2-3EE9-35E8-EACE00A17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564"/>
            <a:ext cx="9144000" cy="409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10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30E3DF15-1B9E-8C9C-29C0-262171365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31C0E045-C3EC-174A-B39C-F4528F3EC1CE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2</a:t>
            </a:r>
            <a:r>
              <a:rPr lang="fr-FR" sz="1800" baseline="30000" dirty="0">
                <a:latin typeface="+mj-lt"/>
              </a:rPr>
              <a:t>nde</a:t>
            </a:r>
            <a:r>
              <a:rPr lang="fr-FR" sz="1800" dirty="0">
                <a:latin typeface="+mj-lt"/>
              </a:rPr>
              <a:t> version du moteur de recherche (application Flask)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9EC78F72-2774-73A7-9388-76209C0F88A0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sp>
        <p:nvSpPr>
          <p:cNvPr id="14" name="Google Shape;1264;p37">
            <a:extLst>
              <a:ext uri="{FF2B5EF4-FFF2-40B4-BE49-F238E27FC236}">
                <a16:creationId xmlns:a16="http://schemas.microsoft.com/office/drawing/2014/main" id="{285AD10D-E75B-0F79-44E4-3ABA1730A1A3}"/>
              </a:ext>
            </a:extLst>
          </p:cNvPr>
          <p:cNvSpPr txBox="1">
            <a:spLocks/>
          </p:cNvSpPr>
          <p:nvPr/>
        </p:nvSpPr>
        <p:spPr>
          <a:xfrm>
            <a:off x="564503" y="1003781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Framework Python pour le Développement WEB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Basé sur le « Routage »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Utilise le Templating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C767B930-EDA2-912F-56F3-31BFA6E30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23" y="1444398"/>
            <a:ext cx="4324350" cy="1323975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463DF4D-0036-EA83-C60B-E27821265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29" y="3770702"/>
            <a:ext cx="5436247" cy="369017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C5FD9269-A71C-B5C6-9496-D35B9DDFF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648" y="3305532"/>
            <a:ext cx="2676525" cy="1438275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1370CBDB-A37F-6F77-9465-F3055FB411F4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85901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E90E9F19-9CFD-B0DE-BD0C-A966FA27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CE4B860E-1DEA-C3B5-E0BD-C47453DFF725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2</a:t>
            </a:r>
            <a:r>
              <a:rPr lang="fr-FR" sz="1800" baseline="30000" dirty="0">
                <a:latin typeface="+mj-lt"/>
              </a:rPr>
              <a:t>nde</a:t>
            </a:r>
            <a:r>
              <a:rPr lang="fr-FR" sz="1800" dirty="0">
                <a:latin typeface="+mj-lt"/>
              </a:rPr>
              <a:t> version du moteur de recherche (application Flask)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DC42C809-D917-A9F6-02EE-CD1455622C4E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C17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352F546-7212-F21E-18F3-1E0B96E382F2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27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0FD8862-1632-450C-E42A-89EC40802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527" y="722729"/>
            <a:ext cx="5085266" cy="437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967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EA5089CB-F29D-BA20-DE0E-84FF2F699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493BFD88-8697-BDF1-7900-924087308088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Tests unitaires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BC3E16B4-8CDD-D802-AD93-0B347EA25E47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C18</a:t>
            </a:r>
          </a:p>
        </p:txBody>
      </p:sp>
      <p:sp>
        <p:nvSpPr>
          <p:cNvPr id="14" name="Google Shape;1264;p37">
            <a:extLst>
              <a:ext uri="{FF2B5EF4-FFF2-40B4-BE49-F238E27FC236}">
                <a16:creationId xmlns:a16="http://schemas.microsoft.com/office/drawing/2014/main" id="{AA6DF5EB-ED6E-0815-C08A-75EABE66864B}"/>
              </a:ext>
            </a:extLst>
          </p:cNvPr>
          <p:cNvSpPr txBox="1">
            <a:spLocks/>
          </p:cNvSpPr>
          <p:nvPr/>
        </p:nvSpPr>
        <p:spPr>
          <a:xfrm>
            <a:off x="556339" y="957157"/>
            <a:ext cx="7666865" cy="156704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Ecriture de fonctions python, 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Basée sur l’assertion « </a:t>
            </a:r>
            <a:r>
              <a:rPr lang="fr-FR" sz="1600" b="1" dirty="0" err="1">
                <a:solidFill>
                  <a:schemeClr val="bg1"/>
                </a:solidFill>
                <a:latin typeface="+mj-lt"/>
              </a:rPr>
              <a:t>assert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 »,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Basée sur la découverte automatique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 (fichiers test_ …, fonctions test_ …)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B58AD34-1BD7-6872-6D7E-35805B20F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119" y="128718"/>
            <a:ext cx="838434" cy="80078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D27188F-D429-B9F9-6EF8-6A2441BBE5AA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28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2CD61D6-F1F1-334B-5C89-3222A7F1B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71" y="2790197"/>
            <a:ext cx="8719457" cy="175181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5DC6CB2-E5B8-18B8-D0DC-26A0DDCE6C55}"/>
              </a:ext>
            </a:extLst>
          </p:cNvPr>
          <p:cNvSpPr txBox="1"/>
          <p:nvPr/>
        </p:nvSpPr>
        <p:spPr>
          <a:xfrm>
            <a:off x="2612572" y="4531013"/>
            <a:ext cx="363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Test : Vérification de l’existence de fichiers </a:t>
            </a:r>
          </a:p>
        </p:txBody>
      </p:sp>
    </p:spTree>
    <p:extLst>
      <p:ext uri="{BB962C8B-B14F-4D97-AF65-F5344CB8AC3E}">
        <p14:creationId xmlns:p14="http://schemas.microsoft.com/office/powerpoint/2010/main" val="538800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A58DA97E-24C8-98F1-49A2-E63F55DD8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A20B1E3A-D218-EAB0-F054-499C898F46E6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Tests unitaires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88E19C22-7E6D-6A20-09A1-546C70C5D356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C18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42271A1-9238-25BD-ACC0-A8B2BAEC5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119" y="128718"/>
            <a:ext cx="838434" cy="80078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FB9BD24-0E5E-AE93-D8C6-588E7C2C7447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29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7BCEF09-03D7-B312-033C-E3EFC0C97D44}"/>
              </a:ext>
            </a:extLst>
          </p:cNvPr>
          <p:cNvSpPr txBox="1"/>
          <p:nvPr/>
        </p:nvSpPr>
        <p:spPr>
          <a:xfrm>
            <a:off x="1061918" y="4638389"/>
            <a:ext cx="6505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Tester la compatibilité entre la dimension du </a:t>
            </a:r>
            <a:r>
              <a:rPr lang="fr-FR" sz="1200" dirty="0" err="1"/>
              <a:t>vectorizer</a:t>
            </a:r>
            <a:r>
              <a:rPr lang="fr-FR" sz="1200" dirty="0"/>
              <a:t> et la dimension de la matrice TF-IDF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856444-B849-DF01-3AAB-B02573E98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63" y="2379840"/>
            <a:ext cx="7370425" cy="225854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7AC6505-4AF0-718E-67BD-4195A5C14F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263" y="929498"/>
            <a:ext cx="5630638" cy="91897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E7CFAB4-A119-D2DD-8611-9945A0D605E1}"/>
              </a:ext>
            </a:extLst>
          </p:cNvPr>
          <p:cNvSpPr txBox="1"/>
          <p:nvPr/>
        </p:nvSpPr>
        <p:spPr>
          <a:xfrm>
            <a:off x="881743" y="1825842"/>
            <a:ext cx="53361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S’assurer que le point de terminaison « racine » de l’API est accessible</a:t>
            </a:r>
          </a:p>
        </p:txBody>
      </p:sp>
    </p:spTree>
    <p:extLst>
      <p:ext uri="{BB962C8B-B14F-4D97-AF65-F5344CB8AC3E}">
        <p14:creationId xmlns:p14="http://schemas.microsoft.com/office/powerpoint/2010/main" val="635434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42427EE8-F13D-D721-D3D8-7D0B7F5B1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528EC0B3-9692-E7B9-0243-64C75D725F4F}"/>
              </a:ext>
            </a:extLst>
          </p:cNvPr>
          <p:cNvSpPr txBox="1">
            <a:spLocks/>
          </p:cNvSpPr>
          <p:nvPr/>
        </p:nvSpPr>
        <p:spPr>
          <a:xfrm>
            <a:off x="-62254" y="404212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Automatiser les tests unitaires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CFD48833-24AA-C0CE-0B9F-50663AA76ACF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C18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58092D8-915F-6E14-4FF6-5D7AFDA6FF08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30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2E5CA6A-F07A-8916-0D74-0E68C5038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791" y="85694"/>
            <a:ext cx="1965551" cy="1096255"/>
          </a:xfrm>
          <a:prstGeom prst="rect">
            <a:avLst/>
          </a:prstGeom>
        </p:spPr>
      </p:pic>
      <p:sp>
        <p:nvSpPr>
          <p:cNvPr id="8" name="Google Shape;1264;p37">
            <a:extLst>
              <a:ext uri="{FF2B5EF4-FFF2-40B4-BE49-F238E27FC236}">
                <a16:creationId xmlns:a16="http://schemas.microsoft.com/office/drawing/2014/main" id="{D8DC43A1-C618-1A3D-E8E0-4F01D7B7B404}"/>
              </a:ext>
            </a:extLst>
          </p:cNvPr>
          <p:cNvSpPr txBox="1">
            <a:spLocks/>
          </p:cNvSpPr>
          <p:nvPr/>
        </p:nvSpPr>
        <p:spPr>
          <a:xfrm>
            <a:off x="556339" y="957156"/>
            <a:ext cx="7666865" cy="4100649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Mettre à jour le fichier requirements.txt du projet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Créer un fichier .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github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/workflows/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main.yml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avec :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  <a:t>Le déclencheur :</a:t>
            </a:r>
            <a:b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</a:br>
            <a:b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</a:br>
            <a:b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</a:br>
            <a: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  <a:t>Les instructions pour</a:t>
            </a:r>
            <a:b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</a:br>
            <a: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  <a:t>recréer l’environnement :</a:t>
            </a:r>
            <a:b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</a:br>
            <a:b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</a:br>
            <a:b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</a:br>
            <a: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  <a:t>L’instructions pour</a:t>
            </a:r>
            <a:b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</a:br>
            <a: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  <a:t>lancer </a:t>
            </a:r>
            <a:r>
              <a:rPr lang="fr-FR" dirty="0" err="1">
                <a:solidFill>
                  <a:schemeClr val="tx1">
                    <a:lumMod val="10000"/>
                  </a:schemeClr>
                </a:solidFill>
                <a:latin typeface="+mj-lt"/>
              </a:rPr>
              <a:t>pytest</a:t>
            </a:r>
            <a:r>
              <a:rPr lang="fr-FR" dirty="0">
                <a:solidFill>
                  <a:schemeClr val="tx1">
                    <a:lumMod val="10000"/>
                  </a:schemeClr>
                </a:solidFill>
                <a:latin typeface="+mj-lt"/>
              </a:rPr>
              <a:t> :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4160E8E-8037-047D-0A98-F6751218E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214" y="1726657"/>
            <a:ext cx="2043113" cy="71385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BE8848F-84BA-5B8A-8A51-F263A18AC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8214" y="2702985"/>
            <a:ext cx="3855584" cy="1484981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20FE65B8-08F0-A006-4A8F-6E0B7B605F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8214" y="4455438"/>
            <a:ext cx="1732870" cy="51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03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6F9DB26B-F123-59BF-5C26-67A1868A8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8A153254-573A-FCA5-290D-C0CFD000A57B}"/>
              </a:ext>
            </a:extLst>
          </p:cNvPr>
          <p:cNvSpPr txBox="1">
            <a:spLocks/>
          </p:cNvSpPr>
          <p:nvPr/>
        </p:nvSpPr>
        <p:spPr>
          <a:xfrm>
            <a:off x="-224519" y="175680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Monitoring de l’application Flask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49D0624F-EEA2-161A-34E0-8D35D160F6DB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30128B8-DDDA-B504-22CC-9FE6D63DBD00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31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E70DB9B-77A6-DEBA-B55E-7F6CB7A6F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11" y="960810"/>
            <a:ext cx="7429500" cy="223954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94E42A9-EAB8-EB88-D166-813F26B8D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31" y="3274293"/>
            <a:ext cx="8792936" cy="165861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4A29209-1267-EC5A-4F30-66ED794E2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377" y="0"/>
            <a:ext cx="2066245" cy="88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69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A6AB2E71-7824-CE82-1C19-E7996E5C4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C976CAAC-79F8-D279-1211-A20C73859282}"/>
              </a:ext>
            </a:extLst>
          </p:cNvPr>
          <p:cNvSpPr txBox="1">
            <a:spLocks/>
          </p:cNvSpPr>
          <p:nvPr/>
        </p:nvSpPr>
        <p:spPr>
          <a:xfrm>
            <a:off x="-177572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Processus de livraison continu : déploiement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4C856CF6-2632-E937-4DD3-7084CD15AB7F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C19</a:t>
            </a:r>
          </a:p>
        </p:txBody>
      </p:sp>
      <p:sp>
        <p:nvSpPr>
          <p:cNvPr id="14" name="Google Shape;1264;p37">
            <a:extLst>
              <a:ext uri="{FF2B5EF4-FFF2-40B4-BE49-F238E27FC236}">
                <a16:creationId xmlns:a16="http://schemas.microsoft.com/office/drawing/2014/main" id="{38379FEA-6B75-CB54-B537-D356244B9C11}"/>
              </a:ext>
            </a:extLst>
          </p:cNvPr>
          <p:cNvSpPr txBox="1">
            <a:spLocks/>
          </p:cNvSpPr>
          <p:nvPr/>
        </p:nvSpPr>
        <p:spPr>
          <a:xfrm>
            <a:off x="388175" y="719178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Configuration d’un 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Web service sur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render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DD14FA9-C2ED-F9C9-B048-BC5CF38DF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184" y="212367"/>
            <a:ext cx="1859417" cy="38368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2BA7547-D473-A59A-0F92-3F057E632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680" y="774006"/>
            <a:ext cx="4605579" cy="148081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9264481-C8F7-8819-B47A-EEEF86A4DF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53" y="2316379"/>
            <a:ext cx="6980465" cy="282712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38483A4-7747-C47C-2D33-DA8652D69B2C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25325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62F08BDB-25A4-FF06-9FDC-066CB1A0F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DF503D25-8A21-EDC6-E49F-8856A652C0CE}"/>
              </a:ext>
            </a:extLst>
          </p:cNvPr>
          <p:cNvSpPr txBox="1">
            <a:spLocks/>
          </p:cNvSpPr>
          <p:nvPr/>
        </p:nvSpPr>
        <p:spPr>
          <a:xfrm>
            <a:off x="-177572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Processus de livraison continu : déploiement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ED08A95B-4746-1BC2-BE4C-BB0EB0EDADF8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C19</a:t>
            </a:r>
          </a:p>
        </p:txBody>
      </p:sp>
      <p:sp>
        <p:nvSpPr>
          <p:cNvPr id="14" name="Google Shape;1264;p37">
            <a:extLst>
              <a:ext uri="{FF2B5EF4-FFF2-40B4-BE49-F238E27FC236}">
                <a16:creationId xmlns:a16="http://schemas.microsoft.com/office/drawing/2014/main" id="{78E262AA-D3E8-1664-FACA-A860FDEA2B1F}"/>
              </a:ext>
            </a:extLst>
          </p:cNvPr>
          <p:cNvSpPr txBox="1">
            <a:spLocks/>
          </p:cNvSpPr>
          <p:nvPr/>
        </p:nvSpPr>
        <p:spPr>
          <a:xfrm>
            <a:off x="290204" y="747944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Instructions dans le fichier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main.yml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lu par </a:t>
            </a:r>
            <a:r>
              <a:rPr lang="fr-FR" sz="1600" b="1" dirty="0" err="1">
                <a:solidFill>
                  <a:schemeClr val="bg1"/>
                </a:solidFill>
                <a:latin typeface="+mj-lt"/>
              </a:rPr>
              <a:t>github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 actions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b="1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b="1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b="1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b="1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b="1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Ajout dans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github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des « secrets »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render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7C74AC0-EA50-C5A3-45EB-AC0BE0485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184" y="212367"/>
            <a:ext cx="1859417" cy="38368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5D7EF22-E856-A6B1-6F8A-605FC5CE8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134" y="1207686"/>
            <a:ext cx="4055669" cy="173032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5CABC3F-0BA5-E7F8-393E-7BD11D607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9571" y="3320958"/>
            <a:ext cx="6820889" cy="152011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68148D6-A3BF-F3DA-1F39-FB1B1A8AA947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141554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0698CECE-3433-CF94-2F52-4127B2DD0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100739D2-19D0-5133-6F38-B32D0EB2D1AE}"/>
              </a:ext>
            </a:extLst>
          </p:cNvPr>
          <p:cNvSpPr txBox="1">
            <a:spLocks/>
          </p:cNvSpPr>
          <p:nvPr/>
        </p:nvSpPr>
        <p:spPr>
          <a:xfrm>
            <a:off x="-177572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Processus de livraison continu : Déploiement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776AF05E-2C33-C8D0-17BD-1A9049F1C102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4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C19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8035B18-6F06-62F2-F1F4-AC768B629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184" y="212367"/>
            <a:ext cx="1859417" cy="38368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D3BE8F2-7F1B-1435-F0DF-10C945101CD8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34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D618A32-CE70-8F28-A26F-888D50631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28" y="1611504"/>
            <a:ext cx="8654143" cy="3195376"/>
          </a:xfrm>
          <a:prstGeom prst="rect">
            <a:avLst/>
          </a:prstGeom>
        </p:spPr>
      </p:pic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398EB589-C35F-B147-3023-1C3C81775E9F}"/>
              </a:ext>
            </a:extLst>
          </p:cNvPr>
          <p:cNvSpPr txBox="1">
            <a:spLocks/>
          </p:cNvSpPr>
          <p:nvPr/>
        </p:nvSpPr>
        <p:spPr>
          <a:xfrm>
            <a:off x="306532" y="865098"/>
            <a:ext cx="7666865" cy="500122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Accès à l’application via une URL publique :</a:t>
            </a:r>
          </a:p>
        </p:txBody>
      </p:sp>
    </p:spTree>
    <p:extLst>
      <p:ext uri="{BB962C8B-B14F-4D97-AF65-F5344CB8AC3E}">
        <p14:creationId xmlns:p14="http://schemas.microsoft.com/office/powerpoint/2010/main" val="1211000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4E63C-57D8-EAE8-5B46-FA6FD85A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2A3AFDF1-DAAF-5074-6779-B172294C4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914" y="167670"/>
            <a:ext cx="8172450" cy="55506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j-lt"/>
              </a:rPr>
              <a:t>Projet personnel : classification documentaire</a:t>
            </a:r>
            <a:br>
              <a:rPr lang="en" sz="2800" dirty="0">
                <a:latin typeface="+mj-lt"/>
              </a:rPr>
            </a:br>
            <a:endParaRPr sz="2800" dirty="0">
              <a:latin typeface="+mj-lt"/>
            </a:endParaRPr>
          </a:p>
        </p:txBody>
      </p:sp>
      <p:sp>
        <p:nvSpPr>
          <p:cNvPr id="5" name="Google Shape;1264;p37">
            <a:extLst>
              <a:ext uri="{FF2B5EF4-FFF2-40B4-BE49-F238E27FC236}">
                <a16:creationId xmlns:a16="http://schemas.microsoft.com/office/drawing/2014/main" id="{9BED573B-662F-8C65-080D-A626C2544F5E}"/>
              </a:ext>
            </a:extLst>
          </p:cNvPr>
          <p:cNvSpPr txBox="1">
            <a:spLocks/>
          </p:cNvSpPr>
          <p:nvPr/>
        </p:nvSpPr>
        <p:spPr>
          <a:xfrm>
            <a:off x="513890" y="1164423"/>
            <a:ext cx="6972760" cy="33096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Application de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classification documentaire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                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« Assurance » VS « Non Assurance »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Collecte des données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Entraînement d’un modèle d’IA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Création d’une API exposant le modèle d’IA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Création d’une API Flask qui requête l’API d’IA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Monitoring du modèle d’IA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Déploiement de l’application</a:t>
            </a: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5E8A0C7A-FE51-A630-3B75-15D09D79CF24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813D4D5-57BA-0D69-985D-920505BD4382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35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BD217A5F-AF2B-54E8-5B0F-96BE00EF3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911" y="2183982"/>
            <a:ext cx="3025402" cy="25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078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B4C3F-93BD-5153-C560-E179BB876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4D8481E8-9A35-1755-3DB0-B22F3A0AF4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914" y="167670"/>
            <a:ext cx="8172450" cy="55506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j-lt"/>
              </a:rPr>
              <a:t>Projet personnel : classification documentaire</a:t>
            </a:r>
            <a:br>
              <a:rPr lang="en" sz="2800" dirty="0">
                <a:latin typeface="+mj-lt"/>
              </a:rPr>
            </a:br>
            <a:endParaRPr sz="2800" dirty="0">
              <a:latin typeface="+mj-lt"/>
            </a:endParaRPr>
          </a:p>
        </p:txBody>
      </p:sp>
      <p:sp>
        <p:nvSpPr>
          <p:cNvPr id="5" name="Google Shape;1264;p37">
            <a:extLst>
              <a:ext uri="{FF2B5EF4-FFF2-40B4-BE49-F238E27FC236}">
                <a16:creationId xmlns:a16="http://schemas.microsoft.com/office/drawing/2014/main" id="{429FF678-3541-4841-9ED3-A56CB44A1AB6}"/>
              </a:ext>
            </a:extLst>
          </p:cNvPr>
          <p:cNvSpPr txBox="1">
            <a:spLocks/>
          </p:cNvSpPr>
          <p:nvPr/>
        </p:nvSpPr>
        <p:spPr>
          <a:xfrm>
            <a:off x="513890" y="1164423"/>
            <a:ext cx="6972760" cy="29299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Application de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classification documentaire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                </a:t>
            </a:r>
            <a:r>
              <a:rPr lang="fr-FR" sz="2000" b="1" dirty="0">
                <a:solidFill>
                  <a:schemeClr val="bg1"/>
                </a:solidFill>
                <a:latin typeface="+mj-lt"/>
              </a:rPr>
              <a:t>« Assurance » VS « Non Assurance »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Collecte des données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Entraînement d’un modèle d’IA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Création d’une API exposant le modèle d’IA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Création d’une API Flask qui requête l’API d’IA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Monitoring du modèle d’IA</a:t>
            </a: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27DE3F69-B6EB-5C39-2F51-AC10D71C5ACC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AFEFC10-CBD0-0075-3E75-7DC8BEB703FA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36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2C095E3-7388-D29B-3DE3-E59377D2F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911" y="2183982"/>
            <a:ext cx="3025402" cy="253768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34CAFC1-9385-88C8-4DF7-6825C5DFC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863" y="4302335"/>
            <a:ext cx="981075" cy="50482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863D7DC-475E-9391-D85F-B1575DA90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578" y="4321878"/>
            <a:ext cx="1686606" cy="46573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4FF4408-0E82-8800-F654-BC6A4D55A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42" y="4216837"/>
            <a:ext cx="1219881" cy="67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8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3051E-963F-1590-67B1-3258AEA9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80BA4C1A-0399-8A08-6254-B1C2A95E2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914" y="167670"/>
            <a:ext cx="8172450" cy="55506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j-lt"/>
              </a:rPr>
              <a:t>Architecture du projet</a:t>
            </a:r>
            <a:br>
              <a:rPr lang="en" sz="2800" dirty="0">
                <a:latin typeface="+mj-lt"/>
              </a:rPr>
            </a:br>
            <a:endParaRPr sz="2800" dirty="0">
              <a:latin typeface="+mj-lt"/>
            </a:endParaRPr>
          </a:p>
        </p:txBody>
      </p:sp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05A6F491-7270-2999-850A-F2DC162221F8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C111E19-8EF4-4D01-FBB9-E0BEF52097C8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37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E4EDBDB-35BF-DE7B-6CE6-A8E9825CA4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5742"/>
          <a:stretch>
            <a:fillRect/>
          </a:stretch>
        </p:blipFill>
        <p:spPr>
          <a:xfrm>
            <a:off x="2870713" y="647966"/>
            <a:ext cx="2929967" cy="449553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E7133E2-7486-6287-D288-F3C0BC1C6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786" y="4220012"/>
            <a:ext cx="675367" cy="85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25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462E8-870B-5C76-C5B4-F5FC7112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0DA36F1F-647A-E9CE-109D-B5C2C003B0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914" y="167670"/>
            <a:ext cx="8172450" cy="55506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j-lt"/>
              </a:rPr>
              <a:t>Architecture du projet</a:t>
            </a:r>
            <a:br>
              <a:rPr lang="en" sz="2800" dirty="0">
                <a:latin typeface="+mj-lt"/>
              </a:rPr>
            </a:br>
            <a:endParaRPr sz="2800" dirty="0">
              <a:latin typeface="+mj-lt"/>
            </a:endParaRPr>
          </a:p>
        </p:txBody>
      </p:sp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B206379C-7E25-27E3-8C39-DADE32AB3AFB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FCA86DF-97F0-BBC7-C303-F25D41CE0A05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38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3AD5EAF-47D6-CB81-DB43-083B60E8F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790" y="647966"/>
            <a:ext cx="6620224" cy="449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854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6B3A5-D512-8DE8-B23C-62CC3CAD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41F473F6-AB96-B23D-FB6C-C2F82DAA6FD3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9A2B091-9E01-BD35-71A8-373667A8B271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39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2FB3B46F-C363-DA8F-BD6C-76AC7E44CC96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Préparation des données</a:t>
            </a:r>
          </a:p>
        </p:txBody>
      </p:sp>
      <p:sp>
        <p:nvSpPr>
          <p:cNvPr id="9" name="Google Shape;1264;p37">
            <a:extLst>
              <a:ext uri="{FF2B5EF4-FFF2-40B4-BE49-F238E27FC236}">
                <a16:creationId xmlns:a16="http://schemas.microsoft.com/office/drawing/2014/main" id="{7075220C-0EE4-BA0B-04D8-D92F00C34A2E}"/>
              </a:ext>
            </a:extLst>
          </p:cNvPr>
          <p:cNvSpPr txBox="1">
            <a:spLocks/>
          </p:cNvSpPr>
          <p:nvPr/>
        </p:nvSpPr>
        <p:spPr>
          <a:xfrm>
            <a:off x="424402" y="722730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Collecte des documents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Extraction des textes, nettoyage des textes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Tokenization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,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lemmatization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237E835-CE7A-B097-7914-5FB6D7AB6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138" y="722729"/>
            <a:ext cx="377738" cy="38724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91794D-1038-2994-EF9C-F7E3C3959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463" y="1109970"/>
            <a:ext cx="1388609" cy="30884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C439B8A-43B8-CD7E-106E-80DF1BB50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316" y="1486641"/>
            <a:ext cx="845684" cy="35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756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F37F-BB42-0018-E7FE-D80985C33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17B7042D-158D-2594-814F-76BC5F1C4C71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D5530C7-A962-4C0C-0177-FFAD2E5B9B7A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40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E1AB368C-C262-9274-1A20-5ABB69FD8A96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Préparation des données</a:t>
            </a:r>
          </a:p>
        </p:txBody>
      </p:sp>
      <p:sp>
        <p:nvSpPr>
          <p:cNvPr id="9" name="Google Shape;1264;p37">
            <a:extLst>
              <a:ext uri="{FF2B5EF4-FFF2-40B4-BE49-F238E27FC236}">
                <a16:creationId xmlns:a16="http://schemas.microsoft.com/office/drawing/2014/main" id="{12F1A25B-50DF-DEB9-CBB7-75FC2E102AF5}"/>
              </a:ext>
            </a:extLst>
          </p:cNvPr>
          <p:cNvSpPr txBox="1">
            <a:spLocks/>
          </p:cNvSpPr>
          <p:nvPr/>
        </p:nvSpPr>
        <p:spPr>
          <a:xfrm>
            <a:off x="424402" y="722730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Collecte des documents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Extraction des textes, nettoyage des textes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Tokenization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,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lemmatization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Chunking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8AD5B73-831C-C056-388E-4A602609E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138" y="722729"/>
            <a:ext cx="377738" cy="38724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D81703D-9CEE-1742-D2A4-2E44F2042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463" y="1109970"/>
            <a:ext cx="1388609" cy="30884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DA66007-2E19-1984-7709-AFE9CC0A5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316" y="1486641"/>
            <a:ext cx="845684" cy="35644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23473BD-FF7E-AA3E-3037-7BF161CB2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7906" y="1877325"/>
            <a:ext cx="5963194" cy="296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07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DF2DE-286D-54DF-052D-072F4FFC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89F8D225-A51B-5AD4-4A28-F2FFD15F8A2A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00BA383-EBD8-06EB-5653-08C20BDA4D78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41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B8104D78-BD5A-52B0-DE26-8BBAE908F05F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Préparation des données</a:t>
            </a:r>
          </a:p>
        </p:txBody>
      </p:sp>
      <p:sp>
        <p:nvSpPr>
          <p:cNvPr id="9" name="Google Shape;1264;p37">
            <a:extLst>
              <a:ext uri="{FF2B5EF4-FFF2-40B4-BE49-F238E27FC236}">
                <a16:creationId xmlns:a16="http://schemas.microsoft.com/office/drawing/2014/main" id="{90AE97B3-FFAE-8729-3533-FE7BFED2848F}"/>
              </a:ext>
            </a:extLst>
          </p:cNvPr>
          <p:cNvSpPr txBox="1">
            <a:spLocks/>
          </p:cNvSpPr>
          <p:nvPr/>
        </p:nvSpPr>
        <p:spPr>
          <a:xfrm>
            <a:off x="424402" y="722730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Collecte des documents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Extraction des textes, nettoyage des textes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Tokenization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,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lemmatization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Chunking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Labellisation des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chunks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7B2078A-BEB8-7293-9B46-99EEAE233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138" y="722729"/>
            <a:ext cx="377738" cy="38724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4943C00-5262-D3D1-3E19-95AA07724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463" y="1109970"/>
            <a:ext cx="1388609" cy="30884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0775CB5-A341-6FBE-FB4B-A0E2F2500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316" y="1486641"/>
            <a:ext cx="845684" cy="35644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43FB2EB-3EFA-9530-A3BC-6A3EC8746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678" y="1635359"/>
            <a:ext cx="3363686" cy="336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43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E8B4-45CD-AD1B-EAFD-97998C38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287CBE2A-F046-043D-1E67-1857B519D214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1F76B89-4EFA-426D-CCE8-E4814D8D9BBF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42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93C4B554-C784-F3F8-441F-B6EB4E8A87B1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Entraînement d’un modèle : régression logistique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2E8AF103-BDEA-83C9-A8EC-D56C1B3DB149}"/>
              </a:ext>
            </a:extLst>
          </p:cNvPr>
          <p:cNvSpPr txBox="1">
            <a:spLocks/>
          </p:cNvSpPr>
          <p:nvPr/>
        </p:nvSpPr>
        <p:spPr>
          <a:xfrm>
            <a:off x="424402" y="722730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Séparation des données d’entraînement et des données de test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DCE2DFB-EA3F-D349-B2D5-83F4C9B21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91" y="1122057"/>
            <a:ext cx="7483488" cy="4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82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7AA5-1837-D033-CDE1-202F2F690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B3B54A41-447F-A096-6991-AD7B591D5104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F365B9B-912C-B0EA-71BA-7E5B2EFE32D6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43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CC741754-785E-9CA4-3646-B972BA575A1B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Entraînement d’un modèle : régression logistique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640A5708-AB5F-B13B-583F-A95379DDDD2E}"/>
              </a:ext>
            </a:extLst>
          </p:cNvPr>
          <p:cNvSpPr txBox="1">
            <a:spLocks/>
          </p:cNvSpPr>
          <p:nvPr/>
        </p:nvSpPr>
        <p:spPr>
          <a:xfrm>
            <a:off x="424402" y="722730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Séparation des données d’entraînement et des données de test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Vectorisation TF-IDF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341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38F3-B90C-EF33-ECFB-DDAAF0BF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7C698F47-93AF-9ED0-34A3-AE774E915770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22BB5B3-EB27-F39A-09EE-BCEA10877F8E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44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A395216D-E42C-8AB5-4F28-D1B686235955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Entraînement d’un modèle : régression logistique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2510102E-EA29-FDC0-4046-2428C60AFC2D}"/>
              </a:ext>
            </a:extLst>
          </p:cNvPr>
          <p:cNvSpPr txBox="1">
            <a:spLocks/>
          </p:cNvSpPr>
          <p:nvPr/>
        </p:nvSpPr>
        <p:spPr>
          <a:xfrm>
            <a:off x="424402" y="722730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Séparation des données d’entraînement et des données de test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Vectorisation TF-IDF</a:t>
            </a:r>
          </a:p>
          <a:p>
            <a:pPr marL="342900" lvl="2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Choix du modèle : Régression logistique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75E8BA9-742C-9683-FB2C-F41A7FDCB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02" y="2072329"/>
            <a:ext cx="4563056" cy="2862902"/>
          </a:xfrm>
          <a:prstGeom prst="rect">
            <a:avLst/>
          </a:prstGeom>
        </p:spPr>
      </p:pic>
      <p:sp>
        <p:nvSpPr>
          <p:cNvPr id="12" name="Google Shape;1264;p37">
            <a:extLst>
              <a:ext uri="{FF2B5EF4-FFF2-40B4-BE49-F238E27FC236}">
                <a16:creationId xmlns:a16="http://schemas.microsoft.com/office/drawing/2014/main" id="{30EE87E0-B672-12EB-56C9-A3895C408686}"/>
              </a:ext>
            </a:extLst>
          </p:cNvPr>
          <p:cNvSpPr txBox="1">
            <a:spLocks/>
          </p:cNvSpPr>
          <p:nvPr/>
        </p:nvSpPr>
        <p:spPr>
          <a:xfrm>
            <a:off x="5963256" y="2281098"/>
            <a:ext cx="1777553" cy="427416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Multi-dimension</a:t>
            </a: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180DC6F-6184-041D-9A00-B4410F238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35" y="1609908"/>
            <a:ext cx="3009900" cy="33337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CD77F7B-F2D8-1027-1EAF-2C373AF29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4904" y="2718532"/>
            <a:ext cx="2941575" cy="7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549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9E71-EEC6-F504-3BE0-FF93C127D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81AA2246-06BF-1151-EB13-08D70E383BA0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183A270-A473-9ACD-3897-5B0911D668EE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45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89EE797D-52DC-7BFC-799E-2877397539AC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Entraînement d’un modèle : régression logistique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B899AB9B-B665-A964-B91F-3956702CDDC5}"/>
              </a:ext>
            </a:extLst>
          </p:cNvPr>
          <p:cNvSpPr txBox="1">
            <a:spLocks/>
          </p:cNvSpPr>
          <p:nvPr/>
        </p:nvSpPr>
        <p:spPr>
          <a:xfrm>
            <a:off x="424402" y="722730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Séparation des données d’entraînement et des données de test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Vectorisation TF-IDF</a:t>
            </a:r>
          </a:p>
          <a:p>
            <a:pPr marL="342900" lvl="2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Choix du modèle : Régression logistique</a:t>
            </a:r>
          </a:p>
          <a:p>
            <a:pPr marL="342900" lvl="2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Entraînement du modèle : 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61A1C20-EE83-92E3-E91B-2AD89F746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735" y="1609908"/>
            <a:ext cx="3009900" cy="33337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12E409A-B98B-5CD5-CD24-C348A609D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35" y="2113358"/>
            <a:ext cx="2895600" cy="31432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977B92F2-4F0E-467E-22F0-F6A9F240AE99}"/>
              </a:ext>
            </a:extLst>
          </p:cNvPr>
          <p:cNvSpPr txBox="1"/>
          <p:nvPr/>
        </p:nvSpPr>
        <p:spPr>
          <a:xfrm>
            <a:off x="893991" y="2589594"/>
            <a:ext cx="4927147" cy="70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400" dirty="0">
                <a:solidFill>
                  <a:schemeClr val="bg1"/>
                </a:solidFill>
                <a:latin typeface="+mj-lt"/>
              </a:rPr>
              <a:t>Minimiser la fonction de perte : </a:t>
            </a:r>
            <a:r>
              <a:rPr lang="fr-FR" sz="1400" b="1" dirty="0">
                <a:solidFill>
                  <a:schemeClr val="bg1"/>
                </a:solidFill>
                <a:latin typeface="+mj-lt"/>
              </a:rPr>
              <a:t>Entropie croisée binaire</a:t>
            </a:r>
            <a:br>
              <a:rPr lang="fr-FR" sz="1400" dirty="0">
                <a:solidFill>
                  <a:schemeClr val="bg1"/>
                </a:solidFill>
                <a:latin typeface="+mj-lt"/>
              </a:rPr>
            </a:br>
            <a:endParaRPr lang="fr-FR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BC7A987-26D6-D8CE-070B-6B8AAB932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038" y="3282239"/>
            <a:ext cx="5235394" cy="7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62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A6D5-2D00-B7FC-DB7B-ABF00ABF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91CE00DE-B814-42F3-EA80-6F0AD81784F8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C11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6F7367DD-9FA2-3877-4C2E-F7BCD83D8939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du modèle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ED6A8260-E5EB-A610-A11A-AB2FA65C2916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5C7C561-A5A7-1772-2A02-1AAB169853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731"/>
          <a:stretch>
            <a:fillRect/>
          </a:stretch>
        </p:blipFill>
        <p:spPr>
          <a:xfrm>
            <a:off x="6625818" y="732162"/>
            <a:ext cx="2358476" cy="3194859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C3D0C04-2CB1-F1FB-A61C-5A1C0C4BBF9E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46</a:t>
            </a:r>
          </a:p>
        </p:txBody>
      </p:sp>
      <p:sp>
        <p:nvSpPr>
          <p:cNvPr id="14" name="Google Shape;1264;p37">
            <a:extLst>
              <a:ext uri="{FF2B5EF4-FFF2-40B4-BE49-F238E27FC236}">
                <a16:creationId xmlns:a16="http://schemas.microsoft.com/office/drawing/2014/main" id="{FAA68B3A-6263-727F-B261-6AA8EC24F840}"/>
              </a:ext>
            </a:extLst>
          </p:cNvPr>
          <p:cNvSpPr txBox="1">
            <a:spLocks/>
          </p:cNvSpPr>
          <p:nvPr/>
        </p:nvSpPr>
        <p:spPr>
          <a:xfrm>
            <a:off x="424403" y="722730"/>
            <a:ext cx="6041710" cy="381661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Les métriques usuelles d’une tâche de classification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Accuracy :  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4B6A1E2-748B-ABEB-C8D2-10B548717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48" y="1307646"/>
            <a:ext cx="248602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41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E66DF-A690-BA48-CB67-F7CB1A030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636FB607-C1D5-D228-77B2-58CB1736BB50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C11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66296F67-B50D-B4BB-B2C3-FB0398BC2EF1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du modèle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5B240F75-C779-1853-FD6E-BE01A61BAE63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1BB533C-332B-E105-48C0-06B1C2AB5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818" y="732162"/>
            <a:ext cx="2358476" cy="442077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59B2D824-BC53-B57B-10B8-A2BA6E8D55A1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47</a:t>
            </a:r>
          </a:p>
        </p:txBody>
      </p:sp>
      <p:sp>
        <p:nvSpPr>
          <p:cNvPr id="14" name="Google Shape;1264;p37">
            <a:extLst>
              <a:ext uri="{FF2B5EF4-FFF2-40B4-BE49-F238E27FC236}">
                <a16:creationId xmlns:a16="http://schemas.microsoft.com/office/drawing/2014/main" id="{4915046F-4782-E906-ADB6-4772705AEBC1}"/>
              </a:ext>
            </a:extLst>
          </p:cNvPr>
          <p:cNvSpPr txBox="1">
            <a:spLocks/>
          </p:cNvSpPr>
          <p:nvPr/>
        </p:nvSpPr>
        <p:spPr>
          <a:xfrm>
            <a:off x="424403" y="722730"/>
            <a:ext cx="6041710" cy="381661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Les métriques usuelles d’une tâche de classification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Accuracy :  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Précision : 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Rappel : 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44D503C-0B66-DBA9-7C90-BE4DB5E47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48" y="1307646"/>
            <a:ext cx="2486025" cy="6286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56E43D8F-8155-6268-E545-2EBE41FDA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699" y="2117669"/>
            <a:ext cx="1133475" cy="64770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37ACF47-ECED-53E1-7C6F-EF2B0C683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48" y="2905428"/>
            <a:ext cx="117157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56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3AFB-15EB-18A1-4F48-FEC98BA54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37D247B3-E8DA-B2EB-F58E-30C780126D71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C11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4073CDF5-4E27-D00A-280A-1C85F9E44E52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du modèle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E113F8CC-FA89-C09F-4E2E-2DA1F24FC4ED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A662B8A-C2E1-B492-3278-9F4202C36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818" y="732162"/>
            <a:ext cx="2358476" cy="442077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AAE571C-D408-F766-A975-69EC9F1FF793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48</a:t>
            </a:r>
          </a:p>
        </p:txBody>
      </p:sp>
      <p:sp>
        <p:nvSpPr>
          <p:cNvPr id="14" name="Google Shape;1264;p37">
            <a:extLst>
              <a:ext uri="{FF2B5EF4-FFF2-40B4-BE49-F238E27FC236}">
                <a16:creationId xmlns:a16="http://schemas.microsoft.com/office/drawing/2014/main" id="{E552D991-104E-A511-FA1F-9B21A7426413}"/>
              </a:ext>
            </a:extLst>
          </p:cNvPr>
          <p:cNvSpPr txBox="1">
            <a:spLocks/>
          </p:cNvSpPr>
          <p:nvPr/>
        </p:nvSpPr>
        <p:spPr>
          <a:xfrm>
            <a:off x="424403" y="722730"/>
            <a:ext cx="6041710" cy="381661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Les métriques usuelles d’une tâche de classification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Accuracy :  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Précision : 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Rappel : 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el-GR" sz="1600" dirty="0">
                <a:solidFill>
                  <a:schemeClr val="bg1"/>
                </a:solidFill>
                <a:latin typeface="+mj-lt"/>
              </a:rPr>
              <a:t>β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-Score :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C7135A4-6945-E6B8-381A-F9782FA74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48" y="1307646"/>
            <a:ext cx="2486025" cy="6286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EC57B4CB-90E7-B49D-B377-B95873086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699" y="2117669"/>
            <a:ext cx="1133475" cy="64770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8BFB02AC-64EC-4F72-4FDD-B7D0E379F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48" y="2905428"/>
            <a:ext cx="1171575" cy="619125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6A7D59BB-8304-2F68-CCB9-8748F8869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48" y="3664612"/>
            <a:ext cx="43434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06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2A95DF13-9313-38A5-E317-CDAA9D0C7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F2ED095-B486-2203-2B8B-DB5220969119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49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8853CCB-B1A4-B840-6EAC-8A1654D8A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612" y="185137"/>
            <a:ext cx="942975" cy="438150"/>
          </a:xfrm>
          <a:prstGeom prst="rect">
            <a:avLst/>
          </a:prstGeom>
        </p:spPr>
      </p:pic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45A6D73F-D4A6-5548-75AA-2756BA3DD98B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C11</a:t>
            </a:r>
          </a:p>
        </p:txBody>
      </p:sp>
      <p:sp>
        <p:nvSpPr>
          <p:cNvPr id="6" name="Google Shape;969;p29">
            <a:extLst>
              <a:ext uri="{FF2B5EF4-FFF2-40B4-BE49-F238E27FC236}">
                <a16:creationId xmlns:a16="http://schemas.microsoft.com/office/drawing/2014/main" id="{1B266DF5-D56B-EF36-26A1-094FE714FA98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du modèle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3179D64-DCC3-8C70-ECBA-133C05B11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48" y="714903"/>
            <a:ext cx="8319409" cy="409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11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E65E65A9-E04B-4919-7FE0-476D7B6A3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CE66E66-B43B-1F70-1A2F-F80982220797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42E4184-482A-566B-3D72-E141DE59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612" y="185137"/>
            <a:ext cx="942975" cy="438150"/>
          </a:xfrm>
          <a:prstGeom prst="rect">
            <a:avLst/>
          </a:prstGeom>
        </p:spPr>
      </p:pic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B896C9AF-C3AA-6F61-79B2-96D6B435FCCC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C11</a:t>
            </a:r>
          </a:p>
        </p:txBody>
      </p:sp>
      <p:sp>
        <p:nvSpPr>
          <p:cNvPr id="6" name="Google Shape;969;p29">
            <a:extLst>
              <a:ext uri="{FF2B5EF4-FFF2-40B4-BE49-F238E27FC236}">
                <a16:creationId xmlns:a16="http://schemas.microsoft.com/office/drawing/2014/main" id="{8C4187E8-1909-54D5-DC4F-A81FD0F4F576}"/>
              </a:ext>
            </a:extLst>
          </p:cNvPr>
          <p:cNvSpPr txBox="1">
            <a:spLocks/>
          </p:cNvSpPr>
          <p:nvPr/>
        </p:nvSpPr>
        <p:spPr>
          <a:xfrm>
            <a:off x="424544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du modèle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C7CB7BE-5AD5-48CA-D8B4-9E1DCA3FD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6861" y="744858"/>
            <a:ext cx="3959679" cy="421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17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0098148A-DA4F-8452-E92E-37C305D6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5ED0F302-41BA-251C-61C7-F55D599A18C0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Tests unitaires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D1472055-E825-8667-F002-465E4E56A31A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C12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6D5DF87-F4CF-622A-9B5D-B390D35D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119" y="128718"/>
            <a:ext cx="838434" cy="80078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20AD9DE-059F-3CB0-8165-FE04CF0BA5CC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A7701EF-A247-DCFA-3E8B-1B5F9FEFBC41}"/>
              </a:ext>
            </a:extLst>
          </p:cNvPr>
          <p:cNvSpPr txBox="1"/>
          <p:nvPr/>
        </p:nvSpPr>
        <p:spPr>
          <a:xfrm>
            <a:off x="1143000" y="4122206"/>
            <a:ext cx="6505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Tester la compatibilité entre la dimension du </a:t>
            </a:r>
            <a:r>
              <a:rPr lang="fr-FR" sz="1200" dirty="0" err="1"/>
              <a:t>vectorizer</a:t>
            </a:r>
            <a:r>
              <a:rPr lang="fr-FR" sz="1200" dirty="0"/>
              <a:t> et la dimension du modèle classifieur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82A3D80-5754-ADFD-28F5-8AD840E0F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87" y="1455206"/>
            <a:ext cx="858202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48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75BB5E09-46C4-D7A0-6332-4C430CAAA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3A81195D-F3AB-CC45-F03A-29BAACD68ACF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Tests unitaires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08E7DB82-C4C5-A8BC-DC6B-FCD7F4C50DC2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C12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75BD2D3-4782-1FEF-15DE-D4D6F8A85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119" y="128718"/>
            <a:ext cx="838434" cy="80078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915609B-D09F-0A21-E873-0E9EFE670EF4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52</a:t>
            </a: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E9A66B7B-77BD-A42A-0FFE-9B83C5602591}"/>
              </a:ext>
            </a:extLst>
          </p:cNvPr>
          <p:cNvSpPr txBox="1">
            <a:spLocks/>
          </p:cNvSpPr>
          <p:nvPr/>
        </p:nvSpPr>
        <p:spPr>
          <a:xfrm>
            <a:off x="408073" y="710672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Les tests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Pytest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peuvent être lancés manuellement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4F5CE6F-67EF-FBD8-9843-057163E5B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4" y="1124970"/>
            <a:ext cx="5625195" cy="191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72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1A92FDDF-413D-6890-161A-4C5A041DA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6ECE6892-CBDC-818D-8464-49CEF6454ABD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Tests unitaires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248518C8-1F1A-C653-C701-A77E1A4565C3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C12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835676A-0B30-88A8-6EE9-0BB3C847D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119" y="128718"/>
            <a:ext cx="838434" cy="80078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0F4770-BB03-622E-C0B6-F084E3D24E96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53</a:t>
            </a: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9364F13F-BE84-3EE1-C877-8DF977E67C65}"/>
              </a:ext>
            </a:extLst>
          </p:cNvPr>
          <p:cNvSpPr txBox="1">
            <a:spLocks/>
          </p:cNvSpPr>
          <p:nvPr/>
        </p:nvSpPr>
        <p:spPr>
          <a:xfrm>
            <a:off x="408073" y="710672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Les tests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Pytest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peuvent être lancés manuellement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Les tests peuvent être lancés automatiquement lors d’un « git push »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BB337E7-384B-7E17-2709-77659CFFA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79" y="1499916"/>
            <a:ext cx="7886700" cy="334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09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9A369-3CC3-970F-B130-D2AEB629D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3FBB2A5B-2B60-266E-4CA6-306133A9EC0D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574F579-E5CD-CE97-A2B3-6F31201104DF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54</a:t>
            </a:r>
          </a:p>
        </p:txBody>
      </p:sp>
      <p:sp>
        <p:nvSpPr>
          <p:cNvPr id="14" name="Google Shape;1264;p37">
            <a:extLst>
              <a:ext uri="{FF2B5EF4-FFF2-40B4-BE49-F238E27FC236}">
                <a16:creationId xmlns:a16="http://schemas.microsoft.com/office/drawing/2014/main" id="{31E3E765-78EB-EE8A-92B7-02142105F27A}"/>
              </a:ext>
            </a:extLst>
          </p:cNvPr>
          <p:cNvSpPr txBox="1">
            <a:spLocks/>
          </p:cNvSpPr>
          <p:nvPr/>
        </p:nvSpPr>
        <p:spPr>
          <a:xfrm>
            <a:off x="424403" y="722730"/>
            <a:ext cx="6041710" cy="381661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1E754DC-DECC-4AD0-AA2B-119707EBC3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1" t="23968" r="7063" b="3334"/>
          <a:stretch>
            <a:fillRect/>
          </a:stretch>
        </p:blipFill>
        <p:spPr>
          <a:xfrm>
            <a:off x="906393" y="995289"/>
            <a:ext cx="6980466" cy="3739244"/>
          </a:xfrm>
          <a:prstGeom prst="rect">
            <a:avLst/>
          </a:prstGeom>
        </p:spPr>
      </p:pic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66ACE4FD-203A-EBA0-E4DE-2A16E407B3FB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Architecture de l’API et de l’application</a:t>
            </a:r>
          </a:p>
        </p:txBody>
      </p:sp>
      <p:sp>
        <p:nvSpPr>
          <p:cNvPr id="6" name="Google Shape;969;p29">
            <a:extLst>
              <a:ext uri="{FF2B5EF4-FFF2-40B4-BE49-F238E27FC236}">
                <a16:creationId xmlns:a16="http://schemas.microsoft.com/office/drawing/2014/main" id="{26E28D15-D002-685F-5BF8-2D4C15268592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112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C10</a:t>
            </a:r>
          </a:p>
        </p:txBody>
      </p:sp>
    </p:spTree>
    <p:extLst>
      <p:ext uri="{BB962C8B-B14F-4D97-AF65-F5344CB8AC3E}">
        <p14:creationId xmlns:p14="http://schemas.microsoft.com/office/powerpoint/2010/main" val="153258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5B7D73A9-0793-AFD4-1A9F-F83CCAF37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08DBAB25-67EC-7657-947B-5DD14CB1E7E2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5747659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API exposant notre modèle classifieur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2A4B2FFA-E6A8-553D-8A12-C36DBF5F4E34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112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  <a:p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E9921A0-74EE-481A-1E1C-707B1854C00D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55</a:t>
            </a: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13BEAEBF-1F66-69F6-901A-0F6C168689ED}"/>
              </a:ext>
            </a:extLst>
          </p:cNvPr>
          <p:cNvSpPr txBox="1">
            <a:spLocks/>
          </p:cNvSpPr>
          <p:nvPr/>
        </p:nvSpPr>
        <p:spPr>
          <a:xfrm>
            <a:off x="408073" y="710672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F0A36C1-1815-A7BE-F9D3-AB8478F67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465" y="244934"/>
            <a:ext cx="1686606" cy="46573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231BEC3-29D0-7B2B-37D7-186114C3E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93" y="813283"/>
            <a:ext cx="4376057" cy="340184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82AD6C6-5616-4DAB-B163-11C084D04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93" y="4484268"/>
            <a:ext cx="648652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53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93A6FDF1-C79D-BDC1-CAA9-91D7D66F2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89767C87-36CB-2B6A-FEF0-BA53C70133B5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5747659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API exposant notre modèle classifieur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76E69D92-695B-A269-45DC-8EEAE06151D3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112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  <a:p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2BAD09E8-19DE-F438-4726-E14F6E664765}"/>
              </a:ext>
            </a:extLst>
          </p:cNvPr>
          <p:cNvSpPr txBox="1">
            <a:spLocks/>
          </p:cNvSpPr>
          <p:nvPr/>
        </p:nvSpPr>
        <p:spPr>
          <a:xfrm>
            <a:off x="408073" y="710672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51C1A8A-44FD-0F0C-32BC-0F853694B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465" y="244934"/>
            <a:ext cx="1686606" cy="46573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6E84DFB-FC5B-DA41-0A69-CF6F171E6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0535"/>
            <a:ext cx="4055711" cy="315281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D292182-72C0-E3ED-3082-C4ADBF1640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2905" y="2571749"/>
            <a:ext cx="5092928" cy="242729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A59D947-A402-1EBC-06E1-99ABCA506E27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495507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298E3-8354-6516-9EF1-54D51E17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78873F9E-1C1C-82A1-2DF5-E7228C400654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514422FE-20EA-7778-2395-7DCD97187C54}"/>
              </a:ext>
            </a:extLst>
          </p:cNvPr>
          <p:cNvSpPr txBox="1">
            <a:spLocks/>
          </p:cNvSpPr>
          <p:nvPr/>
        </p:nvSpPr>
        <p:spPr>
          <a:xfrm>
            <a:off x="1869620" y="335489"/>
            <a:ext cx="4678137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Exemple d’utilisation de l’API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4F8724AA-C680-69BC-C3B5-65748F974141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F4DE018-DC1B-B2DA-D609-0AF4AE9C871E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57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7513039-0DB7-E6B0-DF47-8553D9FC2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465" y="244934"/>
            <a:ext cx="1686606" cy="46573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5F2A549-F60B-B019-BAF1-9275C708F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6852"/>
            <a:ext cx="9144000" cy="401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48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BB382-594F-3AB8-1751-2A2DE85D1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750A3907-8DA0-FA53-BE2B-72BCF24A8C9C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C10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F5BA3716-79FD-EDF9-C835-08DBC537BBB9}"/>
              </a:ext>
            </a:extLst>
          </p:cNvPr>
          <p:cNvSpPr txBox="1">
            <a:spLocks/>
          </p:cNvSpPr>
          <p:nvPr/>
        </p:nvSpPr>
        <p:spPr>
          <a:xfrm>
            <a:off x="1869620" y="335489"/>
            <a:ext cx="4678137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Application Flask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02D8C260-F556-8B7A-A988-DF5998C739FA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BBF5C3E-CB22-3DAF-A61C-686D8345F4AF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58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323561-EB1B-F292-8353-B7C5422BA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7" y="1125107"/>
            <a:ext cx="4553545" cy="37239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3B710AC-5193-7522-8EE6-4CEA22534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46" y="1141435"/>
            <a:ext cx="4609626" cy="372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79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5E987-7F84-00A1-26BF-ECD34FA82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FC7F6998-9A85-25CE-8BEB-1E300CE9FAC4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C13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A9F6B87E-26B1-9E9E-A8CF-CAD0733DE7DB}"/>
              </a:ext>
            </a:extLst>
          </p:cNvPr>
          <p:cNvSpPr txBox="1">
            <a:spLocks/>
          </p:cNvSpPr>
          <p:nvPr/>
        </p:nvSpPr>
        <p:spPr>
          <a:xfrm>
            <a:off x="881744" y="335489"/>
            <a:ext cx="5666014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Chaîne de livraison continue : déploiement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4C161754-5162-ABB6-8A05-35F9AAF23769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98C2E64-54E1-E1F4-4568-723862CC9C28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59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C3680F-4E31-37AF-605F-ED2E6C3C4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850" y="269517"/>
            <a:ext cx="1859417" cy="38368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2F5495B-7E80-C76B-B677-869D118C2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14" y="1620150"/>
            <a:ext cx="7666865" cy="2967819"/>
          </a:xfrm>
          <a:prstGeom prst="rect">
            <a:avLst/>
          </a:prstGeom>
        </p:spPr>
      </p:pic>
      <p:sp>
        <p:nvSpPr>
          <p:cNvPr id="10" name="Google Shape;1264;p37">
            <a:extLst>
              <a:ext uri="{FF2B5EF4-FFF2-40B4-BE49-F238E27FC236}">
                <a16:creationId xmlns:a16="http://schemas.microsoft.com/office/drawing/2014/main" id="{4E9E7447-14AA-7493-3308-9784F33F56A5}"/>
              </a:ext>
            </a:extLst>
          </p:cNvPr>
          <p:cNvSpPr txBox="1">
            <a:spLocks/>
          </p:cNvSpPr>
          <p:nvPr/>
        </p:nvSpPr>
        <p:spPr>
          <a:xfrm>
            <a:off x="506048" y="902106"/>
            <a:ext cx="6041710" cy="45292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Création d’un web service dans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dender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286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0FA13-1DF2-ECC2-FAED-5C6AFD54D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893C7791-46F2-20E2-65E6-925072E49857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C13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74B6D75B-5606-ECAE-822A-3F6DBF880D0D}"/>
              </a:ext>
            </a:extLst>
          </p:cNvPr>
          <p:cNvSpPr txBox="1">
            <a:spLocks/>
          </p:cNvSpPr>
          <p:nvPr/>
        </p:nvSpPr>
        <p:spPr>
          <a:xfrm>
            <a:off x="881744" y="335489"/>
            <a:ext cx="5666014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Chaîne de livraison continue : déploiement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F5199E68-EA87-0163-2B62-4CDC1AF89611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A23D84-B6A4-8D06-80B2-9C346FF33F89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26F99F7-27CD-311B-2C36-50A1FF49D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850" y="269517"/>
            <a:ext cx="1859417" cy="383689"/>
          </a:xfrm>
          <a:prstGeom prst="rect">
            <a:avLst/>
          </a:prstGeom>
        </p:spPr>
      </p:pic>
      <p:sp>
        <p:nvSpPr>
          <p:cNvPr id="10" name="Google Shape;1264;p37">
            <a:extLst>
              <a:ext uri="{FF2B5EF4-FFF2-40B4-BE49-F238E27FC236}">
                <a16:creationId xmlns:a16="http://schemas.microsoft.com/office/drawing/2014/main" id="{07B31DE7-AE6A-20C8-C413-1C3AB1F488D7}"/>
              </a:ext>
            </a:extLst>
          </p:cNvPr>
          <p:cNvSpPr txBox="1">
            <a:spLocks/>
          </p:cNvSpPr>
          <p:nvPr/>
        </p:nvSpPr>
        <p:spPr>
          <a:xfrm>
            <a:off x="506048" y="777656"/>
            <a:ext cx="6041710" cy="45292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Configuration 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0BAD7FB-6011-FB53-F168-C86BC5C86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02" y="1355033"/>
            <a:ext cx="7849280" cy="33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01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68623-AB8D-6E4C-8FFD-9BCC3B22E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ADE25311-A37D-1224-AF68-B05D0B14ECF9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C13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8103B0C3-B943-F92D-4B28-69B00907F472}"/>
              </a:ext>
            </a:extLst>
          </p:cNvPr>
          <p:cNvSpPr txBox="1">
            <a:spLocks/>
          </p:cNvSpPr>
          <p:nvPr/>
        </p:nvSpPr>
        <p:spPr>
          <a:xfrm>
            <a:off x="881744" y="335489"/>
            <a:ext cx="5666014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Chaîne de livraison continue : Déploiement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398148CD-EF9D-424A-5BD4-2AAD5C2F9BEC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B869E5E-6EB1-432D-59D4-B143BB2A2682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EC565AC-A5FC-634C-3B90-394E9F474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850" y="269517"/>
            <a:ext cx="1859417" cy="383689"/>
          </a:xfrm>
          <a:prstGeom prst="rect">
            <a:avLst/>
          </a:prstGeom>
        </p:spPr>
      </p:pic>
      <p:sp>
        <p:nvSpPr>
          <p:cNvPr id="10" name="Google Shape;1264;p37">
            <a:extLst>
              <a:ext uri="{FF2B5EF4-FFF2-40B4-BE49-F238E27FC236}">
                <a16:creationId xmlns:a16="http://schemas.microsoft.com/office/drawing/2014/main" id="{B575D3B7-F74F-4152-DBCA-4B2A309BB3CA}"/>
              </a:ext>
            </a:extLst>
          </p:cNvPr>
          <p:cNvSpPr txBox="1">
            <a:spLocks/>
          </p:cNvSpPr>
          <p:nvPr/>
        </p:nvSpPr>
        <p:spPr>
          <a:xfrm>
            <a:off x="122464" y="777656"/>
            <a:ext cx="8727621" cy="45292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L’application sera déployée lors du prochain « git push » et accessible via une URL publique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62E0902-A847-E453-DFE9-5B1A40833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9431"/>
            <a:ext cx="9144000" cy="360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708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5FD3D223-0E2D-571A-FB07-57C6C681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ECE017CA-3997-7A91-9942-4EC357E41A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850" y="203770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Conclusion</a:t>
            </a:r>
            <a:endParaRPr dirty="0">
              <a:latin typeface="+mj-l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88DE1FF-E9CB-8F14-6EC6-AA758382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5" y="698046"/>
            <a:ext cx="7903029" cy="4445454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57FF917-50F4-D69F-73B6-9F39380D08F7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3924721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E35C7-D655-34FA-8859-F673C32F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EE890E59-9B36-53FB-A043-790A4C5DC260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C919B0CB-58F0-D771-2F55-FB8FB0A5F924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10784F7-1C8B-AB42-EE0D-39361A316DDB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63</a:t>
            </a:r>
          </a:p>
        </p:txBody>
      </p:sp>
      <p:sp>
        <p:nvSpPr>
          <p:cNvPr id="9" name="Google Shape;969;p29">
            <a:extLst>
              <a:ext uri="{FF2B5EF4-FFF2-40B4-BE49-F238E27FC236}">
                <a16:creationId xmlns:a16="http://schemas.microsoft.com/office/drawing/2014/main" id="{E91B6860-5B76-692C-237A-556F57E7FC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987" y="161539"/>
            <a:ext cx="8172450" cy="55506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j-lt"/>
              </a:rPr>
              <a:t>Veille technologique et documentaire</a:t>
            </a:r>
            <a:br>
              <a:rPr lang="en" sz="2800" dirty="0">
                <a:latin typeface="+mj-lt"/>
              </a:rPr>
            </a:br>
            <a:endParaRPr sz="2800" dirty="0">
              <a:latin typeface="+mj-lt"/>
            </a:endParaRP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010CA1D3-8974-8114-39B4-B61D9B07DD77}"/>
              </a:ext>
            </a:extLst>
          </p:cNvPr>
          <p:cNvSpPr txBox="1">
            <a:spLocks/>
          </p:cNvSpPr>
          <p:nvPr/>
        </p:nvSpPr>
        <p:spPr>
          <a:xfrm>
            <a:off x="857572" y="716600"/>
            <a:ext cx="7666865" cy="4198302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Organisation de la veille</a:t>
            </a: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34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834D5-B68D-F215-EDAE-08EC0A1CF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7EACF44E-5C68-4DD2-1F90-BDA3B9862B27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C2CC5B5C-96AB-EAB1-C62B-ED77240CBF16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E472388-7BD7-06B6-A0B4-B5DBE3639B3A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64</a:t>
            </a:r>
          </a:p>
        </p:txBody>
      </p:sp>
      <p:sp>
        <p:nvSpPr>
          <p:cNvPr id="9" name="Google Shape;969;p29">
            <a:extLst>
              <a:ext uri="{FF2B5EF4-FFF2-40B4-BE49-F238E27FC236}">
                <a16:creationId xmlns:a16="http://schemas.microsoft.com/office/drawing/2014/main" id="{E8AAE1FA-9299-FF99-95B9-B4C3C1C08F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987" y="161539"/>
            <a:ext cx="8172450" cy="55506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j-lt"/>
              </a:rPr>
              <a:t>Veille technologique et documentaire</a:t>
            </a:r>
            <a:br>
              <a:rPr lang="en" sz="2800" dirty="0">
                <a:latin typeface="+mj-lt"/>
              </a:rPr>
            </a:br>
            <a:endParaRPr sz="2800" dirty="0">
              <a:latin typeface="+mj-lt"/>
            </a:endParaRP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D51910A9-4D00-D682-8373-2F401F0B4A27}"/>
              </a:ext>
            </a:extLst>
          </p:cNvPr>
          <p:cNvSpPr txBox="1">
            <a:spLocks/>
          </p:cNvSpPr>
          <p:nvPr/>
        </p:nvSpPr>
        <p:spPr>
          <a:xfrm>
            <a:off x="857572" y="716600"/>
            <a:ext cx="7666865" cy="4198302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Organisation de la veille</a:t>
            </a: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53C4B37C-0339-B381-389D-646C5C30C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998" y="1109863"/>
            <a:ext cx="7110004" cy="313695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60F8FE9-666C-E85A-CF62-C06F1E757F25}"/>
              </a:ext>
            </a:extLst>
          </p:cNvPr>
          <p:cNvSpPr txBox="1"/>
          <p:nvPr/>
        </p:nvSpPr>
        <p:spPr>
          <a:xfrm rot="16200000">
            <a:off x="-462469" y="2509063"/>
            <a:ext cx="2481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Time line des méthodes</a:t>
            </a:r>
          </a:p>
        </p:txBody>
      </p:sp>
    </p:spTree>
    <p:extLst>
      <p:ext uri="{BB962C8B-B14F-4D97-AF65-F5344CB8AC3E}">
        <p14:creationId xmlns:p14="http://schemas.microsoft.com/office/powerpoint/2010/main" val="944171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6536F-61DF-B0D8-B7C0-AE211160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08444A9D-F219-30A2-5884-7EC9DDE523FC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218100A2-1CB2-FDF7-98B1-B1BB2927EEDF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8DE1701-31DD-5DBD-4A52-CBF2C8D3C968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65</a:t>
            </a:r>
          </a:p>
        </p:txBody>
      </p:sp>
      <p:sp>
        <p:nvSpPr>
          <p:cNvPr id="9" name="Google Shape;969;p29">
            <a:extLst>
              <a:ext uri="{FF2B5EF4-FFF2-40B4-BE49-F238E27FC236}">
                <a16:creationId xmlns:a16="http://schemas.microsoft.com/office/drawing/2014/main" id="{7A493D63-03D2-860C-9508-8A1A1A981B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987" y="161539"/>
            <a:ext cx="8172450" cy="55506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j-lt"/>
              </a:rPr>
              <a:t>Veille technologique et documentaire</a:t>
            </a:r>
            <a:br>
              <a:rPr lang="en" sz="2800" dirty="0">
                <a:latin typeface="+mj-lt"/>
              </a:rPr>
            </a:br>
            <a:endParaRPr sz="2800" dirty="0">
              <a:latin typeface="+mj-lt"/>
            </a:endParaRP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F96AC0B9-6253-D9F3-85C5-2128B836C9D6}"/>
              </a:ext>
            </a:extLst>
          </p:cNvPr>
          <p:cNvSpPr txBox="1">
            <a:spLocks/>
          </p:cNvSpPr>
          <p:nvPr/>
        </p:nvSpPr>
        <p:spPr>
          <a:xfrm>
            <a:off x="857572" y="716600"/>
            <a:ext cx="7666865" cy="4198302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Organisation de la veille</a:t>
            </a: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Les services d’intelligence artificielle</a:t>
            </a:r>
          </a:p>
          <a:p>
            <a:pPr marL="285750" lvl="2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Evaluation des modèles d’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embeddings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contextuels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CFCFCC6B-CDD7-3971-1D71-66D020463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998" y="1109863"/>
            <a:ext cx="7110004" cy="313695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3443CBB-F155-EDF9-F4C6-C67927373644}"/>
              </a:ext>
            </a:extLst>
          </p:cNvPr>
          <p:cNvSpPr txBox="1"/>
          <p:nvPr/>
        </p:nvSpPr>
        <p:spPr>
          <a:xfrm rot="16200000">
            <a:off x="-462469" y="2509063"/>
            <a:ext cx="2481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Time line des méthodes</a:t>
            </a:r>
          </a:p>
        </p:txBody>
      </p:sp>
    </p:spTree>
    <p:extLst>
      <p:ext uri="{BB962C8B-B14F-4D97-AF65-F5344CB8AC3E}">
        <p14:creationId xmlns:p14="http://schemas.microsoft.com/office/powerpoint/2010/main" val="933005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8157D-E8A9-C4C8-E52C-F4E4E70B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1392BE08-4888-0029-888F-815F84987263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3B8972EA-EA57-9FF3-E0CF-5E9866B68D5F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05D5319-E9CD-2FD6-F54B-08D09F04A0E4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66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8EC28393-45D3-C32D-A195-44508E1EF12F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…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A787EB0F-F3AC-6F99-727D-D8A0434A6FB7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Collecte des informations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F396ECB-B3DC-B062-288A-05F21EDEA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6" y="829620"/>
            <a:ext cx="1808389" cy="32610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1FA304E-FD7A-8AC4-1D88-AF0583256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326" y="776849"/>
            <a:ext cx="2606447" cy="415521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E4549D01-6A0D-08FE-2742-4F5243C0C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531" y="669948"/>
            <a:ext cx="16478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08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E0756-A81F-F02F-D4E5-E3F97032A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8663F12C-6D64-2CE8-1BC5-7A7A6AD869ED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8EDF6046-9CD1-95F9-3AA4-2A7AABC8D89C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C120226-CAF0-C22E-3BCA-59DAF352DF77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67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0B1884D6-A767-22EE-609E-8D0DEB96418C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…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256B610E-D051-6751-955A-EDD6C3EFD570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Collecte des informations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37FE8BF-D776-5509-D64E-5C06A8C5D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6" y="829620"/>
            <a:ext cx="1808389" cy="32610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063FB67-F381-21A7-1A60-AFFD8DB15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326" y="776849"/>
            <a:ext cx="2606447" cy="41552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341DA40-46E9-2BCC-DAE6-0368D18CA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6" y="1262614"/>
            <a:ext cx="928527" cy="50111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2DC8220-3DC3-5F31-E5C1-C2C81E907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930" y="2088018"/>
            <a:ext cx="3787549" cy="102503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2733F0A-422B-1CC3-8B39-2E07AD9EEE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66" y="1914947"/>
            <a:ext cx="3545279" cy="119810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758DDC4-39D1-5A8D-7D5F-64E47C1F7C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1802" y="671874"/>
            <a:ext cx="1647825" cy="48577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629CBFD-2978-78DB-3887-51385B2464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66" y="3305102"/>
            <a:ext cx="7549413" cy="91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337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6F825-8C38-4BDC-FCBC-601922B3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4204547B-D142-D4F3-46BD-61132859E61D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70DBB830-C3FA-03FA-6EB2-ADEA5CDEF420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E34A7BF-950B-285C-5CBD-1E5EFBB4C132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68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879C04F6-5ED2-6238-A13D-35F921B8C1D3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…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95F4BD42-088A-751A-5464-4887CACADC01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Collecte des informations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1B97481-ACA5-595E-E47D-DDBE9965B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6" y="829620"/>
            <a:ext cx="1808389" cy="32610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687675E-6CFB-B106-AEAF-72FAA0C0B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326" y="776849"/>
            <a:ext cx="2606447" cy="41552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793A3F5-ECB2-047A-92E8-483A15F85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6" y="1262614"/>
            <a:ext cx="928527" cy="50111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7AA723E-0451-9BC3-9840-8F3DBF4BD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7" y="1803340"/>
            <a:ext cx="1751238" cy="55652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4901C37-7557-FF79-7F5F-FDA6ADC12F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8261" y="1763724"/>
            <a:ext cx="3800474" cy="172624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8AAB7BE-C514-1978-1059-678D5D200F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1802" y="671874"/>
            <a:ext cx="16478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08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7D211-38FD-14F9-11FC-6BE62BA59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DCFEF693-C062-B58C-B9D3-561A55909693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92B22490-71D6-FA18-1ACE-608D086C63DC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1CBE945-07E0-64C3-D305-62581969239F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69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4847B740-514D-EB63-1528-51582FE805DF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1358CFC7-FA3A-8F6C-F823-029A6C85C3C8}"/>
              </a:ext>
            </a:extLst>
          </p:cNvPr>
          <p:cNvSpPr txBox="1">
            <a:spLocks/>
          </p:cNvSpPr>
          <p:nvPr/>
        </p:nvSpPr>
        <p:spPr>
          <a:xfrm>
            <a:off x="489857" y="335489"/>
            <a:ext cx="7269959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La 1</a:t>
            </a:r>
            <a:r>
              <a:rPr lang="fr-FR" sz="1800" baseline="30000" dirty="0">
                <a:latin typeface="+mj-lt"/>
              </a:rPr>
              <a:t>ère</a:t>
            </a:r>
            <a:r>
              <a:rPr lang="fr-FR" sz="1800" dirty="0">
                <a:latin typeface="+mj-lt"/>
              </a:rPr>
              <a:t> ère : encodage discret et fréquentiel : encodage </a:t>
            </a:r>
            <a:r>
              <a:rPr lang="fr-FR" sz="1800" dirty="0" err="1">
                <a:latin typeface="+mj-lt"/>
              </a:rPr>
              <a:t>One-Hot</a:t>
            </a:r>
            <a:endParaRPr lang="fr-FR" sz="1800" dirty="0"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2327808-D8E8-9DEA-FE21-C4A96EC0E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116" y="1484256"/>
            <a:ext cx="674370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21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EF408-C603-52B6-0518-782030D7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2E925217-A1A7-AB5F-50A3-FB048E9AEBE7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21B91CF1-9A0B-2FE1-90F9-E5A3445CB5AC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9E334FF-8464-42AE-47B1-C77A7F503401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70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5E282664-20C4-41F3-550F-4427213D1C44}"/>
              </a:ext>
            </a:extLst>
          </p:cNvPr>
          <p:cNvSpPr txBox="1">
            <a:spLocks/>
          </p:cNvSpPr>
          <p:nvPr/>
        </p:nvSpPr>
        <p:spPr>
          <a:xfrm>
            <a:off x="881743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4A06B3CE-5BF3-C60D-54E0-FB29A6ABE389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4327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La 1</a:t>
            </a:r>
            <a:r>
              <a:rPr lang="fr-FR" sz="1800" baseline="30000" dirty="0">
                <a:latin typeface="+mj-lt"/>
              </a:rPr>
              <a:t>ère</a:t>
            </a:r>
            <a:r>
              <a:rPr lang="fr-FR" sz="1800" dirty="0">
                <a:latin typeface="+mj-lt"/>
              </a:rPr>
              <a:t> ère : encodage discret et fréquentiel : </a:t>
            </a:r>
            <a:r>
              <a:rPr lang="fr-FR" sz="1800" dirty="0">
                <a:solidFill>
                  <a:schemeClr val="bg1"/>
                </a:solidFill>
                <a:latin typeface="+mj-lt"/>
              </a:rPr>
              <a:t>b</a:t>
            </a:r>
            <a:r>
              <a:rPr lang="fr-FR" sz="1800" dirty="0">
                <a:solidFill>
                  <a:schemeClr val="bg1"/>
                </a:solidFill>
              </a:rPr>
              <a:t>ag-of-</a:t>
            </a:r>
            <a:r>
              <a:rPr lang="fr-FR" sz="1800" dirty="0" err="1">
                <a:solidFill>
                  <a:schemeClr val="bg1"/>
                </a:solidFill>
              </a:rPr>
              <a:t>words</a:t>
            </a:r>
            <a:endParaRPr lang="fr-FR" sz="1800" dirty="0">
              <a:solidFill>
                <a:schemeClr val="bg1"/>
              </a:solidFill>
            </a:endParaRPr>
          </a:p>
          <a:p>
            <a:pPr algn="ctr"/>
            <a:endParaRPr lang="fr-FR" sz="1800" dirty="0">
              <a:latin typeface="+mj-lt"/>
            </a:endParaRPr>
          </a:p>
        </p:txBody>
      </p:sp>
      <p:sp>
        <p:nvSpPr>
          <p:cNvPr id="9" name="Google Shape;1264;p37">
            <a:extLst>
              <a:ext uri="{FF2B5EF4-FFF2-40B4-BE49-F238E27FC236}">
                <a16:creationId xmlns:a16="http://schemas.microsoft.com/office/drawing/2014/main" id="{80346E03-A68B-E78D-AE93-EBF831A87132}"/>
              </a:ext>
            </a:extLst>
          </p:cNvPr>
          <p:cNvSpPr txBox="1">
            <a:spLocks/>
          </p:cNvSpPr>
          <p:nvPr/>
        </p:nvSpPr>
        <p:spPr>
          <a:xfrm>
            <a:off x="881743" y="829620"/>
            <a:ext cx="7666865" cy="3920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047E486-4546-CCD7-24B7-67E8C6CD4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751" y="1328555"/>
            <a:ext cx="6264198" cy="337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06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71311-0D17-7631-743A-B8DF54A3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49B57106-9F5C-0152-1158-2AA887375FF9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7AACBFF2-F5FE-CCED-0B80-1C73882CAB3D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D6843DE-1577-F8B8-E83B-C2941A95A153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71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16463E91-A09C-BB73-7180-89722ED4366F}"/>
              </a:ext>
            </a:extLst>
          </p:cNvPr>
          <p:cNvSpPr txBox="1">
            <a:spLocks/>
          </p:cNvSpPr>
          <p:nvPr/>
        </p:nvSpPr>
        <p:spPr>
          <a:xfrm>
            <a:off x="881743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D8B44525-702F-5F8C-C5CB-74FF1D3AB7BC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La 1</a:t>
            </a:r>
            <a:r>
              <a:rPr lang="fr-FR" sz="1800" baseline="30000" dirty="0">
                <a:latin typeface="+mj-lt"/>
              </a:rPr>
              <a:t>ère</a:t>
            </a:r>
            <a:r>
              <a:rPr lang="fr-FR" sz="1800" dirty="0">
                <a:latin typeface="+mj-lt"/>
              </a:rPr>
              <a:t> ère : encodage discret et fréquentiel : </a:t>
            </a:r>
            <a:r>
              <a:rPr lang="fr-FR" sz="1800" dirty="0">
                <a:solidFill>
                  <a:schemeClr val="bg1"/>
                </a:solidFill>
                <a:latin typeface="+mj-lt"/>
              </a:rPr>
              <a:t>b</a:t>
            </a:r>
            <a:r>
              <a:rPr lang="fr-FR" sz="1800" dirty="0">
                <a:solidFill>
                  <a:schemeClr val="bg1"/>
                </a:solidFill>
              </a:rPr>
              <a:t>ag-of-</a:t>
            </a:r>
            <a:r>
              <a:rPr lang="fr-FR" sz="1800" dirty="0" err="1">
                <a:solidFill>
                  <a:schemeClr val="bg1"/>
                </a:solidFill>
              </a:rPr>
              <a:t>words</a:t>
            </a:r>
            <a:endParaRPr lang="fr-FR" sz="1800" dirty="0">
              <a:solidFill>
                <a:schemeClr val="bg1"/>
              </a:solidFill>
            </a:endParaRPr>
          </a:p>
          <a:p>
            <a:pPr algn="ctr"/>
            <a:endParaRPr lang="fr-FR" sz="1800" dirty="0">
              <a:latin typeface="+mj-lt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2E89A78-8237-2246-9BEE-68F8F94E3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874" y="1251537"/>
            <a:ext cx="5802252" cy="368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850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6AA79-AFB5-DAFE-C925-9217C341C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6263987B-4A19-D4EA-CEA1-10E6790F479B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4E523752-328D-947F-4534-2FA5F9A9029C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B149FF-3B45-0225-9292-B668CF1D7A40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72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B25183E4-EC27-7D05-06AB-91BF241E3D65}"/>
              </a:ext>
            </a:extLst>
          </p:cNvPr>
          <p:cNvSpPr txBox="1">
            <a:spLocks/>
          </p:cNvSpPr>
          <p:nvPr/>
        </p:nvSpPr>
        <p:spPr>
          <a:xfrm>
            <a:off x="881743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47BA37E6-F000-F13F-E7ED-59442EBBD27D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La 1</a:t>
            </a:r>
            <a:r>
              <a:rPr lang="fr-FR" sz="1800" baseline="30000" dirty="0">
                <a:latin typeface="+mj-lt"/>
              </a:rPr>
              <a:t>ère</a:t>
            </a:r>
            <a:r>
              <a:rPr lang="fr-FR" sz="1800" dirty="0">
                <a:latin typeface="+mj-lt"/>
              </a:rPr>
              <a:t> ère : encodage discret et fréquentiel : TF-IDF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2042595-E0FB-7A05-4B17-D0C266DD7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3" y="1576767"/>
            <a:ext cx="6855607" cy="19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33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593B-566C-0C4A-3FE2-264606780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C9439D79-6C15-5CAD-5279-5A2111092E74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7F08DB29-CD3F-7D9D-D911-E9B8CBD145F3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33BDD6F-EA5C-1F59-58D7-A782CCC07E68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73</a:t>
            </a: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1D046EA1-2F9F-D23E-2BF3-A6CC878EBE95}"/>
              </a:ext>
            </a:extLst>
          </p:cNvPr>
          <p:cNvSpPr txBox="1">
            <a:spLocks/>
          </p:cNvSpPr>
          <p:nvPr/>
        </p:nvSpPr>
        <p:spPr>
          <a:xfrm>
            <a:off x="506186" y="335489"/>
            <a:ext cx="7429499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La 2</a:t>
            </a:r>
            <a:r>
              <a:rPr lang="fr-FR" sz="1800" baseline="30000" dirty="0">
                <a:latin typeface="+mj-lt"/>
              </a:rPr>
              <a:t>nde</a:t>
            </a:r>
            <a:r>
              <a:rPr lang="fr-FR" sz="1800" dirty="0">
                <a:latin typeface="+mj-lt"/>
              </a:rPr>
              <a:t> ère : plongements lexicaux (</a:t>
            </a:r>
            <a:r>
              <a:rPr lang="fr-FR" sz="1800" dirty="0" err="1">
                <a:latin typeface="+mj-lt"/>
              </a:rPr>
              <a:t>word</a:t>
            </a:r>
            <a:r>
              <a:rPr lang="fr-FR" sz="1800" dirty="0">
                <a:latin typeface="+mj-lt"/>
              </a:rPr>
              <a:t> </a:t>
            </a:r>
            <a:r>
              <a:rPr lang="fr-FR" sz="1800" dirty="0" err="1">
                <a:latin typeface="+mj-lt"/>
              </a:rPr>
              <a:t>embedding</a:t>
            </a:r>
            <a:r>
              <a:rPr lang="fr-FR" sz="1800" dirty="0">
                <a:latin typeface="+mj-lt"/>
              </a:rPr>
              <a:t>) : Word2Vec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6108FAC-962B-1BF0-995F-D324759DE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925" y="1337203"/>
            <a:ext cx="5319221" cy="246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17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6B1C0-8AEC-C3A1-5030-13EC6A575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7C7155AF-5B10-1A63-6798-1C99023BF2EA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906BA0BE-907D-65EF-2E8D-2738D4E25796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AE02339-F104-F590-E173-BAC2E8AD67DD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74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6EDC9BD-862E-E3F6-47E0-052C6C505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47" y="1203553"/>
            <a:ext cx="6835505" cy="3711348"/>
          </a:xfrm>
          <a:prstGeom prst="rect">
            <a:avLst/>
          </a:prstGeom>
        </p:spPr>
      </p:pic>
      <p:sp>
        <p:nvSpPr>
          <p:cNvPr id="10" name="Google Shape;969;p29">
            <a:extLst>
              <a:ext uri="{FF2B5EF4-FFF2-40B4-BE49-F238E27FC236}">
                <a16:creationId xmlns:a16="http://schemas.microsoft.com/office/drawing/2014/main" id="{0EDB10FD-235F-3AE4-1DCC-C27282502DC5}"/>
              </a:ext>
            </a:extLst>
          </p:cNvPr>
          <p:cNvSpPr txBox="1">
            <a:spLocks/>
          </p:cNvSpPr>
          <p:nvPr/>
        </p:nvSpPr>
        <p:spPr>
          <a:xfrm>
            <a:off x="506186" y="335489"/>
            <a:ext cx="7429499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La 2</a:t>
            </a:r>
            <a:r>
              <a:rPr lang="fr-FR" sz="1800" baseline="30000" dirty="0">
                <a:latin typeface="+mj-lt"/>
              </a:rPr>
              <a:t>nde</a:t>
            </a:r>
            <a:r>
              <a:rPr lang="fr-FR" sz="1800" dirty="0">
                <a:latin typeface="+mj-lt"/>
              </a:rPr>
              <a:t> ère : plongements lexicaux (</a:t>
            </a:r>
            <a:r>
              <a:rPr lang="fr-FR" sz="1800" dirty="0" err="1">
                <a:latin typeface="+mj-lt"/>
              </a:rPr>
              <a:t>word</a:t>
            </a:r>
            <a:r>
              <a:rPr lang="fr-FR" sz="1800" dirty="0">
                <a:latin typeface="+mj-lt"/>
              </a:rPr>
              <a:t> </a:t>
            </a:r>
            <a:r>
              <a:rPr lang="fr-FR" sz="1800" dirty="0" err="1">
                <a:latin typeface="+mj-lt"/>
              </a:rPr>
              <a:t>embedding</a:t>
            </a:r>
            <a:r>
              <a:rPr lang="fr-FR" sz="1800" dirty="0">
                <a:latin typeface="+mj-lt"/>
              </a:rPr>
              <a:t>) : Word2Vec</a:t>
            </a:r>
          </a:p>
        </p:txBody>
      </p:sp>
    </p:spTree>
    <p:extLst>
      <p:ext uri="{BB962C8B-B14F-4D97-AF65-F5344CB8AC3E}">
        <p14:creationId xmlns:p14="http://schemas.microsoft.com/office/powerpoint/2010/main" val="1808733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9B57E-2FC5-5885-CF48-1E10A972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18FCB6C1-C57B-3F82-A780-008175F36809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6AA5DF89-69A0-3C54-8F1E-54C4FAC26D19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B5353B8-ABA4-80E9-7C82-01AF86D73630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75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E76AB40-CD05-D61F-5F0C-AB853CAEB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268" y="1221574"/>
            <a:ext cx="6889471" cy="3623582"/>
          </a:xfrm>
          <a:prstGeom prst="rect">
            <a:avLst/>
          </a:prstGeom>
        </p:spPr>
      </p:pic>
      <p:sp>
        <p:nvSpPr>
          <p:cNvPr id="7" name="Google Shape;969;p29">
            <a:extLst>
              <a:ext uri="{FF2B5EF4-FFF2-40B4-BE49-F238E27FC236}">
                <a16:creationId xmlns:a16="http://schemas.microsoft.com/office/drawing/2014/main" id="{1C87BCAF-8647-AFB9-AF0C-7B89D7219C05}"/>
              </a:ext>
            </a:extLst>
          </p:cNvPr>
          <p:cNvSpPr txBox="1">
            <a:spLocks/>
          </p:cNvSpPr>
          <p:nvPr/>
        </p:nvSpPr>
        <p:spPr>
          <a:xfrm>
            <a:off x="506186" y="335489"/>
            <a:ext cx="7429499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La 2</a:t>
            </a:r>
            <a:r>
              <a:rPr lang="fr-FR" sz="1800" baseline="30000" dirty="0">
                <a:latin typeface="+mj-lt"/>
              </a:rPr>
              <a:t>nde</a:t>
            </a:r>
            <a:r>
              <a:rPr lang="fr-FR" sz="1800" dirty="0">
                <a:latin typeface="+mj-lt"/>
              </a:rPr>
              <a:t> ère : Plongements lexicaux (</a:t>
            </a:r>
            <a:r>
              <a:rPr lang="fr-FR" sz="1800" dirty="0" err="1">
                <a:latin typeface="+mj-lt"/>
              </a:rPr>
              <a:t>word</a:t>
            </a:r>
            <a:r>
              <a:rPr lang="fr-FR" sz="1800" dirty="0">
                <a:latin typeface="+mj-lt"/>
              </a:rPr>
              <a:t> </a:t>
            </a:r>
            <a:r>
              <a:rPr lang="fr-FR" sz="1800" dirty="0" err="1">
                <a:latin typeface="+mj-lt"/>
              </a:rPr>
              <a:t>embedding</a:t>
            </a:r>
            <a:r>
              <a:rPr lang="fr-FR" sz="1800" dirty="0">
                <a:latin typeface="+mj-lt"/>
              </a:rPr>
              <a:t>) : Word2Vec</a:t>
            </a:r>
          </a:p>
        </p:txBody>
      </p:sp>
    </p:spTree>
    <p:extLst>
      <p:ext uri="{BB962C8B-B14F-4D97-AF65-F5344CB8AC3E}">
        <p14:creationId xmlns:p14="http://schemas.microsoft.com/office/powerpoint/2010/main" val="1165397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1E0C9-F0B0-CCE7-6C17-B4E05888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28586992-C9D1-8F13-2A86-21D2D7ADC586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A26E4CE2-03C2-C3BD-47A6-AAEA6054A4CD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1DCA845-3103-DC42-3474-657956FD1BF4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76</a:t>
            </a: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6DE02F28-ACBA-0D83-30AB-AD3E22CA086E}"/>
              </a:ext>
            </a:extLst>
          </p:cNvPr>
          <p:cNvSpPr txBox="1">
            <a:spLocks/>
          </p:cNvSpPr>
          <p:nvPr/>
        </p:nvSpPr>
        <p:spPr>
          <a:xfrm>
            <a:off x="775607" y="335489"/>
            <a:ext cx="722539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La 2</a:t>
            </a:r>
            <a:r>
              <a:rPr lang="fr-FR" sz="1800" baseline="30000" dirty="0">
                <a:latin typeface="+mj-lt"/>
              </a:rPr>
              <a:t>nde</a:t>
            </a:r>
            <a:r>
              <a:rPr lang="fr-FR" sz="1800" dirty="0">
                <a:latin typeface="+mj-lt"/>
              </a:rPr>
              <a:t> ère : plongements lexicaux (</a:t>
            </a:r>
            <a:r>
              <a:rPr lang="fr-FR" sz="1800" dirty="0" err="1">
                <a:latin typeface="+mj-lt"/>
              </a:rPr>
              <a:t>word</a:t>
            </a:r>
            <a:r>
              <a:rPr lang="fr-FR" sz="1800" dirty="0">
                <a:latin typeface="+mj-lt"/>
              </a:rPr>
              <a:t> </a:t>
            </a:r>
            <a:r>
              <a:rPr lang="fr-FR" sz="1800" dirty="0" err="1">
                <a:latin typeface="+mj-lt"/>
              </a:rPr>
              <a:t>embedding</a:t>
            </a:r>
            <a:r>
              <a:rPr lang="fr-FR" sz="1800" dirty="0">
                <a:latin typeface="+mj-lt"/>
              </a:rPr>
              <a:t>) : </a:t>
            </a:r>
            <a:r>
              <a:rPr lang="fr-FR" sz="1800" dirty="0" err="1">
                <a:latin typeface="+mj-lt"/>
              </a:rPr>
              <a:t>FastText</a:t>
            </a:r>
            <a:endParaRPr lang="fr-FR" sz="1800" dirty="0">
              <a:latin typeface="+mj-lt"/>
            </a:endParaRPr>
          </a:p>
        </p:txBody>
      </p:sp>
      <p:sp>
        <p:nvSpPr>
          <p:cNvPr id="4" name="Google Shape;1264;p37">
            <a:extLst>
              <a:ext uri="{FF2B5EF4-FFF2-40B4-BE49-F238E27FC236}">
                <a16:creationId xmlns:a16="http://schemas.microsoft.com/office/drawing/2014/main" id="{48F6EB76-B544-F3B4-7C14-1EC7EC1B5500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Amélioration de Word2vec en utilisant des n-grams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5FF2403-3343-C8E0-0123-0754327B0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90" y="1549707"/>
            <a:ext cx="6600826" cy="262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800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58BFF-102C-68DF-7393-9605E3D0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5EF3624A-7532-6328-E01D-8E73DD28EE87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932576CC-9B03-15E5-FBE4-D6BEF5B180DA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9826289-EA6A-E5BA-A881-9542E94C2708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77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5BF0AB33-1A96-0051-3E58-C5FA2973FC71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Architecture encoder –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decoder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utilisant le phénomène d’attention : 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b="1" dirty="0">
                <a:solidFill>
                  <a:schemeClr val="bg1"/>
                </a:solidFill>
                <a:latin typeface="+mj-lt"/>
              </a:rPr>
              <a:t>	Permet de capturer les relations entre les mots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« Le chat mange la souris parce qu’il a faim »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Le mot « il » va donner plus d’attention au mot « chat » qu’au mot « souris ».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Modèle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GPT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: unidirectionnel, entraîné à deviner le mot suivant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		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Excellent pour générer du texte cohérent</a:t>
            </a:r>
            <a:br>
              <a:rPr lang="fr-FR" sz="1600" b="1" dirty="0">
                <a:solidFill>
                  <a:schemeClr val="bg1"/>
                </a:solidFill>
                <a:latin typeface="+mj-lt"/>
              </a:rPr>
            </a:br>
            <a:endParaRPr lang="fr-FR" sz="1600" b="1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</a:rPr>
              <a:t>Modèle </a:t>
            </a:r>
            <a:r>
              <a:rPr lang="fr-FR" sz="1600" b="1" dirty="0">
                <a:solidFill>
                  <a:schemeClr val="bg1"/>
                </a:solidFill>
              </a:rPr>
              <a:t>BERT</a:t>
            </a:r>
            <a:r>
              <a:rPr lang="fr-FR" sz="1600" dirty="0">
                <a:solidFill>
                  <a:schemeClr val="bg1"/>
                </a:solidFill>
              </a:rPr>
              <a:t> : bidirectionnel : meilleure capture du contexte</a:t>
            </a:r>
            <a:br>
              <a:rPr lang="fr-FR" sz="1600" dirty="0">
                <a:solidFill>
                  <a:schemeClr val="bg1"/>
                </a:solidFill>
              </a:rPr>
            </a:br>
            <a:r>
              <a:rPr lang="fr-FR" sz="1600" dirty="0">
                <a:solidFill>
                  <a:schemeClr val="bg1"/>
                </a:solidFill>
              </a:rPr>
              <a:t>	 	</a:t>
            </a:r>
            <a:r>
              <a:rPr lang="fr-FR" sz="1600" b="1" dirty="0">
                <a:solidFill>
                  <a:schemeClr val="bg1"/>
                </a:solidFill>
              </a:rPr>
              <a:t>Meilleure compréhension du texte</a:t>
            </a: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34DF0695-FB0C-6BC3-E097-453F49A812EF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La 3</a:t>
            </a:r>
            <a:r>
              <a:rPr lang="fr-FR" sz="1800" baseline="30000" dirty="0">
                <a:latin typeface="+mj-lt"/>
              </a:rPr>
              <a:t>ème</a:t>
            </a:r>
            <a:r>
              <a:rPr lang="fr-FR" sz="1800" dirty="0">
                <a:latin typeface="+mj-lt"/>
              </a:rPr>
              <a:t> ère : </a:t>
            </a:r>
            <a:r>
              <a:rPr lang="fr-FR" sz="1800" dirty="0" err="1">
                <a:latin typeface="+mj-lt"/>
              </a:rPr>
              <a:t>embedding</a:t>
            </a:r>
            <a:r>
              <a:rPr lang="fr-FR" sz="1800" dirty="0">
                <a:latin typeface="+mj-lt"/>
              </a:rPr>
              <a:t> contextuel : </a:t>
            </a:r>
            <a:r>
              <a:rPr lang="fr-FR" sz="1800" dirty="0" err="1">
                <a:latin typeface="+mj-lt"/>
              </a:rPr>
              <a:t>transformers</a:t>
            </a:r>
            <a:endParaRPr lang="fr-FR" sz="1800" dirty="0">
              <a:latin typeface="+mj-lt"/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827ACA3A-49B0-6C5F-6241-6BBC7B54D180}"/>
              </a:ext>
            </a:extLst>
          </p:cNvPr>
          <p:cNvSpPr/>
          <p:nvPr/>
        </p:nvSpPr>
        <p:spPr>
          <a:xfrm>
            <a:off x="2074191" y="3045279"/>
            <a:ext cx="424543" cy="3872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F60ED40B-3F62-354D-507A-49B6ECE54D62}"/>
              </a:ext>
            </a:extLst>
          </p:cNvPr>
          <p:cNvSpPr/>
          <p:nvPr/>
        </p:nvSpPr>
        <p:spPr>
          <a:xfrm>
            <a:off x="2071473" y="4046762"/>
            <a:ext cx="424543" cy="3872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144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966AF-6394-DB41-A051-F4A978F4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B71B5545-48C9-E3A7-E4CD-500BD6A67C7D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C7 C8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61BD3325-0F15-9D33-0B81-BC2040F21477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47D6056-20D1-7EDC-CCB9-F2E2FA03D363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78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6F7D2BD6-4D04-08BF-4F73-C253696FB1D1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Scikit-learn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DAF3A763-62F2-7AC8-3F7F-0B31CA31B870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Les services d’intelligence artificielle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FD9C0F2-335C-678D-54A2-98626F359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347" y="1249838"/>
            <a:ext cx="5577568" cy="306404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EB22A57-92C1-BA86-2091-EF9027A00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347" y="4429126"/>
            <a:ext cx="55530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7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FC3E-6158-7C1B-943D-BCB0733D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29B709F2-72D2-4290-E31E-295C7BD88A59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C7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C8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07EC96A7-4EE3-5B26-C08F-3F3BA723DEBF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94D3D94-1E70-B7B9-03C3-079F7F11B9D4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79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BE6F763F-D35D-B7D4-AA18-4AD11C17D8C8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Scikit-Learn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b="1" dirty="0" err="1">
                <a:solidFill>
                  <a:schemeClr val="bg1"/>
                </a:solidFill>
                <a:latin typeface="+mj-lt"/>
              </a:rPr>
              <a:t>Gensim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E776A528-016D-0DA1-75C1-D63CF763AE2D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Les services d’Intelligence Artificielle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ED21A76-E9BF-5286-65A1-A71699DC1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67" y="1678856"/>
            <a:ext cx="6540273" cy="274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86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9EA55-DC01-BA6A-FF36-CFA26462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6FB298C7-3100-4833-3BD5-E456A3AD1EFF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C7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C8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4E67570A-A087-FFC0-23A4-A140FF659247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7B1CC5F-E1E0-AF81-7333-76DCE8F2D51B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80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E17B55DB-E359-EAEE-52F2-CF6EBD69148B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3273557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Scikit-Learn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Gensim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73267A24-5F8F-C121-3C17-7CC547B70A1F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Les services d’Intelligence Artificielle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FDF256D-5449-07FC-6D70-07CF4D526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21" y="1705769"/>
            <a:ext cx="7462157" cy="2887753"/>
          </a:xfrm>
          <a:prstGeom prst="rect">
            <a:avLst/>
          </a:prstGeom>
        </p:spPr>
      </p:pic>
      <p:sp>
        <p:nvSpPr>
          <p:cNvPr id="6" name="Google Shape;1264;p37">
            <a:extLst>
              <a:ext uri="{FF2B5EF4-FFF2-40B4-BE49-F238E27FC236}">
                <a16:creationId xmlns:a16="http://schemas.microsoft.com/office/drawing/2014/main" id="{57B1D33A-D97A-008D-9C25-D71F6C21CC6F}"/>
              </a:ext>
            </a:extLst>
          </p:cNvPr>
          <p:cNvSpPr txBox="1">
            <a:spLocks/>
          </p:cNvSpPr>
          <p:nvPr/>
        </p:nvSpPr>
        <p:spPr>
          <a:xfrm>
            <a:off x="4572000" y="811047"/>
            <a:ext cx="3273557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bg1"/>
                </a:solidFill>
                <a:latin typeface="+mj-lt"/>
              </a:rPr>
              <a:t>API Mistral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805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F554-478E-3575-8E80-EBDE9694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039FBC55-4476-FCAF-E429-B24355226E25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C7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C8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F58A9777-E448-0144-CC74-9E177B300246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FBFECCE-0726-758E-853F-9119FC2328A1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81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C7D3F997-C411-C97E-10E3-125C2F54552F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3273557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Scikit-Learn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Gensim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CE7993CF-85CA-07A8-97C5-F28441AF1EFD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Les services d’Intelligence Artificielle</a:t>
            </a:r>
          </a:p>
        </p:txBody>
      </p:sp>
      <p:sp>
        <p:nvSpPr>
          <p:cNvPr id="6" name="Google Shape;1264;p37">
            <a:extLst>
              <a:ext uri="{FF2B5EF4-FFF2-40B4-BE49-F238E27FC236}">
                <a16:creationId xmlns:a16="http://schemas.microsoft.com/office/drawing/2014/main" id="{EDAD16F0-4F35-FEA5-0B0C-DEAE5E2FBF39}"/>
              </a:ext>
            </a:extLst>
          </p:cNvPr>
          <p:cNvSpPr txBox="1">
            <a:spLocks/>
          </p:cNvSpPr>
          <p:nvPr/>
        </p:nvSpPr>
        <p:spPr>
          <a:xfrm>
            <a:off x="4572000" y="811047"/>
            <a:ext cx="3519267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API Mistral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b="1" dirty="0" err="1">
                <a:solidFill>
                  <a:schemeClr val="bg1"/>
                </a:solidFill>
                <a:latin typeface="+mj-lt"/>
              </a:rPr>
              <a:t>Hugging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 Face 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(15 000 modèles)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884208C-9376-713A-2BF7-EB1CC735C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87" y="1738503"/>
            <a:ext cx="2903084" cy="209087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DEBC87C-27C1-DEEE-3EB0-BC0332B25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33" y="1719930"/>
            <a:ext cx="3338513" cy="1609752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9DF93049-714D-AABA-3596-39AE30D47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222" y="3494671"/>
            <a:ext cx="3273557" cy="112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92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C542-D5E8-C1AE-DEAD-0F0EACA0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5451C1C0-E39E-42DA-873E-80408EB6B0CE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C7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C8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7061F75C-8088-3073-51C1-B6207FEBD41D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8C5E74D-D939-5927-6204-885F5845EC6E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82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24DFFD53-B10F-58D4-0D4F-FBFDD144A002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3273557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Scikit-Learn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Gensim</a:t>
            </a: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036669D2-A837-6D05-029F-F963FB7EDADB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Les services d’Intelligence Artificielle</a:t>
            </a:r>
          </a:p>
        </p:txBody>
      </p:sp>
      <p:sp>
        <p:nvSpPr>
          <p:cNvPr id="6" name="Google Shape;1264;p37">
            <a:extLst>
              <a:ext uri="{FF2B5EF4-FFF2-40B4-BE49-F238E27FC236}">
                <a16:creationId xmlns:a16="http://schemas.microsoft.com/office/drawing/2014/main" id="{2D2D6350-7474-6A7D-63E2-D6E47EE7B178}"/>
              </a:ext>
            </a:extLst>
          </p:cNvPr>
          <p:cNvSpPr txBox="1">
            <a:spLocks/>
          </p:cNvSpPr>
          <p:nvPr/>
        </p:nvSpPr>
        <p:spPr>
          <a:xfrm>
            <a:off x="4572000" y="811047"/>
            <a:ext cx="3519267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API Mistral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b="1" dirty="0" err="1">
                <a:solidFill>
                  <a:schemeClr val="bg1"/>
                </a:solidFill>
                <a:latin typeface="+mj-lt"/>
              </a:rPr>
              <a:t>Hugging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 Face 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(15 000 modèles)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933F7A6-35CD-E8C6-F3C4-136BDEB17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728" y="1835463"/>
            <a:ext cx="6040211" cy="247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9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5D86A-2142-A6C0-7008-E94D35C08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06BE6448-E94B-C43F-A0F6-88EE2BD019CC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C7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C8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8748A8FE-6D0C-7CA2-3621-A71759EBAC65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7AC1250-BFC5-B0AC-785F-F280FC6A9CEC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83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0D3301BA-EF60-F0DE-F2B6-22183A958E32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8D762ECB-A5F4-9E23-C32B-B6730692BEB0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des modèles d’</a:t>
            </a:r>
            <a:r>
              <a:rPr lang="fr-FR" sz="1800" dirty="0" err="1">
                <a:latin typeface="+mj-lt"/>
              </a:rPr>
              <a:t>embedding</a:t>
            </a:r>
            <a:endParaRPr lang="fr-FR" sz="1800" dirty="0">
              <a:latin typeface="+mj-lt"/>
            </a:endParaRP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2C5CD412-C614-9AE8-54BC-1E0B823E8965}"/>
              </a:ext>
            </a:extLst>
          </p:cNvPr>
          <p:cNvSpPr txBox="1">
            <a:spLocks/>
          </p:cNvSpPr>
          <p:nvPr/>
        </p:nvSpPr>
        <p:spPr>
          <a:xfrm>
            <a:off x="857571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Comment évaluer un modèle d’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embedding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?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18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C8B18-493B-5968-7E17-E7730584A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AA57782D-795D-51D1-1A99-0C47FC920619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C7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C8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A83A1A79-E0C0-6636-7E31-F06F04BFC721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034382A-716E-8AF6-C8B2-435A72BC70A7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84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4006BE99-957A-76A7-CDAA-8A02293EFB1C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7D536349-AE75-F6A2-02BB-094BC69BF25A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des modèles d’</a:t>
            </a:r>
            <a:r>
              <a:rPr lang="fr-FR" sz="1800" dirty="0" err="1">
                <a:latin typeface="+mj-lt"/>
              </a:rPr>
              <a:t>embedding</a:t>
            </a:r>
            <a:endParaRPr lang="fr-FR" sz="1800" dirty="0">
              <a:latin typeface="+mj-lt"/>
            </a:endParaRP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696C6CAE-7B59-FD23-3510-609BE51C53A5}"/>
              </a:ext>
            </a:extLst>
          </p:cNvPr>
          <p:cNvSpPr txBox="1">
            <a:spLocks/>
          </p:cNvSpPr>
          <p:nvPr/>
        </p:nvSpPr>
        <p:spPr>
          <a:xfrm>
            <a:off x="857571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Comment évaluer un modèle d’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embedding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? La plateforme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MTEB 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!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F60E7CF-EA96-862D-79F7-8425B935C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29" y="1211260"/>
            <a:ext cx="7132938" cy="37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27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C683-3A0A-1FE1-EBA6-E59DC001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FF13A176-7C2F-6A3F-5F80-D631737972CC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C7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C8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1E75F71C-06CF-425E-24CB-3FD9E666FD38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877FA02-1933-1DC5-13F4-23B13F17A506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85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BE7033B9-69E1-41C1-9958-78F0FAA8114C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3710E84F-1041-15C7-7F9E-D5C5122870B8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des modèles d’</a:t>
            </a:r>
            <a:r>
              <a:rPr lang="fr-FR" sz="1800" dirty="0" err="1">
                <a:latin typeface="+mj-lt"/>
              </a:rPr>
              <a:t>embedding</a:t>
            </a:r>
            <a:endParaRPr lang="fr-FR" sz="1800" dirty="0">
              <a:latin typeface="+mj-lt"/>
            </a:endParaRP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70AA5524-2561-19D9-E490-82E1AFDB6E3C}"/>
              </a:ext>
            </a:extLst>
          </p:cNvPr>
          <p:cNvSpPr txBox="1">
            <a:spLocks/>
          </p:cNvSpPr>
          <p:nvPr/>
        </p:nvSpPr>
        <p:spPr>
          <a:xfrm>
            <a:off x="857571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Comment évaluer un modèle d’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embedding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? La plateforme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MTEB 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!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Le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dataset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600" b="1" dirty="0" err="1">
                <a:solidFill>
                  <a:schemeClr val="bg1"/>
                </a:solidFill>
                <a:latin typeface="+mj-lt"/>
              </a:rPr>
              <a:t>STSBenchmark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(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semantic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textual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similarity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benchmark)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D87F9C9-662F-BBD5-8E4A-56FA356A5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31" y="1641045"/>
            <a:ext cx="6805205" cy="327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52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404AB-C405-1F6C-C23B-DD3D08E49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BFB33004-FB86-7A4C-22D7-8BAE769B5848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C7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C8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7681BBD7-0A09-356C-82CF-6155AC583D7E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EF570EB-B655-69A0-4A19-455F73F070A8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86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67A3C2A8-D8AD-6A3E-ED05-B1FEC1C8B9AA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BB413716-2BDA-26C8-5F3C-30C001ED9103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des modèles d’</a:t>
            </a:r>
            <a:r>
              <a:rPr lang="fr-FR" sz="1800" dirty="0" err="1">
                <a:latin typeface="+mj-lt"/>
              </a:rPr>
              <a:t>embedding</a:t>
            </a:r>
            <a:endParaRPr lang="fr-FR" sz="1800" dirty="0">
              <a:latin typeface="+mj-lt"/>
            </a:endParaRP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C5926081-D028-ACDF-07C5-1C135D51211B}"/>
              </a:ext>
            </a:extLst>
          </p:cNvPr>
          <p:cNvSpPr txBox="1">
            <a:spLocks/>
          </p:cNvSpPr>
          <p:nvPr/>
        </p:nvSpPr>
        <p:spPr>
          <a:xfrm>
            <a:off x="857571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Comment évaluer un modèle d’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embedding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? La plateforme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MTEB 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!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Le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dataset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600" b="1" dirty="0" err="1">
                <a:solidFill>
                  <a:schemeClr val="bg1"/>
                </a:solidFill>
                <a:latin typeface="+mj-lt"/>
              </a:rPr>
              <a:t>STSBenchmark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(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semantic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textual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similarity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benchmark)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32D3410C-611E-8A5B-627F-EA1B9AB16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4" y="1861458"/>
            <a:ext cx="4726641" cy="287680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FFCD41C-6E0A-E5C6-9F4B-8C14B1E76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761" y="2650383"/>
            <a:ext cx="4232485" cy="110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87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343E-5E7E-12F2-A74A-46F342990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E63388A0-D5B9-3030-23C7-16EC15807957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C7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C8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1F21DED6-A2EA-9CB2-E112-EB66D53CE89B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FF67353-8CD0-678E-FEC4-F2919A14359E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87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A3EB01DA-F5D7-9CE6-776D-AB42CFD5ABA4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7BC6EBE5-1732-F809-5E77-2B408B835352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des modèles d’</a:t>
            </a:r>
            <a:r>
              <a:rPr lang="fr-FR" sz="1800" dirty="0" err="1">
                <a:latin typeface="+mj-lt"/>
              </a:rPr>
              <a:t>embedding</a:t>
            </a:r>
            <a:endParaRPr lang="fr-FR" sz="1800" dirty="0">
              <a:latin typeface="+mj-lt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D711ADE-9D00-EFDC-70BF-974487813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184" y="685166"/>
            <a:ext cx="6328176" cy="431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48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9E0DF-BC24-9F3D-29D5-4DAB47A28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EF669344-8AB7-E89F-18C1-810FF714A705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C7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C8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81D7CE11-23B3-E41B-9A33-4049539392BA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ABC1D47-1B50-95B2-20CD-156774CDB125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88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8EF14D4E-F0E4-503D-7A2E-DB1A227313A8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6D7B7C1F-5AE9-B745-7BBA-6A76D2FE60D1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des modèles d’</a:t>
            </a:r>
            <a:r>
              <a:rPr lang="fr-FR" sz="1800" dirty="0" err="1">
                <a:latin typeface="+mj-lt"/>
              </a:rPr>
              <a:t>embedding</a:t>
            </a:r>
            <a:endParaRPr lang="fr-FR" sz="1800" dirty="0">
              <a:latin typeface="+mj-l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5782A1B-85C4-079C-FEBF-8E356C941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07" y="1407840"/>
            <a:ext cx="4722530" cy="2949765"/>
          </a:xfrm>
          <a:prstGeom prst="rect">
            <a:avLst/>
          </a:prstGeom>
        </p:spPr>
      </p:pic>
      <p:sp>
        <p:nvSpPr>
          <p:cNvPr id="7" name="Google Shape;1264;p37">
            <a:extLst>
              <a:ext uri="{FF2B5EF4-FFF2-40B4-BE49-F238E27FC236}">
                <a16:creationId xmlns:a16="http://schemas.microsoft.com/office/drawing/2014/main" id="{7053E5BA-6F5E-6C59-80B9-7D3E96849C3A}"/>
              </a:ext>
            </a:extLst>
          </p:cNvPr>
          <p:cNvSpPr txBox="1">
            <a:spLocks/>
          </p:cNvSpPr>
          <p:nvPr/>
        </p:nvSpPr>
        <p:spPr>
          <a:xfrm>
            <a:off x="1567716" y="759876"/>
            <a:ext cx="6192100" cy="451839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Métriques d’évaluation :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corrélations de Pearson / Spearman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872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91A4-6F0C-904E-898E-DB5BEE08E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0F1E70C9-5537-F34D-A2C5-47ACFFFD09A3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C7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C8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3D99CAFB-3DF6-C223-EB3C-80B7A315751A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B6DB191-4707-2576-AB84-FA9B68F621E9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89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0E24FC18-1DAE-7F1E-414B-808FDB42FFD2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ACE79D2F-433C-664D-A592-1F48E5F40E7A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des modèles d’</a:t>
            </a:r>
            <a:r>
              <a:rPr lang="fr-FR" sz="1800" dirty="0" err="1">
                <a:latin typeface="+mj-lt"/>
              </a:rPr>
              <a:t>embedding</a:t>
            </a:r>
            <a:endParaRPr lang="fr-FR" sz="1800" dirty="0">
              <a:latin typeface="+mj-lt"/>
            </a:endParaRP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B386ABAF-41C3-336E-BB50-885B08263CAD}"/>
              </a:ext>
            </a:extLst>
          </p:cNvPr>
          <p:cNvSpPr txBox="1">
            <a:spLocks/>
          </p:cNvSpPr>
          <p:nvPr/>
        </p:nvSpPr>
        <p:spPr>
          <a:xfrm>
            <a:off x="5037364" y="1471006"/>
            <a:ext cx="4049486" cy="2227415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Calcul de la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similarité cosinus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entre chaque paire du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dataset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,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Classement par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similarité croissante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Calcul de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Spearman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entre le classement du modèle et 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le classement humain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E91221B-2AE3-B669-6862-F8464C7B7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21" y="1471006"/>
            <a:ext cx="4722530" cy="2949765"/>
          </a:xfrm>
          <a:prstGeom prst="rect">
            <a:avLst/>
          </a:prstGeom>
        </p:spPr>
      </p:pic>
      <p:sp>
        <p:nvSpPr>
          <p:cNvPr id="7" name="Google Shape;1264;p37">
            <a:extLst>
              <a:ext uri="{FF2B5EF4-FFF2-40B4-BE49-F238E27FC236}">
                <a16:creationId xmlns:a16="http://schemas.microsoft.com/office/drawing/2014/main" id="{B4BCD8C6-21B6-36DB-5588-D84B2EFB955C}"/>
              </a:ext>
            </a:extLst>
          </p:cNvPr>
          <p:cNvSpPr txBox="1">
            <a:spLocks/>
          </p:cNvSpPr>
          <p:nvPr/>
        </p:nvSpPr>
        <p:spPr>
          <a:xfrm>
            <a:off x="249521" y="892811"/>
            <a:ext cx="6192100" cy="451839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Métriques d’évaluation :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corrélations de Pearson / Spearman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317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4C0A8-D16D-CA4E-D634-88F02CA6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E9731BD4-7E21-829F-8446-8405D1126DF3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AB35F0C0-9830-DBE3-C750-068DAB0F6F85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9907EB1-AF54-D5DA-03FD-1240F8C2755A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90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484A08E9-6D85-0FB5-2D5F-3AE20BB95601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8E2A60C1-E5FA-F9E4-13BE-C7203D115391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49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2400" dirty="0">
                <a:latin typeface="+mj-lt"/>
              </a:rPr>
              <a:t>Conclusion</a:t>
            </a: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CE4CE98F-B936-0477-5A52-2D44C8131B41}"/>
              </a:ext>
            </a:extLst>
          </p:cNvPr>
          <p:cNvSpPr txBox="1">
            <a:spLocks/>
          </p:cNvSpPr>
          <p:nvPr/>
        </p:nvSpPr>
        <p:spPr>
          <a:xfrm>
            <a:off x="710293" y="1471006"/>
            <a:ext cx="7756071" cy="2227415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Pour notre tâche de recherche de similarité sémantique :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Privilégier les modèles d’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embeddings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contextuels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Privilégiera les modèles de type BERT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Idéalement on évaluera un modèle en faisant une moyenne :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rapidité / pertinence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312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5BF3-4A0E-D406-F15A-A0E6DEFA2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47EA8626-16BB-DFA3-D9A9-4745DAD8BE97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F907222E-BB2D-D5D7-1D46-27C4DAB0EB9B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6D68156-9BCE-4151-82E3-0E0D7C22A264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91</a:t>
            </a:r>
          </a:p>
        </p:txBody>
      </p:sp>
      <p:sp>
        <p:nvSpPr>
          <p:cNvPr id="9" name="Google Shape;969;p29">
            <a:extLst>
              <a:ext uri="{FF2B5EF4-FFF2-40B4-BE49-F238E27FC236}">
                <a16:creationId xmlns:a16="http://schemas.microsoft.com/office/drawing/2014/main" id="{2BFE8A60-ED9D-9390-2F27-495EE3B1CF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987" y="278851"/>
            <a:ext cx="8172450" cy="55506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j-lt"/>
              </a:rPr>
              <a:t>Résolution d’un incident technique</a:t>
            </a:r>
            <a:br>
              <a:rPr lang="en" sz="2800" dirty="0">
                <a:latin typeface="+mj-lt"/>
              </a:rPr>
            </a:br>
            <a:endParaRPr sz="2800" dirty="0">
              <a:latin typeface="+mj-lt"/>
            </a:endParaRP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D97682C9-9178-CB42-355F-7BD10F69F0AE}"/>
              </a:ext>
            </a:extLst>
          </p:cNvPr>
          <p:cNvSpPr txBox="1">
            <a:spLocks/>
          </p:cNvSpPr>
          <p:nvPr/>
        </p:nvSpPr>
        <p:spPr>
          <a:xfrm>
            <a:off x="857572" y="145827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Etude de l’incident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Résolution du Bug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Mise en place de sécurités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bg1"/>
                </a:solidFill>
                <a:latin typeface="+mj-lt"/>
              </a:rPr>
              <a:t>MLOps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252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EF059-8DF1-1CE2-41A4-F6E726635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D9BEA04A-5D7E-6E70-5F7A-A07C4ADDA51B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C21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42758EB4-4823-000D-74F8-AC8E8B42539D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A031321-9747-6C26-7DB5-3A4CD2F1AEDB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92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C510E425-D7D8-AC75-EFEC-F6078A89B054}"/>
              </a:ext>
            </a:extLst>
          </p:cNvPr>
          <p:cNvSpPr txBox="1">
            <a:spLocks/>
          </p:cNvSpPr>
          <p:nvPr/>
        </p:nvSpPr>
        <p:spPr>
          <a:xfrm>
            <a:off x="857573" y="829621"/>
            <a:ext cx="2943226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Architecture de l’application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8BAC4102-57AE-A55D-797F-0DEECA5C3CD3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Etude et résolution de l’incident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1774B57-393F-BC1A-0898-036964505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48" y="1477546"/>
            <a:ext cx="246697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33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E0045-B568-68BF-10DD-3FA9AD1AA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44B522CD-A792-7A83-226B-6B44B0697E6E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C21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1EDC548A-61F5-0302-E93F-C3E2A6DFD012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B6295F7-48C0-C5BE-EE20-415D9225AC3B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93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A3731DA2-E278-FED4-D89C-1E2FA449752E}"/>
              </a:ext>
            </a:extLst>
          </p:cNvPr>
          <p:cNvSpPr txBox="1">
            <a:spLocks/>
          </p:cNvSpPr>
          <p:nvPr/>
        </p:nvSpPr>
        <p:spPr>
          <a:xfrm>
            <a:off x="857573" y="829621"/>
            <a:ext cx="2943226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Architecture de l’application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19388CBD-00F6-63C3-7337-2558A568A144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Etude et résolution de l’incident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AA0DCE-DA91-316D-BA2A-C983DDAF5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48" y="1477546"/>
            <a:ext cx="2466975" cy="29432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AE24ADC-059B-2514-5B3B-BE3FD6D65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60544"/>
            <a:ext cx="2943225" cy="504825"/>
          </a:xfrm>
          <a:prstGeom prst="rect">
            <a:avLst/>
          </a:prstGeom>
        </p:spPr>
      </p:pic>
      <p:sp>
        <p:nvSpPr>
          <p:cNvPr id="9" name="Google Shape;1264;p37">
            <a:extLst>
              <a:ext uri="{FF2B5EF4-FFF2-40B4-BE49-F238E27FC236}">
                <a16:creationId xmlns:a16="http://schemas.microsoft.com/office/drawing/2014/main" id="{DEB31C18-2114-4BEF-5991-397F3A846D6A}"/>
              </a:ext>
            </a:extLst>
          </p:cNvPr>
          <p:cNvSpPr txBox="1">
            <a:spLocks/>
          </p:cNvSpPr>
          <p:nvPr/>
        </p:nvSpPr>
        <p:spPr>
          <a:xfrm>
            <a:off x="4571999" y="1578015"/>
            <a:ext cx="2943226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Création de l’environnement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89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2D6B7-80E6-75D6-4C98-47B7CF20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D0EBED09-486A-B2C1-A3E9-C09914AF5BC1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C21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096BA525-51A7-AEC2-FF0A-2FD580B05362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FCF358D-57F9-0E87-1893-F9BB3A574339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94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7114172C-8A4D-194B-61E2-749C5F5C1242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Reproduction de l’incident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27E75727-D1DE-0925-7C4E-9281EED57C9C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Etude et résolution de l’incident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17016CF-4D00-CAFC-ACC3-792D2FA03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772" y="1411400"/>
            <a:ext cx="3543300" cy="140302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FB72C1B-71CF-ADB2-F517-76A15E12D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98" y="867985"/>
            <a:ext cx="1295400" cy="29527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A74364D-C4D8-6BB0-C65A-A67F91E53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90" y="2046013"/>
            <a:ext cx="5143500" cy="269225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63CBA38-D60D-8868-CD83-528A1A7A8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231" y="4467136"/>
            <a:ext cx="2417833" cy="27112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E1CE8DE-1259-09D4-8282-A760F6922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90" y="2046012"/>
            <a:ext cx="4784412" cy="32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69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B77DB-B93C-4A59-9C9E-E4D6AA8B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1A705F2B-3098-1005-EB10-A8A6B28DEDDB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C21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83493A7D-034F-15BB-A25D-9D046A2E9BA1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5DE3F34-A016-91D8-07FD-C8A6F99D3F53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95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EE23DBBC-E161-902B-16F6-961C3F7A078D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Reproduction de l’incident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C15BB7DC-059F-E892-44F4-1C02569863D5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Etude et résolution de l’incident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B123627-7881-CBCC-3337-E01766403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537" y="2685804"/>
            <a:ext cx="5776461" cy="64775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F8F1BC3-7544-98DE-11D4-F3E2E9D84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537" y="1673732"/>
            <a:ext cx="7200900" cy="4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86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E11F0-E859-A4DC-2D76-E5663B5F5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C91309C1-D83D-4A32-4C0F-16844153D20D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C21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1E060EF0-8F91-90E6-C0B8-B4F674CE071F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97CD595-CB2D-B137-4700-DB23A4799E00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96</a:t>
            </a: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0CD8CF1D-291C-14DB-E653-3922E131589C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Correction du bug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8C8F8D06-CDFB-5F5E-A479-8A087A2874B7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Etude et résolution de l’incident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3E420F9-4FCD-9061-D8F2-63EBF0132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63" y="1390650"/>
            <a:ext cx="7772400" cy="11811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60F49F6-EDDE-A9D1-8996-B3D6C820C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50" y="2969207"/>
            <a:ext cx="782002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62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DEB47-61DA-C13B-94DD-A3640A70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D54B0330-6105-E5BB-6619-74F7FFEF7495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C21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D3838A6C-0D36-BC28-8266-B5C1ACEEB0FE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E0E5196-11B2-8347-C04F-80B8C7030164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97</a:t>
            </a: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8F93ECC2-DB40-B801-163E-E254EEB8BBD2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Etude et résolution de l’incident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C2037FC-EDD9-4C7D-A040-245E2BC98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481" y="786909"/>
            <a:ext cx="3188713" cy="422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2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12428-2B31-529A-27B8-159636722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A0F51A34-7A1E-9A55-C9E2-E5AD5163712C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C21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A521D0EC-386F-8963-A214-A61F45705AA5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EC6BCCB-4B8E-DCCE-0BC2-4F20FC9B5E3D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98</a:t>
            </a: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30E1C928-7FF8-C63B-2C59-580804EECAF9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Etude et résolution de l’incident</a:t>
            </a: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A478CD85-1749-68B3-51E1-688B546B6788}"/>
              </a:ext>
            </a:extLst>
          </p:cNvPr>
          <p:cNvSpPr txBox="1">
            <a:spLocks/>
          </p:cNvSpPr>
          <p:nvPr/>
        </p:nvSpPr>
        <p:spPr>
          <a:xfrm>
            <a:off x="738567" y="722728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Correction du bug : Le modèle prédit toujours « 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meadow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 »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On étudie l’architecture du modèle :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1B9AA8A-F640-B395-AAAC-C0A9AA867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45" y="1637962"/>
            <a:ext cx="5013395" cy="218028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9505137-F389-6A95-714E-0CAF28F64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02" y="4033759"/>
            <a:ext cx="8220974" cy="37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95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95EA-FAD4-123D-0B6F-A19B8956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1608199A-AFB6-62DD-8879-63C3D0347EB4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C21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48441254-92F8-D334-8A5B-65B3BA1497EE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B03EEF2-1799-7F71-AEB8-0092B22AFB6E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99</a:t>
            </a: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A03AEBE5-B19D-23B7-C1A8-2CF3EC4DD3DB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Etude et résolution de l’incident</a:t>
            </a: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0FA82228-307B-8F70-5629-CD7E4ECE7278}"/>
              </a:ext>
            </a:extLst>
          </p:cNvPr>
          <p:cNvSpPr txBox="1">
            <a:spLocks/>
          </p:cNvSpPr>
          <p:nvPr/>
        </p:nvSpPr>
        <p:spPr>
          <a:xfrm>
            <a:off x="738567" y="722728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Correction du bug : Le modèle prédit toujours « 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meadow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 »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On retire la normalisation faite lors du traitement de l’image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06DAF7-7A4E-6801-3A1C-4E5F5F152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02" y="1600725"/>
            <a:ext cx="5743575" cy="1076325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648153BB-5DD7-6941-6601-4FE62D7F0F6C}"/>
              </a:ext>
            </a:extLst>
          </p:cNvPr>
          <p:cNvSpPr/>
          <p:nvPr/>
        </p:nvSpPr>
        <p:spPr>
          <a:xfrm>
            <a:off x="1085850" y="3420836"/>
            <a:ext cx="775607" cy="5306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2AC2AF5-AF2E-6126-3B45-4C060A11E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182" y="3042556"/>
            <a:ext cx="6301468" cy="122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40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79AD2-A009-4E7F-CED3-A81DD681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C58BA2F7-E174-5439-BA70-8178425D3133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C21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6E305D70-CB94-DE29-FFB8-662EB9E7A131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361FF7C-121A-537D-6478-97B00CB9DC35}"/>
              </a:ext>
            </a:extLst>
          </p:cNvPr>
          <p:cNvSpPr txBox="1"/>
          <p:nvPr/>
        </p:nvSpPr>
        <p:spPr>
          <a:xfrm>
            <a:off x="8613321" y="484515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100</a:t>
            </a: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F93BEABE-9423-9A83-A07A-ECA8B6A0CB83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Etude et résolution de l’incident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3A0A12C-52BE-1652-36B0-BFE76E704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10" y="783770"/>
            <a:ext cx="3292814" cy="43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56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C6BDE-1A4C-DD22-19A3-0BFE7B917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BB9B5BA4-9A3B-D2D0-4813-E1BF1EBDFC75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C20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A304CFBD-A9AC-961F-63BA-3E8A7F87B4CF}"/>
              </a:ext>
            </a:extLst>
          </p:cNvPr>
          <p:cNvSpPr txBox="1">
            <a:spLocks/>
          </p:cNvSpPr>
          <p:nvPr/>
        </p:nvSpPr>
        <p:spPr>
          <a:xfrm>
            <a:off x="423551" y="722730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AE62BC94-BDA6-B425-9FF8-F395DDDDC682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Mise en place de tests unitaires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9D090E6-0ADA-BD09-9598-A1C10046E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82" y="3000184"/>
            <a:ext cx="8486775" cy="137160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201C918D-558B-3BED-55BB-2E08AFBB1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33" y="1109971"/>
            <a:ext cx="7962900" cy="158115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62271F9-E8E4-A67A-9508-A5E2F9896B13}"/>
              </a:ext>
            </a:extLst>
          </p:cNvPr>
          <p:cNvSpPr txBox="1"/>
          <p:nvPr/>
        </p:nvSpPr>
        <p:spPr>
          <a:xfrm>
            <a:off x="8613321" y="484515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915621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A0E83-C675-4632-6B8F-E1793D7C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3E2F8AC5-9D85-27F2-9DCE-114ED1413FE3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C20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82AA8F41-C981-966E-476F-11E796F64C3B}"/>
              </a:ext>
            </a:extLst>
          </p:cNvPr>
          <p:cNvSpPr txBox="1">
            <a:spLocks/>
          </p:cNvSpPr>
          <p:nvPr/>
        </p:nvSpPr>
        <p:spPr>
          <a:xfrm>
            <a:off x="423551" y="722730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43A2802B-D22A-57DC-34D2-C6ABD7CBFDC2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Mise en place de tests unitaires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48569CD-9CCA-C953-3DD5-5B6B0089B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07" y="809141"/>
            <a:ext cx="7756072" cy="201947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068F64F-468D-2E0E-9A83-52376D591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10" y="2915028"/>
            <a:ext cx="7439527" cy="223790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59FB773-9813-079B-47ED-F0DE4E86AD34}"/>
              </a:ext>
            </a:extLst>
          </p:cNvPr>
          <p:cNvSpPr txBox="1"/>
          <p:nvPr/>
        </p:nvSpPr>
        <p:spPr>
          <a:xfrm>
            <a:off x="8613321" y="484515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205859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7B663-9922-CA6D-91C5-13BF34F4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8CCA45CB-74F5-732C-675C-F7FAB827E233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C20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A8E4EC66-84B6-321B-458E-36CA9E5BD86C}"/>
              </a:ext>
            </a:extLst>
          </p:cNvPr>
          <p:cNvSpPr txBox="1">
            <a:spLocks/>
          </p:cNvSpPr>
          <p:nvPr/>
        </p:nvSpPr>
        <p:spPr>
          <a:xfrm>
            <a:off x="423551" y="722730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1EC86A09-246F-E035-824A-88BA3B2C6D0E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Mise en place de tests unitaires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3013CF0F-0DE6-7B7B-5324-62FA53894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68" y="722730"/>
            <a:ext cx="7919357" cy="420715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9A8EAE5-55E3-FF88-BA80-1CB3C9547987}"/>
              </a:ext>
            </a:extLst>
          </p:cNvPr>
          <p:cNvSpPr txBox="1"/>
          <p:nvPr/>
        </p:nvSpPr>
        <p:spPr>
          <a:xfrm>
            <a:off x="8613321" y="484515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4253424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05CE2-C034-52AD-BF25-AD3BA1900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9D3E978A-B01A-63EF-3B9B-4ED96AD080E2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C20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9F54CFF5-22C4-CBE8-50B7-641089586C38}"/>
              </a:ext>
            </a:extLst>
          </p:cNvPr>
          <p:cNvSpPr txBox="1">
            <a:spLocks/>
          </p:cNvSpPr>
          <p:nvPr/>
        </p:nvSpPr>
        <p:spPr>
          <a:xfrm>
            <a:off x="423551" y="722730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43105B63-B922-FEBA-FFD9-2648C37E25F9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Mise en place d’un système de </a:t>
            </a:r>
            <a:r>
              <a:rPr lang="fr-FR" sz="1800" dirty="0" err="1">
                <a:latin typeface="+mj-lt"/>
              </a:rPr>
              <a:t>logging</a:t>
            </a:r>
            <a:endParaRPr lang="fr-FR" sz="1800" dirty="0">
              <a:latin typeface="+mj-l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32F65C-CE54-E54D-AA11-48313AFB1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93" y="993406"/>
            <a:ext cx="6776357" cy="157834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470DDB4-BA6E-72B9-5136-CE09315CA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94" y="2842427"/>
            <a:ext cx="5045527" cy="47277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0AE181B-AAB4-3ED3-A8D4-FE1698562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93" y="3547257"/>
            <a:ext cx="5233307" cy="28719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7A5A1145-8EEB-C61A-3243-F7FFAE937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93" y="4062042"/>
            <a:ext cx="8009164" cy="26033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764ED1C-D4F7-B7C7-BD32-D960800C271B}"/>
              </a:ext>
            </a:extLst>
          </p:cNvPr>
          <p:cNvSpPr txBox="1"/>
          <p:nvPr/>
        </p:nvSpPr>
        <p:spPr>
          <a:xfrm>
            <a:off x="8613321" y="484515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261476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F4169-D859-BCAD-F609-FDD0ABDA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9909E9D3-6CD2-4024-4814-18776D92A681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C20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E73DC101-A267-35E7-FBAE-FAC6E2F604C5}"/>
              </a:ext>
            </a:extLst>
          </p:cNvPr>
          <p:cNvSpPr txBox="1">
            <a:spLocks/>
          </p:cNvSpPr>
          <p:nvPr/>
        </p:nvSpPr>
        <p:spPr>
          <a:xfrm>
            <a:off x="423551" y="722730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459AA81D-FC38-AC69-181C-599E25208117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Mise en place d’un système d’</a:t>
            </a:r>
            <a:r>
              <a:rPr lang="fr-FR" sz="1800" dirty="0" err="1">
                <a:latin typeface="+mj-lt"/>
              </a:rPr>
              <a:t>alerting</a:t>
            </a:r>
            <a:endParaRPr lang="fr-FR" sz="1800" dirty="0">
              <a:latin typeface="+mj-l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14973A0-4792-36CC-4C79-854B1DA34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80" y="1313277"/>
            <a:ext cx="7479167" cy="200074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CC82029-CA6C-5D9E-382E-1A8F729CD1F2}"/>
              </a:ext>
            </a:extLst>
          </p:cNvPr>
          <p:cNvSpPr txBox="1"/>
          <p:nvPr/>
        </p:nvSpPr>
        <p:spPr>
          <a:xfrm>
            <a:off x="8613321" y="484515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411428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E1DF4-660E-02FF-02FA-EF7A8D87C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980439B5-2FE9-0A1F-4704-3E23E0BAE6FC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C20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E5C755A2-3DFD-D46E-3636-CF23127FD11B}"/>
              </a:ext>
            </a:extLst>
          </p:cNvPr>
          <p:cNvSpPr txBox="1">
            <a:spLocks/>
          </p:cNvSpPr>
          <p:nvPr/>
        </p:nvSpPr>
        <p:spPr>
          <a:xfrm>
            <a:off x="423551" y="722730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CB0E5B68-E952-170B-99F7-413D0ABBE991}"/>
              </a:ext>
            </a:extLst>
          </p:cNvPr>
          <p:cNvSpPr txBox="1">
            <a:spLocks/>
          </p:cNvSpPr>
          <p:nvPr/>
        </p:nvSpPr>
        <p:spPr>
          <a:xfrm>
            <a:off x="881744" y="335489"/>
            <a:ext cx="5286144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Monitoring de l’application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40EDF1E-06EB-E81C-1E1C-CDF44128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400" y="847631"/>
            <a:ext cx="4089627" cy="52468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E9F471F-3C10-643C-4270-B7E1E3345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400" y="1372311"/>
            <a:ext cx="5435679" cy="3760444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CE82E096-60A4-7901-C86E-4FBBDF1FA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147" y="95376"/>
            <a:ext cx="1752615" cy="75225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05A6CD8-5ED9-1F6A-0541-F546A42B0F14}"/>
              </a:ext>
            </a:extLst>
          </p:cNvPr>
          <p:cNvSpPr txBox="1"/>
          <p:nvPr/>
        </p:nvSpPr>
        <p:spPr>
          <a:xfrm>
            <a:off x="8613321" y="484515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1055252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69E3-90E6-A06E-45FD-4C9FEB509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07059FD9-4042-DF95-F0D4-FC489F246AA6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C20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C9B9E00A-B8A3-E1FE-C284-E92EBFC7D89D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82F36244-1BDB-DC03-1BA4-CDD7E0C72093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Ajout de boutons radios pour permettre à l’utilisateur d’envoyer un feedback.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20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307E1450-702F-B016-021E-0E707E6FABAE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Démarche MLOPS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89880FA-47DE-2266-6495-3B5360A3F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95" y="1231515"/>
            <a:ext cx="4512809" cy="149841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27477BF-8766-543C-ED13-0037D0CF1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120" y="1663214"/>
            <a:ext cx="4014608" cy="64992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69C3166-F89C-A186-3E08-AFA2A992A7B7}"/>
              </a:ext>
            </a:extLst>
          </p:cNvPr>
          <p:cNvSpPr txBox="1"/>
          <p:nvPr/>
        </p:nvSpPr>
        <p:spPr>
          <a:xfrm>
            <a:off x="8613321" y="484515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477637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A66D-E2A9-C5B2-A06E-FB4000421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7F4C050E-0433-DEBD-83A0-562810154808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C20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90DD385A-E260-76A1-6173-1D2690D3F697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DCA85938-B932-8A2C-2E74-4DE4E4F78170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Ajout de boutons radios pour permettre à l’utilisateur d’envoyer un feedback.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20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Enregistrement du feedback en base de données MongoDB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84662079-EC18-A9CB-E156-0D60C4617108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Démarche MLOPS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3D6F01A-915E-1C96-80E5-DD44C66F7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95" y="1231515"/>
            <a:ext cx="4512809" cy="149841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0089582-1A09-C943-B46F-686658F47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06" y="3146727"/>
            <a:ext cx="6828064" cy="173094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4804CBB-B40F-3926-04E1-D09CE5A04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120" y="1663214"/>
            <a:ext cx="4014608" cy="64992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96CB32C-FDE4-DA2D-3C50-5BC10012977C}"/>
              </a:ext>
            </a:extLst>
          </p:cNvPr>
          <p:cNvSpPr txBox="1"/>
          <p:nvPr/>
        </p:nvSpPr>
        <p:spPr>
          <a:xfrm>
            <a:off x="8613321" y="484515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2730184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A9D2-897E-2698-EC0B-05B6182CB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3D6BAC87-9778-C4F3-7A44-11DEF87C1ED1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C20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0B3E94F0-0C15-DC53-E011-8ED6D9A39C41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2A1857D0-2188-B44F-EEF4-5724317B1794}"/>
              </a:ext>
            </a:extLst>
          </p:cNvPr>
          <p:cNvSpPr txBox="1">
            <a:spLocks/>
          </p:cNvSpPr>
          <p:nvPr/>
        </p:nvSpPr>
        <p:spPr>
          <a:xfrm>
            <a:off x="738567" y="617428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7EF6C016-4ACF-C093-78AC-22574BFA444C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Démarche MLOPS </a:t>
            </a:r>
            <a:r>
              <a:rPr lang="fr-FR" sz="1800" b="0" dirty="0">
                <a:latin typeface="+mj-lt"/>
              </a:rPr>
              <a:t>: </a:t>
            </a:r>
            <a:r>
              <a:rPr lang="fr-FR" sz="1800" b="0" dirty="0">
                <a:solidFill>
                  <a:schemeClr val="bg1"/>
                </a:solidFill>
                <a:latin typeface="+mj-lt"/>
              </a:rPr>
              <a:t>b</a:t>
            </a:r>
            <a:r>
              <a:rPr lang="fr-FR" sz="1800" b="0" dirty="0">
                <a:solidFill>
                  <a:schemeClr val="bg1"/>
                </a:solidFill>
              </a:rPr>
              <a:t>oucle de réentrainement</a:t>
            </a:r>
            <a:endParaRPr lang="fr-FR" sz="1800" b="0" dirty="0">
              <a:latin typeface="+mj-l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EECC088-571E-397C-6F7B-1303C3079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494" y="932472"/>
            <a:ext cx="3564981" cy="327855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B224E64-677A-8B7C-47F3-5A92A8DA7F84}"/>
              </a:ext>
            </a:extLst>
          </p:cNvPr>
          <p:cNvSpPr txBox="1"/>
          <p:nvPr/>
        </p:nvSpPr>
        <p:spPr>
          <a:xfrm>
            <a:off x="8613321" y="484515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2959813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17D12-A64C-67BC-7FAA-0865E52C4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27EFF98B-0326-389F-0E42-FB0A22748221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C20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3D54A2D5-0141-1C0E-F406-A90F804F4F34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AA4D238B-9C86-E1AB-51D5-31261C953859}"/>
              </a:ext>
            </a:extLst>
          </p:cNvPr>
          <p:cNvSpPr txBox="1">
            <a:spLocks/>
          </p:cNvSpPr>
          <p:nvPr/>
        </p:nvSpPr>
        <p:spPr>
          <a:xfrm>
            <a:off x="738567" y="617428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314BDB93-BF5C-353B-DA91-E25B149CCC31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Démarche MLOPS </a:t>
            </a:r>
            <a:r>
              <a:rPr lang="fr-FR" sz="1800" b="0" dirty="0">
                <a:latin typeface="+mj-lt"/>
              </a:rPr>
              <a:t>: </a:t>
            </a:r>
            <a:r>
              <a:rPr lang="fr-FR" sz="1800" b="0" dirty="0">
                <a:solidFill>
                  <a:schemeClr val="bg1"/>
                </a:solidFill>
                <a:latin typeface="+mj-lt"/>
              </a:rPr>
              <a:t>b</a:t>
            </a:r>
            <a:r>
              <a:rPr lang="fr-FR" sz="1800" b="0" dirty="0">
                <a:solidFill>
                  <a:schemeClr val="bg1"/>
                </a:solidFill>
              </a:rPr>
              <a:t>oucle de réentrainement</a:t>
            </a:r>
            <a:endParaRPr lang="fr-FR" sz="1800" b="0" dirty="0">
              <a:latin typeface="+mj-lt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0B27DB9-14C5-96AF-B64B-A3074478B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848" y="746788"/>
            <a:ext cx="3677200" cy="425225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E94147D-EE90-5788-ADAD-66C6CD7AD7DF}"/>
              </a:ext>
            </a:extLst>
          </p:cNvPr>
          <p:cNvSpPr txBox="1"/>
          <p:nvPr/>
        </p:nvSpPr>
        <p:spPr>
          <a:xfrm>
            <a:off x="8613321" y="484515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4290285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EDBAE-2B71-C735-2122-16A336091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D821BF2D-630F-D027-FD6B-EBCC2141F5C9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5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C20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6DEE881A-DBD7-871B-1F4C-5F49162415F8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Google Shape;1264;p37">
            <a:extLst>
              <a:ext uri="{FF2B5EF4-FFF2-40B4-BE49-F238E27FC236}">
                <a16:creationId xmlns:a16="http://schemas.microsoft.com/office/drawing/2014/main" id="{161F85E1-EF13-B203-B1A0-33D9B00C46F9}"/>
              </a:ext>
            </a:extLst>
          </p:cNvPr>
          <p:cNvSpPr txBox="1">
            <a:spLocks/>
          </p:cNvSpPr>
          <p:nvPr/>
        </p:nvSpPr>
        <p:spPr>
          <a:xfrm>
            <a:off x="738567" y="617428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CB21CB90-38E8-2CD6-06B3-0AC270AC29C0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Démarche MLOPS </a:t>
            </a:r>
            <a:r>
              <a:rPr lang="fr-FR" sz="1800" b="0" dirty="0">
                <a:latin typeface="+mj-lt"/>
              </a:rPr>
              <a:t>: </a:t>
            </a:r>
            <a:r>
              <a:rPr lang="fr-FR" sz="1800" b="0" dirty="0">
                <a:solidFill>
                  <a:schemeClr val="bg1"/>
                </a:solidFill>
                <a:latin typeface="+mj-lt"/>
              </a:rPr>
              <a:t>b</a:t>
            </a:r>
            <a:r>
              <a:rPr lang="fr-FR" sz="1800" b="0" dirty="0">
                <a:solidFill>
                  <a:schemeClr val="bg1"/>
                </a:solidFill>
              </a:rPr>
              <a:t>oucle de réentrainement</a:t>
            </a:r>
            <a:endParaRPr lang="fr-FR" sz="1800" b="0" dirty="0">
              <a:latin typeface="+mj-l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E3FBD5C-8E22-D2C4-0145-E936BC6AA0B9}"/>
              </a:ext>
            </a:extLst>
          </p:cNvPr>
          <p:cNvSpPr txBox="1"/>
          <p:nvPr/>
        </p:nvSpPr>
        <p:spPr>
          <a:xfrm>
            <a:off x="8613321" y="4845157"/>
            <a:ext cx="530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111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07A41B1-7311-A73E-5F0C-8712A062E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620" y="1730676"/>
            <a:ext cx="5079087" cy="1893037"/>
          </a:xfrm>
          <a:prstGeom prst="rect">
            <a:avLst/>
          </a:prstGeom>
        </p:spPr>
      </p:pic>
      <p:sp>
        <p:nvSpPr>
          <p:cNvPr id="9" name="Google Shape;1264;p37">
            <a:extLst>
              <a:ext uri="{FF2B5EF4-FFF2-40B4-BE49-F238E27FC236}">
                <a16:creationId xmlns:a16="http://schemas.microsoft.com/office/drawing/2014/main" id="{ED548E7C-61AC-7CCF-78A5-E2B5C9FB3A88}"/>
              </a:ext>
            </a:extLst>
          </p:cNvPr>
          <p:cNvSpPr txBox="1">
            <a:spLocks/>
          </p:cNvSpPr>
          <p:nvPr/>
        </p:nvSpPr>
        <p:spPr>
          <a:xfrm>
            <a:off x="946456" y="811047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Lecture des images + feedback dans la base de données MongoDB,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Création d’un 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dataframe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avec les données augmentées,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Traitement des données,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Séparation en données d’entraînement et en données de test,</a:t>
            </a:r>
          </a:p>
          <a:p>
            <a:pPr marL="285750" lvl="2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Entraînement du modèle.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971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C733D70F-A40D-586B-8FE1-74D1AFAA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9B6D7C13-75AF-38A6-2E36-C697DFA30483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5741A7-96D7-9039-5DB8-C1021E5983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30" b="16130"/>
          <a:stretch>
            <a:fillRect/>
          </a:stretch>
        </p:blipFill>
        <p:spPr>
          <a:xfrm>
            <a:off x="2000250" y="829620"/>
            <a:ext cx="5143500" cy="348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07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F6588EC3-9656-F90D-BEE9-535567CD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7" name="Google Shape;1447;p42">
            <a:extLst>
              <a:ext uri="{FF2B5EF4-FFF2-40B4-BE49-F238E27FC236}">
                <a16:creationId xmlns:a16="http://schemas.microsoft.com/office/drawing/2014/main" id="{0D88781C-32C6-A589-BFAF-5B4C611AC471}"/>
              </a:ext>
            </a:extLst>
          </p:cNvPr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448" name="Google Shape;1448;p42">
              <a:extLst>
                <a:ext uri="{FF2B5EF4-FFF2-40B4-BE49-F238E27FC236}">
                  <a16:creationId xmlns:a16="http://schemas.microsoft.com/office/drawing/2014/main" id="{E9A1B1AE-DC33-2BBE-6033-8F193E5DDFAA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449" name="Google Shape;1449;p42">
                <a:extLst>
                  <a:ext uri="{FF2B5EF4-FFF2-40B4-BE49-F238E27FC236}">
                    <a16:creationId xmlns:a16="http://schemas.microsoft.com/office/drawing/2014/main" id="{D9DF856F-B1B6-E082-7B97-38E1E2D59ED3}"/>
                  </a:ext>
                </a:extLst>
              </p:cNvPr>
              <p:cNvSpPr/>
              <p:nvPr/>
            </p:nvSpPr>
            <p:spPr>
              <a:xfrm rot="-2700000" flipH="1">
                <a:off x="5955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0" name="Google Shape;1450;p42">
                <a:extLst>
                  <a:ext uri="{FF2B5EF4-FFF2-40B4-BE49-F238E27FC236}">
                    <a16:creationId xmlns:a16="http://schemas.microsoft.com/office/drawing/2014/main" id="{5F721556-7D78-F729-CF6C-6604115D07C4}"/>
                  </a:ext>
                </a:extLst>
              </p:cNvPr>
              <p:cNvCxnSpPr>
                <a:stCxn id="1451" idx="6"/>
                <a:endCxn id="1452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2" name="Google Shape;1452;p42">
                <a:extLst>
                  <a:ext uri="{FF2B5EF4-FFF2-40B4-BE49-F238E27FC236}">
                    <a16:creationId xmlns:a16="http://schemas.microsoft.com/office/drawing/2014/main" id="{CD145C0A-3236-286C-10E2-9231EFA97E10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1" name="Google Shape;1451;p42">
              <a:extLst>
                <a:ext uri="{FF2B5EF4-FFF2-40B4-BE49-F238E27FC236}">
                  <a16:creationId xmlns:a16="http://schemas.microsoft.com/office/drawing/2014/main" id="{3DB6A1E8-A7A1-8C5A-C2C1-8118EC0251EB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969;p29">
            <a:extLst>
              <a:ext uri="{FF2B5EF4-FFF2-40B4-BE49-F238E27FC236}">
                <a16:creationId xmlns:a16="http://schemas.microsoft.com/office/drawing/2014/main" id="{EE4E6BEA-3559-12A1-0029-D80131DC56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850" y="346383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ANNEXES</a:t>
            </a:r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6371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7758B-C66F-C941-0854-BA503CDF1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1E257678-2B66-EDE2-5AD2-CD2766D76997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C14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3CBE21C-CA9B-E9DC-6CA0-A54095856854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99</a:t>
            </a:r>
          </a:p>
        </p:txBody>
      </p:sp>
      <p:sp>
        <p:nvSpPr>
          <p:cNvPr id="4" name="Google Shape;969;p29">
            <a:extLst>
              <a:ext uri="{FF2B5EF4-FFF2-40B4-BE49-F238E27FC236}">
                <a16:creationId xmlns:a16="http://schemas.microsoft.com/office/drawing/2014/main" id="{C2BEFC8C-AC2C-00C9-C345-056589CE9A62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Entraînement d’un modèle : régression logistique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3DC93853-2A66-4791-EBBC-87DE820F284E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33096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Séparation des données d’entraînement et des données de test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Choix du modèle : Régression logistique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Apprentissage du modèle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Google Shape;1264;p37">
            <a:extLst>
              <a:ext uri="{FF2B5EF4-FFF2-40B4-BE49-F238E27FC236}">
                <a16:creationId xmlns:a16="http://schemas.microsoft.com/office/drawing/2014/main" id="{3B8E6C97-1D98-4E1E-9235-E7918132F0D5}"/>
              </a:ext>
            </a:extLst>
          </p:cNvPr>
          <p:cNvSpPr txBox="1">
            <a:spLocks/>
          </p:cNvSpPr>
          <p:nvPr/>
        </p:nvSpPr>
        <p:spPr>
          <a:xfrm>
            <a:off x="840919" y="2046985"/>
            <a:ext cx="3230924" cy="788282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Minimiser la fonction de perte 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Entropie croisée binaire :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Google Shape;1264;p37">
            <a:extLst>
              <a:ext uri="{FF2B5EF4-FFF2-40B4-BE49-F238E27FC236}">
                <a16:creationId xmlns:a16="http://schemas.microsoft.com/office/drawing/2014/main" id="{79CED146-30A6-CFDB-ACEA-02EEBC9B1F47}"/>
              </a:ext>
            </a:extLst>
          </p:cNvPr>
          <p:cNvSpPr txBox="1">
            <a:spLocks/>
          </p:cNvSpPr>
          <p:nvPr/>
        </p:nvSpPr>
        <p:spPr>
          <a:xfrm>
            <a:off x="840919" y="3060462"/>
            <a:ext cx="2993476" cy="788282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On réitère l’ajustement des poids jusqu’à convergence :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9A3AE13-F2DD-8B35-DA59-F0472DAD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653" y="3337193"/>
            <a:ext cx="1657350" cy="371475"/>
          </a:xfrm>
          <a:prstGeom prst="rect">
            <a:avLst/>
          </a:prstGeom>
        </p:spPr>
      </p:pic>
      <p:sp>
        <p:nvSpPr>
          <p:cNvPr id="16" name="Google Shape;1264;p37">
            <a:extLst>
              <a:ext uri="{FF2B5EF4-FFF2-40B4-BE49-F238E27FC236}">
                <a16:creationId xmlns:a16="http://schemas.microsoft.com/office/drawing/2014/main" id="{92CF6EB9-ADC8-703B-2FC9-8EB75320FCEE}"/>
              </a:ext>
            </a:extLst>
          </p:cNvPr>
          <p:cNvSpPr txBox="1">
            <a:spLocks/>
          </p:cNvSpPr>
          <p:nvPr/>
        </p:nvSpPr>
        <p:spPr>
          <a:xfrm>
            <a:off x="840918" y="4057077"/>
            <a:ext cx="4702631" cy="60473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Où      est le taux d’apprentissage (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learning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rate).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1D44BADC-9952-BED2-03D2-5B39E04FF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897" y="4180173"/>
            <a:ext cx="219075" cy="24765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E166C71C-0F3D-4D61-28AF-367A815DD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653" y="1535623"/>
            <a:ext cx="2895600" cy="31432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15D0FF1-D461-CD1D-DF73-343923C0D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653" y="2149006"/>
            <a:ext cx="5235394" cy="7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109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0646425-C5F8-AA4F-0082-E02D199BE6F1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99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C0E9928-BBB9-455D-28A9-099B46965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612" y="185137"/>
            <a:ext cx="942975" cy="438150"/>
          </a:xfrm>
          <a:prstGeom prst="rect">
            <a:avLst/>
          </a:prstGeom>
        </p:spPr>
      </p:pic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04487529-C241-38FF-16B2-AA130B7C8F69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</p:txBody>
      </p:sp>
      <p:sp>
        <p:nvSpPr>
          <p:cNvPr id="6" name="Google Shape;969;p29">
            <a:extLst>
              <a:ext uri="{FF2B5EF4-FFF2-40B4-BE49-F238E27FC236}">
                <a16:creationId xmlns:a16="http://schemas.microsoft.com/office/drawing/2014/main" id="{0645D929-C1B9-6DC3-D412-003200A5E4B8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Evaluation du modèle</a:t>
            </a:r>
          </a:p>
        </p:txBody>
      </p:sp>
      <p:sp>
        <p:nvSpPr>
          <p:cNvPr id="9" name="Google Shape;1264;p37">
            <a:extLst>
              <a:ext uri="{FF2B5EF4-FFF2-40B4-BE49-F238E27FC236}">
                <a16:creationId xmlns:a16="http://schemas.microsoft.com/office/drawing/2014/main" id="{03EB3DCF-E2B1-E8A5-9CC0-0D48736E40EB}"/>
              </a:ext>
            </a:extLst>
          </p:cNvPr>
          <p:cNvSpPr txBox="1">
            <a:spLocks/>
          </p:cNvSpPr>
          <p:nvPr/>
        </p:nvSpPr>
        <p:spPr>
          <a:xfrm>
            <a:off x="824591" y="893683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Enregistrement des paramètres, métriques, modèles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Reproductibilité des expériences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Travail Collaboratif – Centralisation : toute l’équipe accède aux résultats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073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>
          <a:extLst>
            <a:ext uri="{FF2B5EF4-FFF2-40B4-BE49-F238E27FC236}">
              <a16:creationId xmlns:a16="http://schemas.microsoft.com/office/drawing/2014/main" id="{E21E1A11-CBD8-FD60-833D-A1D4CB0F3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69;p29">
            <a:extLst>
              <a:ext uri="{FF2B5EF4-FFF2-40B4-BE49-F238E27FC236}">
                <a16:creationId xmlns:a16="http://schemas.microsoft.com/office/drawing/2014/main" id="{96FA219D-77FE-2B66-4904-91A61246C4D5}"/>
              </a:ext>
            </a:extLst>
          </p:cNvPr>
          <p:cNvSpPr txBox="1">
            <a:spLocks/>
          </p:cNvSpPr>
          <p:nvPr/>
        </p:nvSpPr>
        <p:spPr>
          <a:xfrm>
            <a:off x="824591" y="335488"/>
            <a:ext cx="5747659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API exposant notre modèle classifieur</a:t>
            </a:r>
          </a:p>
        </p:txBody>
      </p:sp>
      <p:sp>
        <p:nvSpPr>
          <p:cNvPr id="13" name="Google Shape;969;p29">
            <a:extLst>
              <a:ext uri="{FF2B5EF4-FFF2-40B4-BE49-F238E27FC236}">
                <a16:creationId xmlns:a16="http://schemas.microsoft.com/office/drawing/2014/main" id="{ADAC27EF-089F-68C1-06E6-4502AB6BB0B1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112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  <a:p>
            <a:endParaRPr lang="fr-FR" sz="20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5840093E-76B3-9E08-7FD7-B157432E0773}"/>
              </a:ext>
            </a:extLst>
          </p:cNvPr>
          <p:cNvSpPr txBox="1">
            <a:spLocks/>
          </p:cNvSpPr>
          <p:nvPr/>
        </p:nvSpPr>
        <p:spPr>
          <a:xfrm>
            <a:off x="408073" y="710672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EA17C03-773A-14CC-4DD7-83C417B90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465" y="244934"/>
            <a:ext cx="1686606" cy="46573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BAB4653-EAC4-08F2-A370-A34779089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329" y="1025636"/>
            <a:ext cx="3967841" cy="121637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A7DD290-97C9-B3D8-336E-C02EA5A99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90535"/>
            <a:ext cx="4055711" cy="315281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7499EC1-8096-ED9A-582A-56EAD3F25D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2905" y="2571749"/>
            <a:ext cx="5092928" cy="242729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3F5472B-3659-C482-6E53-6796C608E10C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99</a:t>
            </a:r>
          </a:p>
        </p:txBody>
      </p:sp>
    </p:spTree>
    <p:extLst>
      <p:ext uri="{BB962C8B-B14F-4D97-AF65-F5344CB8AC3E}">
        <p14:creationId xmlns:p14="http://schemas.microsoft.com/office/powerpoint/2010/main" val="91322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A24EC0F6-2A91-CC2A-68EE-A3FADE94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7526C9C-4261-CA96-65B1-9CCEAB0F0475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99</a:t>
            </a: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62DEF5E9-D4C9-4B47-98C9-014449E23EEC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3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C9</a:t>
            </a:r>
          </a:p>
        </p:txBody>
      </p:sp>
      <p:sp>
        <p:nvSpPr>
          <p:cNvPr id="6" name="Google Shape;969;p29">
            <a:extLst>
              <a:ext uri="{FF2B5EF4-FFF2-40B4-BE49-F238E27FC236}">
                <a16:creationId xmlns:a16="http://schemas.microsoft.com/office/drawing/2014/main" id="{C93863D5-198E-1FF5-A94E-95B95CA16250}"/>
              </a:ext>
            </a:extLst>
          </p:cNvPr>
          <p:cNvSpPr txBox="1">
            <a:spLocks/>
          </p:cNvSpPr>
          <p:nvPr/>
        </p:nvSpPr>
        <p:spPr>
          <a:xfrm>
            <a:off x="824591" y="335489"/>
            <a:ext cx="6980465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API REST</a:t>
            </a:r>
          </a:p>
        </p:txBody>
      </p:sp>
      <p:sp>
        <p:nvSpPr>
          <p:cNvPr id="9" name="Google Shape;1264;p37">
            <a:extLst>
              <a:ext uri="{FF2B5EF4-FFF2-40B4-BE49-F238E27FC236}">
                <a16:creationId xmlns:a16="http://schemas.microsoft.com/office/drawing/2014/main" id="{50A73DDB-41FF-153A-6F86-A5CA52A4897A}"/>
              </a:ext>
            </a:extLst>
          </p:cNvPr>
          <p:cNvSpPr txBox="1">
            <a:spLocks/>
          </p:cNvSpPr>
          <p:nvPr/>
        </p:nvSpPr>
        <p:spPr>
          <a:xfrm>
            <a:off x="824591" y="893683"/>
            <a:ext cx="7666865" cy="330785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Style d’architecture basé sur les requêtes HTTP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Chaque requête contient toutes les infos nécessaires, le serveur ne conserve pas de contexte client</a:t>
            </a:r>
          </a:p>
          <a:p>
            <a:pPr marL="342900" lvl="2" indent="-34290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Echange en JSON ou XML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73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9935-8CCC-BD5C-A6F5-60F174C3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13F417DB-370C-B734-3FED-381D084C9848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C508362A-4A09-3687-8FC6-331F0000D687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9CBF747-996E-7F4A-4E1E-2F4033CF769B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99</a:t>
            </a: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0B46E7D5-AE30-E642-63A0-DE53AA3DE276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La 2</a:t>
            </a:r>
            <a:r>
              <a:rPr lang="fr-FR" sz="1800" baseline="30000" dirty="0">
                <a:latin typeface="+mj-lt"/>
              </a:rPr>
              <a:t>nde</a:t>
            </a:r>
            <a:r>
              <a:rPr lang="fr-FR" sz="1800" dirty="0">
                <a:latin typeface="+mj-lt"/>
              </a:rPr>
              <a:t> ère : Plongements lexicaux (Word </a:t>
            </a:r>
            <a:r>
              <a:rPr lang="fr-FR" sz="1800" dirty="0" err="1">
                <a:latin typeface="+mj-lt"/>
              </a:rPr>
              <a:t>Embedding</a:t>
            </a:r>
            <a:r>
              <a:rPr lang="fr-FR" sz="1800" dirty="0">
                <a:latin typeface="+mj-lt"/>
              </a:rPr>
              <a:t>) : </a:t>
            </a:r>
            <a:r>
              <a:rPr lang="fr-FR" sz="1800" dirty="0" err="1">
                <a:latin typeface="+mj-lt"/>
              </a:rPr>
              <a:t>Glove</a:t>
            </a:r>
            <a:endParaRPr lang="fr-FR" sz="1800" dirty="0">
              <a:latin typeface="+mj-lt"/>
            </a:endParaRP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1923073F-B7E8-65A9-3B81-B336929B6C20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1</a:t>
            </a:r>
            <a:r>
              <a:rPr lang="fr-FR" sz="1600" baseline="30000" dirty="0">
                <a:solidFill>
                  <a:schemeClr val="bg1"/>
                </a:solidFill>
                <a:latin typeface="+mj-lt"/>
              </a:rPr>
              <a:t>ère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étape : Matrice de co-occurrence des paires de mots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Le contexte est global !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6F1AD0A-DBA2-B53E-D629-CA58ED68B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33" y="1416517"/>
            <a:ext cx="6828112" cy="258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51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225EA-5C6E-E7F8-4A6F-70B5C9419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0DB3B5D0-7617-4F1C-A1CE-8E4917AC9232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321DF002-820E-808A-BBE3-9354AF49F5B4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EA1E8F2-B36E-863C-4539-C645E0C5E95E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99</a:t>
            </a: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9DF7497E-E7CB-682C-8303-D2132C0E8E2D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La 2</a:t>
            </a:r>
            <a:r>
              <a:rPr lang="fr-FR" sz="1800" baseline="30000" dirty="0">
                <a:latin typeface="+mj-lt"/>
              </a:rPr>
              <a:t>nde</a:t>
            </a:r>
            <a:r>
              <a:rPr lang="fr-FR" sz="1800" dirty="0">
                <a:latin typeface="+mj-lt"/>
              </a:rPr>
              <a:t> ère : Plongements lexicaux (Word </a:t>
            </a:r>
            <a:r>
              <a:rPr lang="fr-FR" sz="1800" dirty="0" err="1">
                <a:latin typeface="+mj-lt"/>
              </a:rPr>
              <a:t>Embedding</a:t>
            </a:r>
            <a:r>
              <a:rPr lang="fr-FR" sz="1800" dirty="0">
                <a:latin typeface="+mj-lt"/>
              </a:rPr>
              <a:t>) : </a:t>
            </a:r>
            <a:r>
              <a:rPr lang="fr-FR" sz="1800" dirty="0" err="1">
                <a:latin typeface="+mj-lt"/>
              </a:rPr>
              <a:t>Glove</a:t>
            </a:r>
            <a:endParaRPr lang="fr-FR" sz="1800" dirty="0">
              <a:latin typeface="+mj-lt"/>
            </a:endParaRP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602DB8E5-DEC0-1018-8B61-8A03F6EA0992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2ème étape : Optimisation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b="1" dirty="0">
                <a:solidFill>
                  <a:schemeClr val="bg1"/>
                </a:solidFill>
                <a:latin typeface="+mj-lt"/>
              </a:rPr>
              <a:t>Idée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: Ce qui donne le sens des mots ce sont les rapports entre les probabilités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BD39CD2-CA65-969A-61D8-E4B71AF54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222" y="1708024"/>
            <a:ext cx="5680982" cy="289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658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4A8D7-3648-E0C4-F844-BED656EE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9;p29">
            <a:extLst>
              <a:ext uri="{FF2B5EF4-FFF2-40B4-BE49-F238E27FC236}">
                <a16:creationId xmlns:a16="http://schemas.microsoft.com/office/drawing/2014/main" id="{0270EE19-28E9-0D92-D8CC-3AD45B822FDF}"/>
              </a:ext>
            </a:extLst>
          </p:cNvPr>
          <p:cNvSpPr txBox="1">
            <a:spLocks/>
          </p:cNvSpPr>
          <p:nvPr/>
        </p:nvSpPr>
        <p:spPr>
          <a:xfrm>
            <a:off x="8377479" y="85694"/>
            <a:ext cx="709371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E 2</a:t>
            </a:r>
            <a:b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</a:br>
            <a:r>
              <a:rPr lang="fr-FR" sz="20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C6</a:t>
            </a:r>
          </a:p>
        </p:txBody>
      </p:sp>
      <p:sp>
        <p:nvSpPr>
          <p:cNvPr id="3" name="Google Shape;1264;p37">
            <a:extLst>
              <a:ext uri="{FF2B5EF4-FFF2-40B4-BE49-F238E27FC236}">
                <a16:creationId xmlns:a16="http://schemas.microsoft.com/office/drawing/2014/main" id="{63577FE7-497B-A1BE-C8C0-DBB3974744F2}"/>
              </a:ext>
            </a:extLst>
          </p:cNvPr>
          <p:cNvSpPr txBox="1">
            <a:spLocks/>
          </p:cNvSpPr>
          <p:nvPr/>
        </p:nvSpPr>
        <p:spPr>
          <a:xfrm>
            <a:off x="424402" y="722729"/>
            <a:ext cx="7666865" cy="408528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68A25FA-8E6F-F1F1-0102-77CC2E936C5D}"/>
              </a:ext>
            </a:extLst>
          </p:cNvPr>
          <p:cNvSpPr txBox="1"/>
          <p:nvPr/>
        </p:nvSpPr>
        <p:spPr>
          <a:xfrm>
            <a:off x="8719457" y="4845157"/>
            <a:ext cx="42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99</a:t>
            </a:r>
          </a:p>
        </p:txBody>
      </p:sp>
      <p:sp>
        <p:nvSpPr>
          <p:cNvPr id="5" name="Google Shape;969;p29">
            <a:extLst>
              <a:ext uri="{FF2B5EF4-FFF2-40B4-BE49-F238E27FC236}">
                <a16:creationId xmlns:a16="http://schemas.microsoft.com/office/drawing/2014/main" id="{4B392759-0A30-84B9-E491-ECDA012C147D}"/>
              </a:ext>
            </a:extLst>
          </p:cNvPr>
          <p:cNvSpPr txBox="1">
            <a:spLocks/>
          </p:cNvSpPr>
          <p:nvPr/>
        </p:nvSpPr>
        <p:spPr>
          <a:xfrm>
            <a:off x="881743" y="335489"/>
            <a:ext cx="6878073" cy="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Black"/>
              <a:buNone/>
              <a:defRPr sz="4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fr-FR" sz="1800" dirty="0">
                <a:latin typeface="+mj-lt"/>
              </a:rPr>
              <a:t>La 2</a:t>
            </a:r>
            <a:r>
              <a:rPr lang="fr-FR" sz="1800" baseline="30000" dirty="0">
                <a:latin typeface="+mj-lt"/>
              </a:rPr>
              <a:t>nde</a:t>
            </a:r>
            <a:r>
              <a:rPr lang="fr-FR" sz="1800" dirty="0">
                <a:latin typeface="+mj-lt"/>
              </a:rPr>
              <a:t> ère : Plongements lexicaux (Word </a:t>
            </a:r>
            <a:r>
              <a:rPr lang="fr-FR" sz="1800" dirty="0" err="1">
                <a:latin typeface="+mj-lt"/>
              </a:rPr>
              <a:t>Embedding</a:t>
            </a:r>
            <a:r>
              <a:rPr lang="fr-FR" sz="1800" dirty="0">
                <a:latin typeface="+mj-lt"/>
              </a:rPr>
              <a:t>) : </a:t>
            </a:r>
            <a:r>
              <a:rPr lang="fr-FR" sz="1800" dirty="0" err="1">
                <a:latin typeface="+mj-lt"/>
              </a:rPr>
              <a:t>Glove</a:t>
            </a:r>
            <a:endParaRPr lang="fr-FR" sz="1800" dirty="0">
              <a:latin typeface="+mj-lt"/>
            </a:endParaRPr>
          </a:p>
        </p:txBody>
      </p: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F8313324-C344-2AAB-9CE1-B6C3FC0DCDAB}"/>
              </a:ext>
            </a:extLst>
          </p:cNvPr>
          <p:cNvSpPr txBox="1">
            <a:spLocks/>
          </p:cNvSpPr>
          <p:nvPr/>
        </p:nvSpPr>
        <p:spPr>
          <a:xfrm>
            <a:off x="857572" y="829621"/>
            <a:ext cx="7666865" cy="390864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2ème étape : Optimisation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On choisit la taille des vecteurs d’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embeddings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(par exemple 300)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r>
              <a:rPr lang="fr-FR" sz="1600" dirty="0">
                <a:solidFill>
                  <a:schemeClr val="bg1"/>
                </a:solidFill>
                <a:latin typeface="+mj-lt"/>
              </a:rPr>
              <a:t>Optimisation pour que : </a:t>
            </a: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Minimisation entre les produits scalaires des vecteurs d’</a:t>
            </a:r>
            <a:r>
              <a:rPr lang="fr-FR" sz="1600" dirty="0" err="1">
                <a:solidFill>
                  <a:schemeClr val="bg1"/>
                </a:solidFill>
                <a:latin typeface="+mj-lt"/>
              </a:rPr>
              <a:t>embedding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 et des logarithmes des co-occurrences.</a:t>
            </a:r>
            <a:br>
              <a:rPr lang="fr-FR" sz="1600" dirty="0">
                <a:solidFill>
                  <a:schemeClr val="bg1"/>
                </a:solidFill>
                <a:latin typeface="+mj-lt"/>
              </a:rPr>
            </a:br>
            <a:endParaRPr lang="fr-FR" sz="1600" dirty="0">
              <a:solidFill>
                <a:schemeClr val="bg1"/>
              </a:solidFill>
              <a:latin typeface="+mj-lt"/>
            </a:endParaRPr>
          </a:p>
          <a:p>
            <a:pPr lvl="2">
              <a:lnSpc>
                <a:spcPct val="150000"/>
              </a:lnSpc>
              <a:buClr>
                <a:schemeClr val="bg1"/>
              </a:buClr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71387C6-3B36-A7FC-9FAF-64A5137E6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398" y="2374368"/>
            <a:ext cx="3467100" cy="81915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4B4B99F-7EAA-F54E-7BBA-29B051C83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36" y="1638827"/>
            <a:ext cx="481012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2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30023">
        <p159:morph option="byObject"/>
      </p:transition>
    </mc:Choice>
    <mc:Fallback xmlns="">
      <p:transition spd="slow" advTm="30023">
        <p:fade/>
      </p:transition>
    </mc:Fallback>
  </mc:AlternateContent>
</p:sld>
</file>

<file path=ppt/theme/theme1.xml><?xml version="1.0" encoding="utf-8"?>
<a:theme xmlns:a="http://schemas.openxmlformats.org/drawingml/2006/main" name="IT Department Meeting by Slidesgo">
  <a:themeElements>
    <a:clrScheme name="Simple Light">
      <a:dk1>
        <a:srgbClr val="F6F6FF"/>
      </a:dk1>
      <a:lt1>
        <a:srgbClr val="4E5EA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E5E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5040</TotalTime>
  <Words>2713</Words>
  <Application>Microsoft Office PowerPoint</Application>
  <PresentationFormat>Affichage à l'écran (16:9)</PresentationFormat>
  <Paragraphs>801</Paragraphs>
  <Slides>122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122</vt:i4>
      </vt:variant>
    </vt:vector>
  </HeadingPairs>
  <TitlesOfParts>
    <vt:vector size="126" baseType="lpstr">
      <vt:lpstr>Tajawal</vt:lpstr>
      <vt:lpstr>Arial</vt:lpstr>
      <vt:lpstr>Montserrat</vt:lpstr>
      <vt:lpstr>IT Department Meeting by Slidesgo</vt:lpstr>
      <vt:lpstr>Soutenance Intelligence Artificielle</vt:lpstr>
      <vt:lpstr>SOMMAIRE</vt:lpstr>
      <vt:lpstr>Crédit Agricole Côtes d’Armor </vt:lpstr>
      <vt:lpstr>Présentation PowerPoint</vt:lpstr>
      <vt:lpstr>Présentation PowerPoint</vt:lpstr>
      <vt:lpstr>Présentation PowerPoint</vt:lpstr>
      <vt:lpstr>Organisation du développement</vt:lpstr>
      <vt:lpstr>Organisation du développement</vt:lpstr>
      <vt:lpstr>Inscrire le développement dans une démarche AGILE</vt:lpstr>
      <vt:lpstr>Architecture du moteur de recherche</vt:lpstr>
      <vt:lpstr>Architecture du moteur de recherche</vt:lpstr>
      <vt:lpstr>Prétraitement des documents</vt:lpstr>
      <vt:lpstr>Prétraitement des documents</vt:lpstr>
      <vt:lpstr>Prétraitement des documents</vt:lpstr>
      <vt:lpstr>Prétraitement des documents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Projet personnel : classification documentaire </vt:lpstr>
      <vt:lpstr>Projet personnel : classification documentaire </vt:lpstr>
      <vt:lpstr>Architecture du projet </vt:lpstr>
      <vt:lpstr>Architecture du projet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  <vt:lpstr>Veille technologique et documentaire </vt:lpstr>
      <vt:lpstr>Veille technologique et documentaire </vt:lpstr>
      <vt:lpstr>Veille technologique et documentaire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Résolution d’un incident technique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ANNEXES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RÉUNION DU SERVICE INFORMATIQUE</dc:title>
  <dc:creator>Yohann</dc:creator>
  <cp:lastModifiedBy>Franck Le Fur</cp:lastModifiedBy>
  <cp:revision>430</cp:revision>
  <dcterms:modified xsi:type="dcterms:W3CDTF">2026-04-01T14:24:42Z</dcterms:modified>
</cp:coreProperties>
</file>