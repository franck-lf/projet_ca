
<file path=[Content_Types].xml><?xml version="1.0" encoding="utf-8"?>
<Types xmlns="http://schemas.openxmlformats.org/package/2006/content-types">
  <Default Extension="png" ContentType="image/png"/>
  <Default Extension="jpeg" ContentType="image/jpeg"/>
  <Default Extension="webp"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5">
  <p:sldMasterIdLst>
    <p:sldMasterId id="2147484012" r:id="rId1"/>
  </p:sldMasterIdLst>
  <p:notesMasterIdLst>
    <p:notesMasterId r:id="rId37"/>
  </p:notesMasterIdLst>
  <p:sldIdLst>
    <p:sldId id="256" r:id="rId2"/>
    <p:sldId id="257" r:id="rId3"/>
    <p:sldId id="287" r:id="rId4"/>
    <p:sldId id="259" r:id="rId5"/>
    <p:sldId id="261" r:id="rId6"/>
    <p:sldId id="284" r:id="rId7"/>
    <p:sldId id="260" r:id="rId8"/>
    <p:sldId id="288" r:id="rId9"/>
    <p:sldId id="263" r:id="rId10"/>
    <p:sldId id="262" r:id="rId11"/>
    <p:sldId id="270" r:id="rId12"/>
    <p:sldId id="264" r:id="rId13"/>
    <p:sldId id="266" r:id="rId14"/>
    <p:sldId id="286" r:id="rId15"/>
    <p:sldId id="267" r:id="rId16"/>
    <p:sldId id="269" r:id="rId17"/>
    <p:sldId id="271" r:id="rId18"/>
    <p:sldId id="272" r:id="rId19"/>
    <p:sldId id="297" r:id="rId20"/>
    <p:sldId id="282" r:id="rId21"/>
    <p:sldId id="277" r:id="rId22"/>
    <p:sldId id="279" r:id="rId23"/>
    <p:sldId id="293" r:id="rId24"/>
    <p:sldId id="294" r:id="rId25"/>
    <p:sldId id="295" r:id="rId26"/>
    <p:sldId id="274" r:id="rId27"/>
    <p:sldId id="289" r:id="rId28"/>
    <p:sldId id="290" r:id="rId29"/>
    <p:sldId id="296" r:id="rId30"/>
    <p:sldId id="291" r:id="rId31"/>
    <p:sldId id="275" r:id="rId32"/>
    <p:sldId id="292" r:id="rId33"/>
    <p:sldId id="285" r:id="rId34"/>
    <p:sldId id="298" r:id="rId35"/>
    <p:sldId id="299" r:id="rId3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47" autoAdjust="0"/>
    <p:restoredTop sz="83415" autoAdjust="0"/>
  </p:normalViewPr>
  <p:slideViewPr>
    <p:cSldViewPr snapToGrid="0">
      <p:cViewPr varScale="1">
        <p:scale>
          <a:sx n="73" d="100"/>
          <a:sy n="73" d="100"/>
        </p:scale>
        <p:origin x="107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31B3CA-5F8A-43E1-A8D3-3E75D0B91E7E}" type="datetimeFigureOut">
              <a:rPr lang="fr-FR" smtClean="0"/>
              <a:t>09/05/2023</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9F0196-A6B5-40CA-A2DD-6EAB523FC832}" type="slidenum">
              <a:rPr lang="fr-FR" smtClean="0"/>
              <a:t>‹N°›</a:t>
            </a:fld>
            <a:endParaRPr lang="fr-FR"/>
          </a:p>
        </p:txBody>
      </p:sp>
    </p:spTree>
    <p:extLst>
      <p:ext uri="{BB962C8B-B14F-4D97-AF65-F5344CB8AC3E}">
        <p14:creationId xmlns:p14="http://schemas.microsoft.com/office/powerpoint/2010/main" val="203739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1C9F0196-A6B5-40CA-A2DD-6EAB523FC832}" type="slidenum">
              <a:rPr lang="fr-FR" smtClean="0"/>
              <a:t>5</a:t>
            </a:fld>
            <a:endParaRPr lang="fr-FR"/>
          </a:p>
        </p:txBody>
      </p:sp>
    </p:spTree>
    <p:extLst>
      <p:ext uri="{BB962C8B-B14F-4D97-AF65-F5344CB8AC3E}">
        <p14:creationId xmlns:p14="http://schemas.microsoft.com/office/powerpoint/2010/main" val="1277701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smtClean="0"/>
              <a:t>IDE </a:t>
            </a:r>
            <a:r>
              <a:rPr lang="fr-FR" dirty="0" err="1" smtClean="0"/>
              <a:t>jupyter</a:t>
            </a:r>
            <a:r>
              <a:rPr lang="fr-FR" dirty="0" smtClean="0"/>
              <a:t> </a:t>
            </a:r>
            <a:endParaRPr lang="fr-FR" dirty="0"/>
          </a:p>
        </p:txBody>
      </p:sp>
      <p:sp>
        <p:nvSpPr>
          <p:cNvPr id="4" name="Espace réservé du numéro de diapositive 3"/>
          <p:cNvSpPr>
            <a:spLocks noGrp="1"/>
          </p:cNvSpPr>
          <p:nvPr>
            <p:ph type="sldNum" sz="quarter" idx="10"/>
          </p:nvPr>
        </p:nvSpPr>
        <p:spPr/>
        <p:txBody>
          <a:bodyPr/>
          <a:lstStyle/>
          <a:p>
            <a:fld id="{1C9F0196-A6B5-40CA-A2DD-6EAB523FC832}" type="slidenum">
              <a:rPr lang="fr-FR" smtClean="0"/>
              <a:t>10</a:t>
            </a:fld>
            <a:endParaRPr lang="fr-FR"/>
          </a:p>
        </p:txBody>
      </p:sp>
    </p:spTree>
    <p:extLst>
      <p:ext uri="{BB962C8B-B14F-4D97-AF65-F5344CB8AC3E}">
        <p14:creationId xmlns:p14="http://schemas.microsoft.com/office/powerpoint/2010/main" val="13345513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1C9F0196-A6B5-40CA-A2DD-6EAB523FC832}" type="slidenum">
              <a:rPr lang="fr-FR" smtClean="0"/>
              <a:t>13</a:t>
            </a:fld>
            <a:endParaRPr lang="fr-FR"/>
          </a:p>
        </p:txBody>
      </p:sp>
    </p:spTree>
    <p:extLst>
      <p:ext uri="{BB962C8B-B14F-4D97-AF65-F5344CB8AC3E}">
        <p14:creationId xmlns:p14="http://schemas.microsoft.com/office/powerpoint/2010/main" val="17141749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1C9F0196-A6B5-40CA-A2DD-6EAB523FC832}" type="slidenum">
              <a:rPr lang="fr-FR" smtClean="0"/>
              <a:t>14</a:t>
            </a:fld>
            <a:endParaRPr lang="fr-FR"/>
          </a:p>
        </p:txBody>
      </p:sp>
    </p:spTree>
    <p:extLst>
      <p:ext uri="{BB962C8B-B14F-4D97-AF65-F5344CB8AC3E}">
        <p14:creationId xmlns:p14="http://schemas.microsoft.com/office/powerpoint/2010/main" val="1742969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1C9F0196-A6B5-40CA-A2DD-6EAB523FC832}" type="slidenum">
              <a:rPr lang="fr-FR" smtClean="0"/>
              <a:t>19</a:t>
            </a:fld>
            <a:endParaRPr lang="fr-FR"/>
          </a:p>
        </p:txBody>
      </p:sp>
    </p:spTree>
    <p:extLst>
      <p:ext uri="{BB962C8B-B14F-4D97-AF65-F5344CB8AC3E}">
        <p14:creationId xmlns:p14="http://schemas.microsoft.com/office/powerpoint/2010/main" val="35341711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285750" indent="-285750">
              <a:buFontTx/>
              <a:buChar char="-"/>
            </a:pPr>
            <a:r>
              <a:rPr lang="fr-FR" sz="1200" dirty="0" smtClean="0"/>
              <a:t>Création de nuage de mots</a:t>
            </a:r>
          </a:p>
          <a:p>
            <a:pPr marL="285750" indent="-285750">
              <a:buFontTx/>
              <a:buChar char="-"/>
            </a:pPr>
            <a:endParaRPr lang="fr-FR" sz="1200" dirty="0" smtClean="0"/>
          </a:p>
          <a:p>
            <a:pPr marL="285750" indent="-285750">
              <a:buFontTx/>
              <a:buChar char="-"/>
            </a:pPr>
            <a:r>
              <a:rPr lang="fr-FR" sz="1200" dirty="0" smtClean="0"/>
              <a:t>Suppression des </a:t>
            </a:r>
            <a:r>
              <a:rPr lang="fr-FR" sz="1200" dirty="0" err="1" smtClean="0"/>
              <a:t>Stopword</a:t>
            </a:r>
            <a:r>
              <a:rPr lang="fr-FR" sz="1200" dirty="0" smtClean="0"/>
              <a:t> </a:t>
            </a:r>
          </a:p>
          <a:p>
            <a:pPr marL="285750" indent="-285750">
              <a:buFontTx/>
              <a:buChar char="-"/>
            </a:pPr>
            <a:endParaRPr lang="fr-FR" sz="1200" dirty="0" smtClean="0"/>
          </a:p>
          <a:p>
            <a:pPr marL="285750" indent="-285750">
              <a:buFontTx/>
              <a:buChar char="-"/>
            </a:pPr>
            <a:r>
              <a:rPr lang="fr-FR" sz="1200" dirty="0" err="1" smtClean="0"/>
              <a:t>Slicing</a:t>
            </a:r>
            <a:endParaRPr lang="fr-FR" sz="1200" dirty="0" smtClean="0"/>
          </a:p>
        </p:txBody>
      </p:sp>
      <p:sp>
        <p:nvSpPr>
          <p:cNvPr id="4" name="Espace réservé du numéro de diapositive 3"/>
          <p:cNvSpPr>
            <a:spLocks noGrp="1"/>
          </p:cNvSpPr>
          <p:nvPr>
            <p:ph type="sldNum" sz="quarter" idx="10"/>
          </p:nvPr>
        </p:nvSpPr>
        <p:spPr/>
        <p:txBody>
          <a:bodyPr/>
          <a:lstStyle/>
          <a:p>
            <a:fld id="{1C9F0196-A6B5-40CA-A2DD-6EAB523FC832}" type="slidenum">
              <a:rPr lang="fr-FR" smtClean="0"/>
              <a:t>20</a:t>
            </a:fld>
            <a:endParaRPr lang="fr-FR"/>
          </a:p>
        </p:txBody>
      </p:sp>
    </p:spTree>
    <p:extLst>
      <p:ext uri="{BB962C8B-B14F-4D97-AF65-F5344CB8AC3E}">
        <p14:creationId xmlns:p14="http://schemas.microsoft.com/office/powerpoint/2010/main" val="24666303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1C9F0196-A6B5-40CA-A2DD-6EAB523FC832}" type="slidenum">
              <a:rPr lang="fr-FR" smtClean="0"/>
              <a:t>26</a:t>
            </a:fld>
            <a:endParaRPr lang="fr-FR"/>
          </a:p>
        </p:txBody>
      </p:sp>
    </p:spTree>
    <p:extLst>
      <p:ext uri="{BB962C8B-B14F-4D97-AF65-F5344CB8AC3E}">
        <p14:creationId xmlns:p14="http://schemas.microsoft.com/office/powerpoint/2010/main" val="18578138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1C9F0196-A6B5-40CA-A2DD-6EAB523FC832}" type="slidenum">
              <a:rPr lang="fr-FR" smtClean="0"/>
              <a:t>28</a:t>
            </a:fld>
            <a:endParaRPr lang="fr-FR"/>
          </a:p>
        </p:txBody>
      </p:sp>
    </p:spTree>
    <p:extLst>
      <p:ext uri="{BB962C8B-B14F-4D97-AF65-F5344CB8AC3E}">
        <p14:creationId xmlns:p14="http://schemas.microsoft.com/office/powerpoint/2010/main" val="11469225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fr-FR" smtClean="0"/>
              <a:t>Modifiez le style du titre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smtClean="0"/>
              <a:t>Modifier le style des sous-titres du masque</a:t>
            </a:r>
            <a:endParaRPr lang="en-US" dirty="0"/>
          </a:p>
        </p:txBody>
      </p:sp>
      <p:sp>
        <p:nvSpPr>
          <p:cNvPr id="4" name="Date Placeholder 3"/>
          <p:cNvSpPr>
            <a:spLocks noGrp="1"/>
          </p:cNvSpPr>
          <p:nvPr>
            <p:ph type="dt" sz="half" idx="10"/>
          </p:nvPr>
        </p:nvSpPr>
        <p:spPr/>
        <p:txBody>
          <a:bodyPr/>
          <a:lstStyle/>
          <a:p>
            <a:fld id="{79B7B8EE-389C-4738-98A2-FF8315477926}" type="datetime1">
              <a:rPr lang="fr-FR" smtClean="0"/>
              <a:t>09/05/2023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1F074E9-1B56-458D-B411-D109289B208A}" type="slidenum">
              <a:rPr lang="fr-FR" smtClean="0"/>
              <a:t>‹N°›</a:t>
            </a:fld>
            <a:endParaRPr lang="fr-F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9445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9BA24E5-7541-4A95-A6F6-028A61A6EFC4}" type="datetime1">
              <a:rPr lang="fr-FR" smtClean="0"/>
              <a:t>09/05/2023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1F074E9-1B56-458D-B411-D109289B208A}" type="slidenum">
              <a:rPr lang="fr-FR" smtClean="0"/>
              <a:t>‹N°›</a:t>
            </a:fld>
            <a:endParaRPr lang="fr-FR"/>
          </a:p>
        </p:txBody>
      </p:sp>
    </p:spTree>
    <p:extLst>
      <p:ext uri="{BB962C8B-B14F-4D97-AF65-F5344CB8AC3E}">
        <p14:creationId xmlns:p14="http://schemas.microsoft.com/office/powerpoint/2010/main" val="4141780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fr-FR" smtClean="0"/>
              <a:t>Modifiez le style du titre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42C10AAC-41B5-43FA-A8DE-59BB53977D5B}" type="datetime1">
              <a:rPr lang="fr-FR" smtClean="0"/>
              <a:t>09/05/2023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1F074E9-1B56-458D-B411-D109289B208A}" type="slidenum">
              <a:rPr lang="fr-FR" smtClean="0"/>
              <a:t>‹N°›</a:t>
            </a:fld>
            <a:endParaRPr lang="fr-F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4950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fr-FR" smtClean="0"/>
              <a:t>Modifiez le style du titre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68F489EF-33A5-4BE0-84E0-1A7B07668F08}" type="datetime1">
              <a:rPr lang="fr-FR" smtClean="0"/>
              <a:t>09/05/2023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1F074E9-1B56-458D-B411-D109289B208A}" type="slidenum">
              <a:rPr lang="fr-FR" smtClean="0"/>
              <a:t>‹N°›</a:t>
            </a:fld>
            <a:endParaRPr lang="fr-FR"/>
          </a:p>
        </p:txBody>
      </p:sp>
    </p:spTree>
    <p:extLst>
      <p:ext uri="{BB962C8B-B14F-4D97-AF65-F5344CB8AC3E}">
        <p14:creationId xmlns:p14="http://schemas.microsoft.com/office/powerpoint/2010/main" val="2792532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fr-FR" smtClean="0"/>
              <a:t>Modifiez le style du titre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Content Placeholder 3"/>
          <p:cNvSpPr>
            <a:spLocks noGrp="1"/>
          </p:cNvSpPr>
          <p:nvPr>
            <p:ph sz="half" idx="2"/>
          </p:nvPr>
        </p:nvSpPr>
        <p:spPr>
          <a:xfrm>
            <a:off x="1097280" y="2582334"/>
            <a:ext cx="4937760" cy="337820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Content Placeholder 5"/>
          <p:cNvSpPr>
            <a:spLocks noGrp="1"/>
          </p:cNvSpPr>
          <p:nvPr>
            <p:ph sz="quarter" idx="4"/>
          </p:nvPr>
        </p:nvSpPr>
        <p:spPr>
          <a:xfrm>
            <a:off x="6217920" y="2582334"/>
            <a:ext cx="4937760" cy="337820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7534F7B5-848A-4530-8808-25A4598E4D31}" type="datetime1">
              <a:rPr lang="fr-FR" smtClean="0"/>
              <a:t>09/05/2023</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51F074E9-1B56-458D-B411-D109289B208A}" type="slidenum">
              <a:rPr lang="fr-FR" smtClean="0"/>
              <a:t>‹N°›</a:t>
            </a:fld>
            <a:endParaRPr lang="fr-FR"/>
          </a:p>
        </p:txBody>
      </p:sp>
    </p:spTree>
    <p:extLst>
      <p:ext uri="{BB962C8B-B14F-4D97-AF65-F5344CB8AC3E}">
        <p14:creationId xmlns:p14="http://schemas.microsoft.com/office/powerpoint/2010/main" val="1474591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DF30E356-38A9-4330-8E65-38087F9E4696}" type="datetime1">
              <a:rPr lang="fr-FR" smtClean="0"/>
              <a:t>09/05/2023</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51F074E9-1B56-458D-B411-D109289B208A}" type="slidenum">
              <a:rPr lang="fr-FR" smtClean="0"/>
              <a:t>‹N°›</a:t>
            </a:fld>
            <a:endParaRPr lang="fr-FR"/>
          </a:p>
        </p:txBody>
      </p:sp>
    </p:spTree>
    <p:extLst>
      <p:ext uri="{BB962C8B-B14F-4D97-AF65-F5344CB8AC3E}">
        <p14:creationId xmlns:p14="http://schemas.microsoft.com/office/powerpoint/2010/main" val="3346946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0CA427D-347C-4594-9EDB-66880DF2BE49}" type="datetime1">
              <a:rPr lang="fr-FR" smtClean="0"/>
              <a:t>09/05/2023</a:t>
            </a:fld>
            <a:endParaRPr lang="fr-F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fr-FR"/>
          </a:p>
        </p:txBody>
      </p:sp>
      <p:sp>
        <p:nvSpPr>
          <p:cNvPr id="9" name="Slide Number Placeholder 8"/>
          <p:cNvSpPr>
            <a:spLocks noGrp="1"/>
          </p:cNvSpPr>
          <p:nvPr>
            <p:ph type="sldNum" sz="quarter" idx="12"/>
          </p:nvPr>
        </p:nvSpPr>
        <p:spPr/>
        <p:txBody>
          <a:bodyPr/>
          <a:lstStyle/>
          <a:p>
            <a:fld id="{51F074E9-1B56-458D-B411-D109289B208A}" type="slidenum">
              <a:rPr lang="fr-FR" smtClean="0"/>
              <a:t>‹N°›</a:t>
            </a:fld>
            <a:endParaRPr lang="fr-FR"/>
          </a:p>
        </p:txBody>
      </p:sp>
    </p:spTree>
    <p:extLst>
      <p:ext uri="{BB962C8B-B14F-4D97-AF65-F5344CB8AC3E}">
        <p14:creationId xmlns:p14="http://schemas.microsoft.com/office/powerpoint/2010/main" val="23476726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fr-FR" smtClean="0"/>
              <a:t>Modifiez le style du titre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F0F65BB-F952-42D5-9A27-C7109CCE3047}" type="datetime1">
              <a:rPr lang="fr-FR" smtClean="0"/>
              <a:t>09/05/2023</a:t>
            </a:fld>
            <a:endParaRPr lang="fr-F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fr-F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1F074E9-1B56-458D-B411-D109289B208A}" type="slidenum">
              <a:rPr lang="fr-FR" smtClean="0"/>
              <a:t>‹N°›</a:t>
            </a:fld>
            <a:endParaRPr lang="fr-FR"/>
          </a:p>
        </p:txBody>
      </p:sp>
    </p:spTree>
    <p:extLst>
      <p:ext uri="{BB962C8B-B14F-4D97-AF65-F5344CB8AC3E}">
        <p14:creationId xmlns:p14="http://schemas.microsoft.com/office/powerpoint/2010/main" val="3279670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2A16D12B-5FD1-45F8-8C0C-20D4A8E8DC77}" type="datetime1">
              <a:rPr lang="fr-FR" smtClean="0"/>
              <a:t>09/05/2023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1F074E9-1B56-458D-B411-D109289B208A}" type="slidenum">
              <a:rPr lang="fr-FR" smtClean="0"/>
              <a:t>‹N°›</a:t>
            </a:fld>
            <a:endParaRPr lang="fr-FR"/>
          </a:p>
        </p:txBody>
      </p:sp>
    </p:spTree>
    <p:extLst>
      <p:ext uri="{BB962C8B-B14F-4D97-AF65-F5344CB8AC3E}">
        <p14:creationId xmlns:p14="http://schemas.microsoft.com/office/powerpoint/2010/main" val="3749173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02E6F611-A1AD-4FB0-B9F4-F640D1B0863E}" type="datetime1">
              <a:rPr lang="fr-FR" smtClean="0"/>
              <a:t>09/05/2023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1F074E9-1B56-458D-B411-D109289B208A}" type="slidenum">
              <a:rPr lang="fr-FR" smtClean="0"/>
              <a:t>‹N°›</a:t>
            </a:fld>
            <a:endParaRPr lang="fr-FR"/>
          </a:p>
        </p:txBody>
      </p:sp>
    </p:spTree>
    <p:extLst>
      <p:ext uri="{BB962C8B-B14F-4D97-AF65-F5344CB8AC3E}">
        <p14:creationId xmlns:p14="http://schemas.microsoft.com/office/powerpoint/2010/main" val="354557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FEE2698D-D10C-4404-B7CE-C8750A17161C}" type="datetime1">
              <a:rPr lang="fr-FR" smtClean="0"/>
              <a:t>09/05/2023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1F074E9-1B56-458D-B411-D109289B208A}" type="slidenum">
              <a:rPr lang="fr-FR" smtClean="0"/>
              <a:t>‹N°›</a:t>
            </a:fld>
            <a:endParaRPr lang="fr-FR"/>
          </a:p>
        </p:txBody>
      </p:sp>
    </p:spTree>
    <p:extLst>
      <p:ext uri="{BB962C8B-B14F-4D97-AF65-F5344CB8AC3E}">
        <p14:creationId xmlns:p14="http://schemas.microsoft.com/office/powerpoint/2010/main" val="33273792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fr-FR" smtClean="0"/>
              <a:t>Modifiez le style du titre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CC07EFC-3FDC-4558-B992-DA563389F22B}" type="datetime1">
              <a:rPr lang="fr-FR" smtClean="0"/>
              <a:t>09/05/2023</a:t>
            </a:fld>
            <a:endParaRPr lang="fr-F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fr-F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1F074E9-1B56-458D-B411-D109289B208A}" type="slidenum">
              <a:rPr lang="fr-FR" smtClean="0"/>
              <a:t>‹N°›</a:t>
            </a:fld>
            <a:endParaRPr lang="fr-FR"/>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2697099"/>
      </p:ext>
    </p:extLst>
  </p:cSld>
  <p:clrMap bg1="lt1" tx1="dk1" bg2="lt2" tx2="dk2" accent1="accent1" accent2="accent2" accent3="accent3" accent4="accent4" accent5="accent5" accent6="accent6" hlink="hlink" folHlink="folHlink"/>
  <p:sldLayoutIdLst>
    <p:sldLayoutId id="2147484013" r:id="rId1"/>
    <p:sldLayoutId id="2147484014" r:id="rId2"/>
    <p:sldLayoutId id="2147484015" r:id="rId3"/>
    <p:sldLayoutId id="2147484016" r:id="rId4"/>
    <p:sldLayoutId id="2147484017" r:id="rId5"/>
    <p:sldLayoutId id="2147484018" r:id="rId6"/>
    <p:sldLayoutId id="2147484019" r:id="rId7"/>
    <p:sldLayoutId id="2147484020" r:id="rId8"/>
    <p:sldLayoutId id="2147484021" r:id="rId9"/>
    <p:sldLayoutId id="2147484022" r:id="rId10"/>
    <p:sldLayoutId id="2147484023"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12.jpeg"/><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3.webp"/><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10000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2095500" y="679213"/>
            <a:ext cx="8067675" cy="695325"/>
          </a:xfrm>
        </p:spPr>
        <p:txBody>
          <a:bodyPr>
            <a:noAutofit/>
          </a:bodyPr>
          <a:lstStyle/>
          <a:p>
            <a:pPr algn="ctr"/>
            <a:r>
              <a:rPr lang="fr-FR" sz="3200" dirty="0"/>
              <a:t>Projet Chef-d’œuvre </a:t>
            </a:r>
          </a:p>
        </p:txBody>
      </p:sp>
      <p:pic>
        <p:nvPicPr>
          <p:cNvPr id="4" name="Image 3"/>
          <p:cNvPicPr/>
          <p:nvPr/>
        </p:nvPicPr>
        <p:blipFill>
          <a:blip r:embed="rId2" cstate="print">
            <a:extLst>
              <a:ext uri="{28A0092B-C50C-407E-A947-70E740481C1C}">
                <a14:useLocalDpi xmlns:a14="http://schemas.microsoft.com/office/drawing/2010/main" val="0"/>
              </a:ext>
            </a:extLst>
          </a:blip>
          <a:stretch>
            <a:fillRect/>
          </a:stretch>
        </p:blipFill>
        <p:spPr>
          <a:xfrm>
            <a:off x="3476906" y="5112179"/>
            <a:ext cx="2012292" cy="588971"/>
          </a:xfrm>
          <a:prstGeom prst="rect">
            <a:avLst/>
          </a:prstGeom>
        </p:spPr>
      </p:pic>
      <p:pic>
        <p:nvPicPr>
          <p:cNvPr id="1026" name="Picture 2" descr="Résultat d’images pour credit agricole des cotes d'armo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1757" y="4562913"/>
            <a:ext cx="1420677" cy="1687505"/>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p:cNvSpPr txBox="1"/>
          <p:nvPr/>
        </p:nvSpPr>
        <p:spPr>
          <a:xfrm>
            <a:off x="1093977" y="3438768"/>
            <a:ext cx="10125075" cy="2062103"/>
          </a:xfrm>
          <a:prstGeom prst="rect">
            <a:avLst/>
          </a:prstGeom>
          <a:noFill/>
        </p:spPr>
        <p:txBody>
          <a:bodyPr wrap="square" rtlCol="0">
            <a:spAutoFit/>
          </a:bodyPr>
          <a:lstStyle/>
          <a:p>
            <a:endParaRPr lang="fr-FR" dirty="0"/>
          </a:p>
          <a:p>
            <a:endParaRPr lang="fr-FR" dirty="0" smtClean="0"/>
          </a:p>
          <a:p>
            <a:r>
              <a:rPr lang="fr-FR" sz="2000" dirty="0" smtClean="0"/>
              <a:t>PASQUIERS Anatole</a:t>
            </a:r>
          </a:p>
          <a:p>
            <a:r>
              <a:rPr lang="fr-FR" dirty="0"/>
              <a:t>Alternance au siège du Crédit Agricole des Côtes d’Armor à Ploufragan</a:t>
            </a:r>
          </a:p>
          <a:p>
            <a:endParaRPr lang="fr-FR" dirty="0"/>
          </a:p>
          <a:p>
            <a:endParaRPr lang="fr-FR" dirty="0" smtClean="0"/>
          </a:p>
          <a:p>
            <a:r>
              <a:rPr lang="fr-FR" dirty="0"/>
              <a:t>	</a:t>
            </a:r>
            <a:r>
              <a:rPr lang="fr-FR" dirty="0" smtClean="0"/>
              <a:t>				</a:t>
            </a:r>
            <a:endParaRPr lang="fr-FR" dirty="0"/>
          </a:p>
        </p:txBody>
      </p:sp>
      <p:sp>
        <p:nvSpPr>
          <p:cNvPr id="7" name="ZoneTexte 6"/>
          <p:cNvSpPr txBox="1"/>
          <p:nvPr/>
        </p:nvSpPr>
        <p:spPr>
          <a:xfrm>
            <a:off x="1886221" y="2093842"/>
            <a:ext cx="9124679" cy="769441"/>
          </a:xfrm>
          <a:prstGeom prst="rect">
            <a:avLst/>
          </a:prstGeom>
          <a:noFill/>
        </p:spPr>
        <p:txBody>
          <a:bodyPr wrap="square" rtlCol="0">
            <a:spAutoFit/>
          </a:bodyPr>
          <a:lstStyle/>
          <a:p>
            <a:pPr algn="ctr"/>
            <a:r>
              <a:rPr lang="fr-FR" sz="4400" dirty="0" smtClean="0"/>
              <a:t>Classification de demandes</a:t>
            </a:r>
            <a:endParaRPr lang="fr-FR" sz="4400" dirty="0"/>
          </a:p>
        </p:txBody>
      </p:sp>
      <p:sp>
        <p:nvSpPr>
          <p:cNvPr id="10" name="ZoneTexte 9"/>
          <p:cNvSpPr txBox="1"/>
          <p:nvPr/>
        </p:nvSpPr>
        <p:spPr>
          <a:xfrm>
            <a:off x="3333750" y="2678617"/>
            <a:ext cx="6829425" cy="369332"/>
          </a:xfrm>
          <a:prstGeom prst="rect">
            <a:avLst/>
          </a:prstGeom>
          <a:noFill/>
        </p:spPr>
        <p:txBody>
          <a:bodyPr wrap="square" rtlCol="0">
            <a:spAutoFit/>
          </a:bodyPr>
          <a:lstStyle/>
          <a:p>
            <a:r>
              <a:rPr lang="fr-FR" dirty="0" smtClean="0">
                <a:solidFill>
                  <a:schemeClr val="bg1">
                    <a:lumMod val="65000"/>
                  </a:schemeClr>
                </a:solidFill>
              </a:rPr>
              <a:t>« Bibliothèque </a:t>
            </a:r>
            <a:r>
              <a:rPr lang="fr-FR" dirty="0">
                <a:solidFill>
                  <a:schemeClr val="bg1">
                    <a:lumMod val="65000"/>
                  </a:schemeClr>
                </a:solidFill>
              </a:rPr>
              <a:t>de </a:t>
            </a:r>
            <a:r>
              <a:rPr lang="fr-FR" dirty="0" smtClean="0">
                <a:solidFill>
                  <a:schemeClr val="bg1">
                    <a:lumMod val="65000"/>
                  </a:schemeClr>
                </a:solidFill>
              </a:rPr>
              <a:t>réponses, réclamations </a:t>
            </a:r>
            <a:r>
              <a:rPr lang="fr-FR" dirty="0">
                <a:solidFill>
                  <a:schemeClr val="bg1">
                    <a:lumMod val="65000"/>
                  </a:schemeClr>
                </a:solidFill>
              </a:rPr>
              <a:t>et demandes </a:t>
            </a:r>
            <a:r>
              <a:rPr lang="fr-FR" dirty="0" smtClean="0">
                <a:solidFill>
                  <a:schemeClr val="bg1">
                    <a:lumMod val="65000"/>
                  </a:schemeClr>
                </a:solidFill>
              </a:rPr>
              <a:t>Réseaux »</a:t>
            </a:r>
            <a:endParaRPr lang="fr-FR" dirty="0">
              <a:solidFill>
                <a:schemeClr val="bg1">
                  <a:lumMod val="65000"/>
                </a:schemeClr>
              </a:solidFill>
            </a:endParaRPr>
          </a:p>
        </p:txBody>
      </p:sp>
    </p:spTree>
    <p:extLst>
      <p:ext uri="{BB962C8B-B14F-4D97-AF65-F5344CB8AC3E}">
        <p14:creationId xmlns:p14="http://schemas.microsoft.com/office/powerpoint/2010/main" val="1300374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386398" y="432676"/>
            <a:ext cx="8911687" cy="1280890"/>
          </a:xfrm>
        </p:spPr>
        <p:txBody>
          <a:bodyPr/>
          <a:lstStyle/>
          <a:p>
            <a:pPr algn="ctr"/>
            <a:r>
              <a:rPr lang="fr-FR" dirty="0" smtClean="0"/>
              <a:t>Plan</a:t>
            </a:r>
            <a:endParaRPr lang="fr-FR" dirty="0"/>
          </a:p>
        </p:txBody>
      </p:sp>
      <p:sp>
        <p:nvSpPr>
          <p:cNvPr id="8" name="Espace réservé du numéro de diapositive 7"/>
          <p:cNvSpPr>
            <a:spLocks noGrp="1"/>
          </p:cNvSpPr>
          <p:nvPr>
            <p:ph type="sldNum" sz="quarter" idx="12"/>
          </p:nvPr>
        </p:nvSpPr>
        <p:spPr/>
        <p:txBody>
          <a:bodyPr/>
          <a:lstStyle/>
          <a:p>
            <a:fld id="{51F074E9-1B56-458D-B411-D109289B208A}" type="slidenum">
              <a:rPr lang="fr-FR" smtClean="0"/>
              <a:t>2</a:t>
            </a:fld>
            <a:endParaRPr lang="fr-FR"/>
          </a:p>
        </p:txBody>
      </p:sp>
      <p:sp>
        <p:nvSpPr>
          <p:cNvPr id="5" name="ZoneTexte 4"/>
          <p:cNvSpPr txBox="1"/>
          <p:nvPr/>
        </p:nvSpPr>
        <p:spPr>
          <a:xfrm>
            <a:off x="1386398" y="1896446"/>
            <a:ext cx="6384000" cy="8125301"/>
          </a:xfrm>
          <a:prstGeom prst="rect">
            <a:avLst/>
          </a:prstGeom>
          <a:noFill/>
        </p:spPr>
        <p:txBody>
          <a:bodyPr wrap="square" rtlCol="0">
            <a:spAutoFit/>
          </a:bodyPr>
          <a:lstStyle/>
          <a:p>
            <a:r>
              <a:rPr lang="fr-FR" sz="2400" dirty="0"/>
              <a:t>1</a:t>
            </a:r>
            <a:r>
              <a:rPr lang="fr-FR" sz="2400" dirty="0" smtClean="0"/>
              <a:t>) Introduction</a:t>
            </a:r>
          </a:p>
          <a:p>
            <a:endParaRPr lang="fr-FR" sz="2800" dirty="0"/>
          </a:p>
          <a:p>
            <a:r>
              <a:rPr lang="fr-FR" sz="2400" dirty="0"/>
              <a:t>2) Cadre du projet</a:t>
            </a:r>
          </a:p>
          <a:p>
            <a:endParaRPr lang="fr-FR" sz="2400" dirty="0"/>
          </a:p>
          <a:p>
            <a:r>
              <a:rPr lang="fr-FR" sz="2400" dirty="0"/>
              <a:t>3</a:t>
            </a:r>
            <a:r>
              <a:rPr lang="fr-FR" sz="2400" dirty="0" smtClean="0"/>
              <a:t>) Projet d’entraînement</a:t>
            </a:r>
          </a:p>
          <a:p>
            <a:endParaRPr lang="fr-FR" sz="2400" dirty="0"/>
          </a:p>
          <a:p>
            <a:r>
              <a:rPr lang="fr-FR" sz="2400" dirty="0"/>
              <a:t>4) Projet chef-d’œuvre</a:t>
            </a:r>
          </a:p>
          <a:p>
            <a:endParaRPr lang="fr-FR" sz="2400" dirty="0"/>
          </a:p>
          <a:p>
            <a:r>
              <a:rPr lang="fr-FR" sz="2400" dirty="0" smtClean="0"/>
              <a:t>5) Conclusion</a:t>
            </a:r>
          </a:p>
          <a:p>
            <a:endParaRPr lang="fr-FR" sz="2400" dirty="0"/>
          </a:p>
          <a:p>
            <a:r>
              <a:rPr lang="fr-FR" sz="2400" dirty="0"/>
              <a:t>6) E2 </a:t>
            </a:r>
          </a:p>
          <a:p>
            <a:endParaRPr lang="fr-FR" sz="2800" dirty="0"/>
          </a:p>
          <a:p>
            <a:endParaRPr lang="fr-FR" sz="2800" dirty="0" smtClean="0"/>
          </a:p>
          <a:p>
            <a:endParaRPr lang="fr-FR" sz="2000" dirty="0" smtClean="0"/>
          </a:p>
          <a:p>
            <a:endParaRPr lang="fr-FR" sz="2000" dirty="0"/>
          </a:p>
          <a:p>
            <a:endParaRPr lang="fr-FR" sz="2000" dirty="0" smtClean="0"/>
          </a:p>
          <a:p>
            <a:pPr marL="342900" indent="-342900">
              <a:buFont typeface="Arial" panose="020B0604020202020204" pitchFamily="34" charset="0"/>
              <a:buChar char="•"/>
            </a:pPr>
            <a:endParaRPr lang="fr-FR" sz="2000" dirty="0" smtClean="0"/>
          </a:p>
          <a:p>
            <a:pPr marL="342900" indent="-342900">
              <a:buFont typeface="Arial" panose="020B0604020202020204" pitchFamily="34" charset="0"/>
              <a:buChar char="•"/>
            </a:pPr>
            <a:endParaRPr lang="fr-FR" sz="2000" dirty="0"/>
          </a:p>
          <a:p>
            <a:pPr marL="342900" indent="-342900">
              <a:buFont typeface="Arial" panose="020B0604020202020204" pitchFamily="34" charset="0"/>
              <a:buChar char="•"/>
            </a:pPr>
            <a:endParaRPr lang="fr-FR" sz="2000" dirty="0" smtClean="0"/>
          </a:p>
          <a:p>
            <a:pPr marL="342900" indent="-342900">
              <a:buFont typeface="Arial" panose="020B0604020202020204" pitchFamily="34" charset="0"/>
              <a:buChar char="•"/>
            </a:pPr>
            <a:endParaRPr lang="fr-FR" sz="2000" dirty="0"/>
          </a:p>
          <a:p>
            <a:endParaRPr lang="fr-FR" sz="2000" dirty="0"/>
          </a:p>
          <a:p>
            <a:pPr marL="285750" indent="-285750">
              <a:buFont typeface="Arial" panose="020B0604020202020204" pitchFamily="34" charset="0"/>
              <a:buChar char="•"/>
            </a:pPr>
            <a:endParaRPr lang="fr-FR" sz="2000" dirty="0" smtClean="0"/>
          </a:p>
          <a:p>
            <a:endParaRPr lang="fr-FR" dirty="0"/>
          </a:p>
        </p:txBody>
      </p:sp>
    </p:spTree>
    <p:extLst>
      <p:ext uri="{BB962C8B-B14F-4D97-AF65-F5344CB8AC3E}">
        <p14:creationId xmlns:p14="http://schemas.microsoft.com/office/powerpoint/2010/main" val="18357129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330610" y="881356"/>
            <a:ext cx="10058400" cy="3566160"/>
          </a:xfrm>
        </p:spPr>
        <p:txBody>
          <a:bodyPr/>
          <a:lstStyle/>
          <a:p>
            <a:pPr algn="ctr"/>
            <a:r>
              <a:rPr lang="fr-FR" dirty="0" smtClean="0"/>
              <a:t>Introduction</a:t>
            </a:r>
            <a:endParaRPr lang="fr-FR" dirty="0"/>
          </a:p>
        </p:txBody>
      </p:sp>
      <p:sp>
        <p:nvSpPr>
          <p:cNvPr id="3" name="Espace réservé du contenu 2"/>
          <p:cNvSpPr>
            <a:spLocks noGrp="1"/>
          </p:cNvSpPr>
          <p:nvPr>
            <p:ph type="body" idx="1"/>
          </p:nvPr>
        </p:nvSpPr>
        <p:spPr>
          <a:xfrm>
            <a:off x="1160342" y="4046692"/>
            <a:ext cx="11599217" cy="2227984"/>
          </a:xfrm>
        </p:spPr>
        <p:txBody>
          <a:bodyPr>
            <a:noAutofit/>
          </a:bodyPr>
          <a:lstStyle/>
          <a:p>
            <a:endParaRPr lang="fr-FR" sz="2000" dirty="0"/>
          </a:p>
          <a:p>
            <a:pPr marL="285750" indent="-285750">
              <a:buClr>
                <a:schemeClr val="tx1"/>
              </a:buClr>
              <a:buFont typeface="Arial" panose="020B0604020202020204" pitchFamily="34" charset="0"/>
              <a:buChar char="•"/>
            </a:pPr>
            <a:r>
              <a:rPr lang="fr-FR" sz="2000" dirty="0"/>
              <a:t>Le crédit Agricole</a:t>
            </a:r>
          </a:p>
          <a:p>
            <a:pPr marL="285750" indent="-285750">
              <a:buClr>
                <a:schemeClr val="tx1"/>
              </a:buClr>
              <a:buFont typeface="Arial" panose="020B0604020202020204" pitchFamily="34" charset="0"/>
              <a:buChar char="•"/>
            </a:pPr>
            <a:r>
              <a:rPr lang="fr-FR" sz="2000" dirty="0"/>
              <a:t>Le pôle A.B.P</a:t>
            </a:r>
          </a:p>
          <a:p>
            <a:pPr marL="285750" indent="-285750">
              <a:buClr>
                <a:schemeClr val="tx1"/>
              </a:buClr>
              <a:buFont typeface="Arial" panose="020B0604020202020204" pitchFamily="34" charset="0"/>
              <a:buChar char="•"/>
            </a:pPr>
            <a:r>
              <a:rPr lang="fr-FR" sz="2000" dirty="0"/>
              <a:t>L’unité C.A.R</a:t>
            </a:r>
          </a:p>
          <a:p>
            <a:pPr marL="285750" indent="-285750">
              <a:buClr>
                <a:schemeClr val="tx1"/>
              </a:buClr>
              <a:buFont typeface="Arial" panose="020B0604020202020204" pitchFamily="34" charset="0"/>
              <a:buChar char="•"/>
            </a:pPr>
            <a:r>
              <a:rPr lang="fr-FR" sz="2000" dirty="0"/>
              <a:t>L’implémentation du </a:t>
            </a:r>
            <a:r>
              <a:rPr lang="fr-FR" sz="2000" dirty="0" smtClean="0"/>
              <a:t>projet</a:t>
            </a:r>
            <a:endParaRPr lang="fr-FR" sz="2000" dirty="0"/>
          </a:p>
        </p:txBody>
      </p:sp>
      <p:sp>
        <p:nvSpPr>
          <p:cNvPr id="4" name="Espace réservé du numéro de diapositive 3"/>
          <p:cNvSpPr>
            <a:spLocks noGrp="1"/>
          </p:cNvSpPr>
          <p:nvPr>
            <p:ph type="sldNum" sz="quarter" idx="12"/>
          </p:nvPr>
        </p:nvSpPr>
        <p:spPr/>
        <p:txBody>
          <a:bodyPr/>
          <a:lstStyle/>
          <a:p>
            <a:fld id="{51F074E9-1B56-458D-B411-D109289B208A}" type="slidenum">
              <a:rPr lang="fr-FR" smtClean="0"/>
              <a:t>3</a:t>
            </a:fld>
            <a:endParaRPr lang="fr-FR"/>
          </a:p>
        </p:txBody>
      </p:sp>
    </p:spTree>
    <p:extLst>
      <p:ext uri="{BB962C8B-B14F-4D97-AF65-F5344CB8AC3E}">
        <p14:creationId xmlns:p14="http://schemas.microsoft.com/office/powerpoint/2010/main" val="10122209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640156" y="36919"/>
            <a:ext cx="8911687" cy="1280890"/>
          </a:xfrm>
        </p:spPr>
        <p:txBody>
          <a:bodyPr>
            <a:normAutofit/>
          </a:bodyPr>
          <a:lstStyle/>
          <a:p>
            <a:pPr algn="ctr"/>
            <a:r>
              <a:rPr lang="fr-FR" dirty="0" smtClean="0"/>
              <a:t>Le Crédit Agricole</a:t>
            </a:r>
            <a:endParaRPr lang="fr-FR" dirty="0"/>
          </a:p>
        </p:txBody>
      </p:sp>
      <p:sp>
        <p:nvSpPr>
          <p:cNvPr id="6" name="Espace réservé du numéro de diapositive 5"/>
          <p:cNvSpPr>
            <a:spLocks noGrp="1"/>
          </p:cNvSpPr>
          <p:nvPr>
            <p:ph type="sldNum" sz="quarter" idx="12"/>
          </p:nvPr>
        </p:nvSpPr>
        <p:spPr/>
        <p:txBody>
          <a:bodyPr/>
          <a:lstStyle/>
          <a:p>
            <a:fld id="{51F074E9-1B56-458D-B411-D109289B208A}" type="slidenum">
              <a:rPr lang="fr-FR" smtClean="0"/>
              <a:t>4</a:t>
            </a:fld>
            <a:endParaRPr lang="fr-FR"/>
          </a:p>
        </p:txBody>
      </p:sp>
      <p:pic>
        <p:nvPicPr>
          <p:cNvPr id="2050" name="Picture 2" descr="Résultat d’images pour caisse régionale crédit agricole ploufrag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445" y="1956051"/>
            <a:ext cx="5057555" cy="4123582"/>
          </a:xfrm>
          <a:prstGeom prst="rect">
            <a:avLst/>
          </a:prstGeom>
          <a:noFill/>
          <a:extLst>
            <a:ext uri="{909E8E84-426E-40DD-AFC4-6F175D3DCCD1}">
              <a14:hiddenFill xmlns:a14="http://schemas.microsoft.com/office/drawing/2010/main">
                <a:solidFill>
                  <a:srgbClr val="FFFFFF"/>
                </a:solidFill>
              </a14:hiddenFill>
            </a:ext>
          </a:extLst>
        </p:spPr>
      </p:pic>
      <p:sp>
        <p:nvSpPr>
          <p:cNvPr id="15" name="ZoneTexte 14"/>
          <p:cNvSpPr txBox="1"/>
          <p:nvPr/>
        </p:nvSpPr>
        <p:spPr>
          <a:xfrm>
            <a:off x="6999891" y="1656367"/>
            <a:ext cx="4414344" cy="5447645"/>
          </a:xfrm>
          <a:prstGeom prst="rect">
            <a:avLst/>
          </a:prstGeom>
          <a:noFill/>
        </p:spPr>
        <p:txBody>
          <a:bodyPr wrap="square" rtlCol="0">
            <a:spAutoFit/>
          </a:bodyPr>
          <a:lstStyle/>
          <a:p>
            <a:pPr>
              <a:lnSpc>
                <a:spcPct val="150000"/>
              </a:lnSpc>
            </a:pPr>
            <a:r>
              <a:rPr lang="fr-FR" sz="2400" b="1" dirty="0"/>
              <a:t>En France </a:t>
            </a:r>
            <a:r>
              <a:rPr lang="fr-FR" sz="2400" b="1" dirty="0" smtClean="0"/>
              <a:t>:</a:t>
            </a:r>
          </a:p>
          <a:p>
            <a:pPr marL="342900" indent="-342900">
              <a:lnSpc>
                <a:spcPct val="150000"/>
              </a:lnSpc>
              <a:buFont typeface="Arial" panose="020B0604020202020204" pitchFamily="34" charset="0"/>
              <a:buChar char="•"/>
            </a:pPr>
            <a:r>
              <a:rPr lang="fr-FR" sz="2000" dirty="0" smtClean="0"/>
              <a:t>Banque </a:t>
            </a:r>
            <a:r>
              <a:rPr lang="fr-FR" sz="2000" dirty="0"/>
              <a:t>mutualiste</a:t>
            </a:r>
          </a:p>
          <a:p>
            <a:pPr marL="342900" indent="-342900">
              <a:lnSpc>
                <a:spcPct val="150000"/>
              </a:lnSpc>
              <a:buFont typeface="Arial" panose="020B0604020202020204" pitchFamily="34" charset="0"/>
              <a:buChar char="•"/>
            </a:pPr>
            <a:r>
              <a:rPr lang="fr-FR" sz="2000" dirty="0" smtClean="0"/>
              <a:t>3200 </a:t>
            </a:r>
            <a:r>
              <a:rPr lang="fr-FR" sz="2000" dirty="0"/>
              <a:t>agences</a:t>
            </a:r>
          </a:p>
          <a:p>
            <a:pPr marL="342900" indent="-342900">
              <a:lnSpc>
                <a:spcPct val="150000"/>
              </a:lnSpc>
              <a:buFont typeface="Arial" panose="020B0604020202020204" pitchFamily="34" charset="0"/>
              <a:buChar char="•"/>
            </a:pPr>
            <a:r>
              <a:rPr lang="fr-FR" sz="2000" dirty="0" smtClean="0"/>
              <a:t>39 </a:t>
            </a:r>
            <a:r>
              <a:rPr lang="fr-FR" sz="2000" dirty="0"/>
              <a:t>caisses régionales en France</a:t>
            </a:r>
          </a:p>
          <a:p>
            <a:pPr marL="342900" indent="-342900">
              <a:lnSpc>
                <a:spcPct val="150000"/>
              </a:lnSpc>
              <a:buFont typeface="Arial" panose="020B0604020202020204" pitchFamily="34" charset="0"/>
              <a:buChar char="•"/>
            </a:pPr>
            <a:r>
              <a:rPr lang="fr-FR" sz="2000" dirty="0" smtClean="0"/>
              <a:t>21 </a:t>
            </a:r>
            <a:r>
              <a:rPr lang="fr-FR" sz="2000" dirty="0"/>
              <a:t>millions de clients </a:t>
            </a:r>
            <a:r>
              <a:rPr lang="fr-FR" sz="2000" dirty="0" smtClean="0"/>
              <a:t>particuliers</a:t>
            </a:r>
          </a:p>
          <a:p>
            <a:pPr marL="342900" indent="-342900">
              <a:lnSpc>
                <a:spcPct val="150000"/>
              </a:lnSpc>
              <a:buFont typeface="Arial" panose="020B0604020202020204" pitchFamily="34" charset="0"/>
              <a:buChar char="•"/>
            </a:pPr>
            <a:endParaRPr lang="fr-FR" sz="2000" dirty="0" smtClean="0"/>
          </a:p>
          <a:p>
            <a:pPr>
              <a:buClr>
                <a:schemeClr val="tx1"/>
              </a:buClr>
            </a:pPr>
            <a:r>
              <a:rPr lang="fr-FR" sz="2400" b="1" dirty="0"/>
              <a:t>Dans les Côtes d’Armor </a:t>
            </a:r>
            <a:r>
              <a:rPr lang="fr-FR" sz="2400" b="1" dirty="0" smtClean="0"/>
              <a:t>:</a:t>
            </a:r>
          </a:p>
          <a:p>
            <a:pPr marL="285750" indent="-285750">
              <a:lnSpc>
                <a:spcPct val="150000"/>
              </a:lnSpc>
              <a:buClr>
                <a:schemeClr val="tx1"/>
              </a:buClr>
              <a:buFont typeface="Arial" panose="020B0604020202020204" pitchFamily="34" charset="0"/>
              <a:buChar char="•"/>
            </a:pPr>
            <a:r>
              <a:rPr lang="fr-FR" sz="2000" dirty="0" smtClean="0"/>
              <a:t>88 agences</a:t>
            </a:r>
          </a:p>
          <a:p>
            <a:pPr marL="285750" indent="-285750">
              <a:lnSpc>
                <a:spcPct val="150000"/>
              </a:lnSpc>
              <a:buClr>
                <a:schemeClr val="tx1"/>
              </a:buClr>
              <a:buFont typeface="Arial" panose="020B0604020202020204" pitchFamily="34" charset="0"/>
              <a:buChar char="•"/>
            </a:pPr>
            <a:r>
              <a:rPr lang="fr-FR" sz="2000" dirty="0" smtClean="0"/>
              <a:t>44 </a:t>
            </a:r>
            <a:r>
              <a:rPr lang="fr-FR" sz="2000" dirty="0"/>
              <a:t>caisses locales </a:t>
            </a:r>
            <a:endParaRPr lang="fr-FR" sz="2000" dirty="0" smtClean="0"/>
          </a:p>
          <a:p>
            <a:pPr marL="285750" indent="-285750">
              <a:lnSpc>
                <a:spcPct val="150000"/>
              </a:lnSpc>
              <a:buClr>
                <a:schemeClr val="tx1"/>
              </a:buClr>
              <a:buFont typeface="Arial" panose="020B0604020202020204" pitchFamily="34" charset="0"/>
              <a:buChar char="•"/>
            </a:pPr>
            <a:r>
              <a:rPr lang="fr-FR" sz="2000" dirty="0" smtClean="0"/>
              <a:t>1,7 </a:t>
            </a:r>
            <a:r>
              <a:rPr lang="fr-FR" sz="2000" dirty="0"/>
              <a:t>millions de clients particuliers</a:t>
            </a:r>
          </a:p>
          <a:p>
            <a:pPr marL="342900" indent="-342900">
              <a:lnSpc>
                <a:spcPct val="150000"/>
              </a:lnSpc>
              <a:buFont typeface="Arial" panose="020B0604020202020204" pitchFamily="34" charset="0"/>
              <a:buChar char="•"/>
            </a:pPr>
            <a:endParaRPr lang="fr-FR" sz="2000" dirty="0" smtClean="0"/>
          </a:p>
          <a:p>
            <a:endParaRPr lang="fr-FR" dirty="0"/>
          </a:p>
        </p:txBody>
      </p:sp>
    </p:spTree>
    <p:extLst>
      <p:ext uri="{BB962C8B-B14F-4D97-AF65-F5344CB8AC3E}">
        <p14:creationId xmlns:p14="http://schemas.microsoft.com/office/powerpoint/2010/main" val="20871558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65674" y="972960"/>
            <a:ext cx="10530892" cy="1657536"/>
          </a:xfrm>
        </p:spPr>
        <p:txBody>
          <a:bodyPr>
            <a:normAutofit fontScale="90000"/>
          </a:bodyPr>
          <a:lstStyle/>
          <a:p>
            <a:pPr algn="ctr"/>
            <a:r>
              <a:rPr lang="fr-FR" dirty="0" smtClean="0"/>
              <a:t>Le Pôle A.B.P. </a:t>
            </a:r>
            <a:br>
              <a:rPr lang="fr-FR" dirty="0" smtClean="0"/>
            </a:br>
            <a:r>
              <a:rPr lang="fr-FR" sz="2800" dirty="0" smtClean="0"/>
              <a:t>(</a:t>
            </a:r>
            <a:r>
              <a:rPr lang="fr-FR" sz="3100" dirty="0" smtClean="0"/>
              <a:t>Assurance </a:t>
            </a:r>
            <a:r>
              <a:rPr lang="fr-FR" sz="3100" dirty="0"/>
              <a:t>Biens et </a:t>
            </a:r>
            <a:r>
              <a:rPr lang="fr-FR" sz="3100" dirty="0" smtClean="0"/>
              <a:t>Personnes)</a:t>
            </a:r>
            <a:r>
              <a:rPr lang="fr-FR" dirty="0" smtClean="0"/>
              <a:t/>
            </a:r>
            <a:br>
              <a:rPr lang="fr-FR" dirty="0" smtClean="0"/>
            </a:br>
            <a:r>
              <a:rPr lang="fr-FR" dirty="0" smtClean="0"/>
              <a:t/>
            </a:r>
            <a:br>
              <a:rPr lang="fr-FR" dirty="0" smtClean="0"/>
            </a:br>
            <a:r>
              <a:rPr lang="fr-FR" dirty="0" smtClean="0"/>
              <a:t> </a:t>
            </a:r>
            <a:endParaRPr lang="fr-FR" dirty="0"/>
          </a:p>
        </p:txBody>
      </p:sp>
      <p:sp>
        <p:nvSpPr>
          <p:cNvPr id="6" name="Espace réservé du numéro de diapositive 5"/>
          <p:cNvSpPr>
            <a:spLocks noGrp="1"/>
          </p:cNvSpPr>
          <p:nvPr>
            <p:ph type="sldNum" sz="quarter" idx="12"/>
          </p:nvPr>
        </p:nvSpPr>
        <p:spPr/>
        <p:txBody>
          <a:bodyPr/>
          <a:lstStyle/>
          <a:p>
            <a:fld id="{51F074E9-1B56-458D-B411-D109289B208A}" type="slidenum">
              <a:rPr lang="fr-FR" smtClean="0"/>
              <a:t>5</a:t>
            </a:fld>
            <a:endParaRPr lang="fr-FR"/>
          </a:p>
        </p:txBody>
      </p:sp>
      <p:sp>
        <p:nvSpPr>
          <p:cNvPr id="10" name="Rectangle 9"/>
          <p:cNvSpPr/>
          <p:nvPr/>
        </p:nvSpPr>
        <p:spPr>
          <a:xfrm>
            <a:off x="1101767" y="1663544"/>
            <a:ext cx="9690540" cy="5078313"/>
          </a:xfrm>
          <a:prstGeom prst="rect">
            <a:avLst/>
          </a:prstGeom>
        </p:spPr>
        <p:txBody>
          <a:bodyPr wrap="square">
            <a:spAutoFit/>
          </a:bodyPr>
          <a:lstStyle/>
          <a:p>
            <a:pPr marL="571500" indent="-571500">
              <a:lnSpc>
                <a:spcPct val="200000"/>
              </a:lnSpc>
              <a:buFont typeface="Arial" panose="020B0604020202020204" pitchFamily="34" charset="0"/>
              <a:buChar char="•"/>
            </a:pPr>
            <a:r>
              <a:rPr lang="fr-FR" sz="3600" dirty="0" smtClean="0"/>
              <a:t>Unité </a:t>
            </a:r>
            <a:r>
              <a:rPr lang="fr-FR" sz="3600" dirty="0"/>
              <a:t>Gestion </a:t>
            </a:r>
            <a:r>
              <a:rPr lang="fr-FR" sz="3600" dirty="0" smtClean="0"/>
              <a:t>Assurance (U.G.A.)</a:t>
            </a:r>
          </a:p>
          <a:p>
            <a:pPr marL="571500" indent="-571500">
              <a:lnSpc>
                <a:spcPct val="200000"/>
              </a:lnSpc>
              <a:buFont typeface="Arial" panose="020B0604020202020204" pitchFamily="34" charset="0"/>
              <a:buChar char="•"/>
            </a:pPr>
            <a:r>
              <a:rPr lang="fr-FR" sz="3600" dirty="0" smtClean="0"/>
              <a:t>Unité Support </a:t>
            </a:r>
            <a:r>
              <a:rPr lang="fr-FR" sz="3600" dirty="0"/>
              <a:t>et P</a:t>
            </a:r>
            <a:r>
              <a:rPr lang="fr-FR" sz="3600" dirty="0" smtClean="0"/>
              <a:t>rojets (U.S.P.)</a:t>
            </a:r>
          </a:p>
          <a:p>
            <a:pPr marL="571500" indent="-571500">
              <a:lnSpc>
                <a:spcPct val="200000"/>
              </a:lnSpc>
              <a:buFont typeface="Arial" panose="020B0604020202020204" pitchFamily="34" charset="0"/>
              <a:buChar char="•"/>
            </a:pPr>
            <a:r>
              <a:rPr lang="fr-FR" sz="3600" dirty="0" smtClean="0"/>
              <a:t>Agence </a:t>
            </a:r>
            <a:r>
              <a:rPr lang="fr-FR" sz="3600" dirty="0"/>
              <a:t>en </a:t>
            </a:r>
            <a:r>
              <a:rPr lang="fr-FR" sz="3600" dirty="0" smtClean="0"/>
              <a:t>ligne Clients Agri/Pro (A.C.A.P.)</a:t>
            </a:r>
          </a:p>
          <a:p>
            <a:pPr marL="571500" indent="-571500">
              <a:lnSpc>
                <a:spcPct val="200000"/>
              </a:lnSpc>
              <a:buFont typeface="Arial" panose="020B0604020202020204" pitchFamily="34" charset="0"/>
              <a:buChar char="•"/>
            </a:pPr>
            <a:r>
              <a:rPr lang="fr-FR" sz="3600" dirty="0"/>
              <a:t>Conseil </a:t>
            </a:r>
            <a:r>
              <a:rPr lang="fr-FR" sz="3600" dirty="0" smtClean="0"/>
              <a:t>Assistance </a:t>
            </a:r>
            <a:r>
              <a:rPr lang="fr-FR" sz="3600" dirty="0"/>
              <a:t>R</a:t>
            </a:r>
            <a:r>
              <a:rPr lang="fr-FR" sz="3600" dirty="0" smtClean="0"/>
              <a:t>éseau (C.A.R.)</a:t>
            </a:r>
            <a:endParaRPr lang="fr-FR" sz="3600" dirty="0"/>
          </a:p>
          <a:p>
            <a:pPr marL="285750" indent="-285750">
              <a:buFont typeface="Wingdings" panose="05000000000000000000" pitchFamily="2" charset="2"/>
              <a:buChar char="Ø"/>
            </a:pPr>
            <a:endParaRPr lang="fr-FR" dirty="0"/>
          </a:p>
          <a:p>
            <a:pPr marL="285750" indent="-285750">
              <a:buFont typeface="Wingdings" panose="05000000000000000000" pitchFamily="2" charset="2"/>
              <a:buChar char="Ø"/>
            </a:pPr>
            <a:endParaRPr lang="fr-FR" dirty="0"/>
          </a:p>
        </p:txBody>
      </p:sp>
    </p:spTree>
    <p:extLst>
      <p:ext uri="{BB962C8B-B14F-4D97-AF65-F5344CB8AC3E}">
        <p14:creationId xmlns:p14="http://schemas.microsoft.com/office/powerpoint/2010/main" val="38955260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23707" y="129051"/>
            <a:ext cx="10058400" cy="1450757"/>
          </a:xfrm>
        </p:spPr>
        <p:txBody>
          <a:bodyPr/>
          <a:lstStyle/>
          <a:p>
            <a:pPr algn="ctr"/>
            <a:r>
              <a:rPr lang="fr-FR" dirty="0" smtClean="0"/>
              <a:t>L’unité C.A.R.</a:t>
            </a:r>
            <a:br>
              <a:rPr lang="fr-FR" dirty="0" smtClean="0"/>
            </a:br>
            <a:r>
              <a:rPr lang="fr-FR" sz="2800" dirty="0" smtClean="0"/>
              <a:t>(Conseil Assistance Réseau)</a:t>
            </a:r>
            <a:endParaRPr lang="fr-FR" dirty="0"/>
          </a:p>
        </p:txBody>
      </p:sp>
      <p:sp>
        <p:nvSpPr>
          <p:cNvPr id="4" name="Espace réservé du numéro de diapositive 3"/>
          <p:cNvSpPr>
            <a:spLocks noGrp="1"/>
          </p:cNvSpPr>
          <p:nvPr>
            <p:ph type="sldNum" sz="quarter" idx="12"/>
          </p:nvPr>
        </p:nvSpPr>
        <p:spPr/>
        <p:txBody>
          <a:bodyPr/>
          <a:lstStyle/>
          <a:p>
            <a:fld id="{51F074E9-1B56-458D-B411-D109289B208A}" type="slidenum">
              <a:rPr lang="fr-FR" smtClean="0"/>
              <a:t>6</a:t>
            </a:fld>
            <a:endParaRPr lang="fr-FR"/>
          </a:p>
        </p:txBody>
      </p:sp>
      <p:sp>
        <p:nvSpPr>
          <p:cNvPr id="5" name="Rectangle 4"/>
          <p:cNvSpPr/>
          <p:nvPr/>
        </p:nvSpPr>
        <p:spPr>
          <a:xfrm>
            <a:off x="1023707" y="1644981"/>
            <a:ext cx="10768900" cy="4247317"/>
          </a:xfrm>
          <a:prstGeom prst="rect">
            <a:avLst/>
          </a:prstGeom>
        </p:spPr>
        <p:txBody>
          <a:bodyPr wrap="square">
            <a:spAutoFit/>
          </a:bodyPr>
          <a:lstStyle/>
          <a:p>
            <a:pPr marL="571500" indent="-571500">
              <a:lnSpc>
                <a:spcPct val="150000"/>
              </a:lnSpc>
              <a:buFont typeface="Arial" panose="020B0604020202020204" pitchFamily="34" charset="0"/>
              <a:buChar char="•"/>
            </a:pPr>
            <a:r>
              <a:rPr lang="fr-FR" sz="3600" dirty="0"/>
              <a:t>15000 </a:t>
            </a:r>
            <a:r>
              <a:rPr lang="fr-FR" sz="3600" dirty="0" smtClean="0"/>
              <a:t>Appels</a:t>
            </a:r>
          </a:p>
          <a:p>
            <a:pPr marL="571500" indent="-571500">
              <a:lnSpc>
                <a:spcPct val="150000"/>
              </a:lnSpc>
              <a:buFont typeface="Arial" panose="020B0604020202020204" pitchFamily="34" charset="0"/>
              <a:buChar char="•"/>
            </a:pPr>
            <a:r>
              <a:rPr lang="fr-FR" sz="3600" dirty="0"/>
              <a:t>3000 </a:t>
            </a:r>
            <a:r>
              <a:rPr lang="fr-FR" sz="3600" dirty="0" smtClean="0"/>
              <a:t>mails</a:t>
            </a:r>
          </a:p>
          <a:p>
            <a:pPr marL="571500" indent="-571500">
              <a:lnSpc>
                <a:spcPct val="150000"/>
              </a:lnSpc>
              <a:buFont typeface="Arial" panose="020B0604020202020204" pitchFamily="34" charset="0"/>
              <a:buChar char="•"/>
            </a:pPr>
            <a:r>
              <a:rPr lang="fr-FR" sz="3600" dirty="0" smtClean="0"/>
              <a:t>400 réclamations</a:t>
            </a:r>
          </a:p>
          <a:p>
            <a:pPr marL="571500" indent="-571500">
              <a:lnSpc>
                <a:spcPct val="150000"/>
              </a:lnSpc>
              <a:buFont typeface="Arial" panose="020B0604020202020204" pitchFamily="34" charset="0"/>
              <a:buChar char="•"/>
            </a:pPr>
            <a:r>
              <a:rPr lang="fr-FR" sz="3600" dirty="0" smtClean="0"/>
              <a:t>215 impayés</a:t>
            </a:r>
          </a:p>
          <a:p>
            <a:pPr marL="571500" indent="-571500">
              <a:lnSpc>
                <a:spcPct val="150000"/>
              </a:lnSpc>
              <a:buFont typeface="Arial" panose="020B0604020202020204" pitchFamily="34" charset="0"/>
              <a:buChar char="•"/>
            </a:pPr>
            <a:r>
              <a:rPr lang="fr-FR" sz="3600" dirty="0" smtClean="0"/>
              <a:t>669 </a:t>
            </a:r>
            <a:r>
              <a:rPr lang="fr-FR" sz="3600" dirty="0"/>
              <a:t>dérogations et </a:t>
            </a:r>
            <a:r>
              <a:rPr lang="fr-FR" sz="3600" dirty="0" smtClean="0"/>
              <a:t>Hors Normes</a:t>
            </a:r>
            <a:endParaRPr lang="fr-FR" sz="3600" dirty="0"/>
          </a:p>
        </p:txBody>
      </p:sp>
      <p:pic>
        <p:nvPicPr>
          <p:cNvPr id="3078" name="Picture 6" descr="How to Answer the Phone Properly at Your Busines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31239" y="1863552"/>
            <a:ext cx="4750868" cy="31672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7010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13656" y="234137"/>
            <a:ext cx="8911687" cy="1280890"/>
          </a:xfrm>
        </p:spPr>
        <p:txBody>
          <a:bodyPr>
            <a:normAutofit fontScale="90000"/>
          </a:bodyPr>
          <a:lstStyle/>
          <a:p>
            <a:pPr algn="ctr"/>
            <a:r>
              <a:rPr lang="fr-FR" dirty="0" smtClean="0"/>
              <a:t>L’implémentation du projet au sein </a:t>
            </a:r>
            <a:br>
              <a:rPr lang="fr-FR" dirty="0" smtClean="0"/>
            </a:br>
            <a:r>
              <a:rPr lang="fr-FR" dirty="0" smtClean="0"/>
              <a:t>de la </a:t>
            </a:r>
            <a:r>
              <a:rPr lang="fr-FR" dirty="0"/>
              <a:t>C</a:t>
            </a:r>
            <a:r>
              <a:rPr lang="fr-FR" dirty="0" smtClean="0"/>
              <a:t>aisse Régionale </a:t>
            </a:r>
            <a:endParaRPr lang="fr-FR" dirty="0"/>
          </a:p>
        </p:txBody>
      </p:sp>
      <p:pic>
        <p:nvPicPr>
          <p:cNvPr id="4" name="Imag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37221" y="1828751"/>
            <a:ext cx="7936809" cy="4464454"/>
          </a:xfrm>
          <a:prstGeom prst="rect">
            <a:avLst/>
          </a:prstGeom>
        </p:spPr>
      </p:pic>
      <p:sp>
        <p:nvSpPr>
          <p:cNvPr id="5" name="Espace réservé du numéro de diapositive 4"/>
          <p:cNvSpPr>
            <a:spLocks noGrp="1"/>
          </p:cNvSpPr>
          <p:nvPr>
            <p:ph type="sldNum" sz="quarter" idx="12"/>
          </p:nvPr>
        </p:nvSpPr>
        <p:spPr/>
        <p:txBody>
          <a:bodyPr/>
          <a:lstStyle/>
          <a:p>
            <a:fld id="{51F074E9-1B56-458D-B411-D109289B208A}" type="slidenum">
              <a:rPr lang="fr-FR" smtClean="0"/>
              <a:t>7</a:t>
            </a:fld>
            <a:endParaRPr lang="fr-FR"/>
          </a:p>
        </p:txBody>
      </p:sp>
    </p:spTree>
    <p:extLst>
      <p:ext uri="{BB962C8B-B14F-4D97-AF65-F5344CB8AC3E}">
        <p14:creationId xmlns:p14="http://schemas.microsoft.com/office/powerpoint/2010/main" val="127925342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a:xfrm>
            <a:off x="1022657" y="878420"/>
            <a:ext cx="10058400" cy="3566160"/>
          </a:xfrm>
        </p:spPr>
        <p:txBody>
          <a:bodyPr/>
          <a:lstStyle/>
          <a:p>
            <a:r>
              <a:rPr lang="fr-FR" dirty="0"/>
              <a:t>Cadre du </a:t>
            </a:r>
            <a:r>
              <a:rPr lang="fr-FR" dirty="0" smtClean="0"/>
              <a:t>projet</a:t>
            </a:r>
            <a:endParaRPr lang="fr-FR" dirty="0"/>
          </a:p>
        </p:txBody>
      </p:sp>
      <p:sp>
        <p:nvSpPr>
          <p:cNvPr id="4" name="Espace réservé du numéro de diapositive 3"/>
          <p:cNvSpPr>
            <a:spLocks noGrp="1"/>
          </p:cNvSpPr>
          <p:nvPr>
            <p:ph type="sldNum" sz="quarter" idx="12"/>
          </p:nvPr>
        </p:nvSpPr>
        <p:spPr/>
        <p:txBody>
          <a:bodyPr/>
          <a:lstStyle/>
          <a:p>
            <a:fld id="{51F074E9-1B56-458D-B411-D109289B208A}" type="slidenum">
              <a:rPr lang="fr-FR" smtClean="0"/>
              <a:t>8</a:t>
            </a:fld>
            <a:endParaRPr lang="fr-FR"/>
          </a:p>
        </p:txBody>
      </p:sp>
      <p:sp>
        <p:nvSpPr>
          <p:cNvPr id="7" name="Rectangle 6"/>
          <p:cNvSpPr/>
          <p:nvPr/>
        </p:nvSpPr>
        <p:spPr>
          <a:xfrm>
            <a:off x="1124257" y="4281716"/>
            <a:ext cx="6990080" cy="1938992"/>
          </a:xfrm>
          <a:prstGeom prst="rect">
            <a:avLst/>
          </a:prstGeom>
        </p:spPr>
        <p:txBody>
          <a:bodyPr wrap="square">
            <a:spAutoFit/>
          </a:bodyPr>
          <a:lstStyle/>
          <a:p>
            <a:pPr marL="285750" indent="-285750">
              <a:lnSpc>
                <a:spcPct val="150000"/>
              </a:lnSpc>
              <a:buFont typeface="Arial" panose="020B0604020202020204" pitchFamily="34" charset="0"/>
              <a:buChar char="•"/>
            </a:pPr>
            <a:r>
              <a:rPr lang="fr-FR" sz="2000" dirty="0">
                <a:latin typeface="+mj-lt"/>
              </a:rPr>
              <a:t>Les outils de développement</a:t>
            </a:r>
          </a:p>
          <a:p>
            <a:pPr marL="285750" indent="-285750">
              <a:lnSpc>
                <a:spcPct val="150000"/>
              </a:lnSpc>
              <a:buFont typeface="Arial" panose="020B0604020202020204" pitchFamily="34" charset="0"/>
              <a:buChar char="•"/>
            </a:pPr>
            <a:r>
              <a:rPr lang="fr-FR" sz="2000" dirty="0">
                <a:latin typeface="+mj-lt"/>
              </a:rPr>
              <a:t>Outils de gestion de projet</a:t>
            </a:r>
          </a:p>
          <a:p>
            <a:pPr marL="285750" indent="-285750">
              <a:lnSpc>
                <a:spcPct val="150000"/>
              </a:lnSpc>
              <a:buFont typeface="Arial" panose="020B0604020202020204" pitchFamily="34" charset="0"/>
              <a:buChar char="•"/>
            </a:pPr>
            <a:r>
              <a:rPr lang="fr-FR" sz="2000" dirty="0" smtClean="0">
                <a:latin typeface="+mj-lt"/>
              </a:rPr>
              <a:t>Procédé C.A.R.</a:t>
            </a:r>
            <a:endParaRPr lang="fr-FR" sz="2000" dirty="0">
              <a:latin typeface="+mj-lt"/>
            </a:endParaRPr>
          </a:p>
          <a:p>
            <a:pPr marL="285750" indent="-285750">
              <a:lnSpc>
                <a:spcPct val="150000"/>
              </a:lnSpc>
              <a:buFont typeface="Arial" panose="020B0604020202020204" pitchFamily="34" charset="0"/>
              <a:buChar char="•"/>
            </a:pPr>
            <a:r>
              <a:rPr lang="fr-FR" sz="2000" dirty="0">
                <a:latin typeface="+mj-lt"/>
              </a:rPr>
              <a:t>L’acculturation</a:t>
            </a:r>
          </a:p>
        </p:txBody>
      </p:sp>
    </p:spTree>
    <p:extLst>
      <p:ext uri="{BB962C8B-B14F-4D97-AF65-F5344CB8AC3E}">
        <p14:creationId xmlns:p14="http://schemas.microsoft.com/office/powerpoint/2010/main" val="23885223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103444" y="100770"/>
            <a:ext cx="8911687" cy="1280890"/>
          </a:xfrm>
        </p:spPr>
        <p:txBody>
          <a:bodyPr>
            <a:normAutofit/>
          </a:bodyPr>
          <a:lstStyle/>
          <a:p>
            <a:pPr algn="ctr"/>
            <a:r>
              <a:rPr lang="fr-FR" sz="4000" b="1" dirty="0" smtClean="0"/>
              <a:t>Les outils de gestion de projet</a:t>
            </a:r>
            <a:endParaRPr lang="fr-FR" sz="4000" b="1" dirty="0"/>
          </a:p>
        </p:txBody>
      </p:sp>
      <p:pic>
        <p:nvPicPr>
          <p:cNvPr id="2050" name="Picture 2" descr="Résultat d’images pour gladys gestion projet ico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7874" y="1974809"/>
            <a:ext cx="3636000" cy="2162463"/>
          </a:xfrm>
          <a:prstGeom prst="rect">
            <a:avLst/>
          </a:prstGeom>
          <a:noFill/>
          <a:extLst>
            <a:ext uri="{909E8E84-426E-40DD-AFC4-6F175D3DCCD1}">
              <a14:hiddenFill xmlns:a14="http://schemas.microsoft.com/office/drawing/2010/main">
                <a:solidFill>
                  <a:srgbClr val="FFFFFF"/>
                </a:solidFill>
              </a14:hiddenFill>
            </a:ext>
          </a:extLst>
        </p:spPr>
      </p:pic>
      <p:sp>
        <p:nvSpPr>
          <p:cNvPr id="4" name="Espace réservé du numéro de diapositive 3"/>
          <p:cNvSpPr>
            <a:spLocks noGrp="1"/>
          </p:cNvSpPr>
          <p:nvPr>
            <p:ph type="sldNum" sz="quarter" idx="12"/>
          </p:nvPr>
        </p:nvSpPr>
        <p:spPr/>
        <p:txBody>
          <a:bodyPr/>
          <a:lstStyle/>
          <a:p>
            <a:fld id="{51F074E9-1B56-458D-B411-D109289B208A}" type="slidenum">
              <a:rPr lang="fr-FR" smtClean="0"/>
              <a:t>9</a:t>
            </a:fld>
            <a:endParaRPr lang="fr-FR"/>
          </a:p>
        </p:txBody>
      </p:sp>
      <p:pic>
        <p:nvPicPr>
          <p:cNvPr id="6" name="Picture 4" descr="Résultat d’images pour image ordinateur face vid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7660" y="3926300"/>
            <a:ext cx="3095625" cy="2228850"/>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p:cNvSpPr txBox="1"/>
          <p:nvPr/>
        </p:nvSpPr>
        <p:spPr>
          <a:xfrm>
            <a:off x="5325665" y="4519449"/>
            <a:ext cx="1639613" cy="646331"/>
          </a:xfrm>
          <a:prstGeom prst="rect">
            <a:avLst/>
          </a:prstGeom>
          <a:noFill/>
        </p:spPr>
        <p:txBody>
          <a:bodyPr wrap="square" rtlCol="0">
            <a:spAutoFit/>
          </a:bodyPr>
          <a:lstStyle/>
          <a:p>
            <a:pPr algn="ctr"/>
            <a:r>
              <a:rPr lang="fr-FR" dirty="0" smtClean="0"/>
              <a:t>Ordinateur</a:t>
            </a:r>
          </a:p>
          <a:p>
            <a:pPr algn="ctr"/>
            <a:r>
              <a:rPr lang="fr-FR" dirty="0" smtClean="0"/>
              <a:t>réseau</a:t>
            </a:r>
            <a:endParaRPr lang="fr-FR" dirty="0"/>
          </a:p>
        </p:txBody>
      </p:sp>
      <p:pic>
        <p:nvPicPr>
          <p:cNvPr id="5124" name="Picture 4" descr="Can PowerPoint speak aloud &amp; read the text in my slideshows? | PCWorl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74462" y="1819449"/>
            <a:ext cx="4034871" cy="270000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EDIVAL : Réunion de présentation des supports de visites aux ..."/>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03444" y="1819449"/>
            <a:ext cx="3600000" cy="27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91905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644783" y="636132"/>
            <a:ext cx="8911687" cy="693036"/>
          </a:xfrm>
        </p:spPr>
        <p:txBody>
          <a:bodyPr>
            <a:normAutofit/>
          </a:bodyPr>
          <a:lstStyle/>
          <a:p>
            <a:pPr algn="ctr"/>
            <a:r>
              <a:rPr lang="fr-FR" sz="4000" b="1" dirty="0" smtClean="0"/>
              <a:t>Les outils de développement </a:t>
            </a:r>
            <a:endParaRPr lang="fr-FR" sz="4000" b="1" dirty="0"/>
          </a:p>
        </p:txBody>
      </p:sp>
      <p:pic>
        <p:nvPicPr>
          <p:cNvPr id="1030" name="Picture 6" descr="Résultat d’images pour Python Ic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4721" y="1970034"/>
            <a:ext cx="2128998" cy="2129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Résultat d’images pour pandas bibliothèqu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4721" y="1967285"/>
            <a:ext cx="4320000" cy="218166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Résultat d’images pour jupyte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98978" y="1875441"/>
            <a:ext cx="4320000" cy="2273505"/>
          </a:xfrm>
          <a:prstGeom prst="rect">
            <a:avLst/>
          </a:prstGeom>
          <a:noFill/>
          <a:extLst>
            <a:ext uri="{909E8E84-426E-40DD-AFC4-6F175D3DCCD1}">
              <a14:hiddenFill xmlns:a14="http://schemas.microsoft.com/office/drawing/2010/main">
                <a:solidFill>
                  <a:srgbClr val="FFFFFF"/>
                </a:solidFill>
              </a14:hiddenFill>
            </a:ext>
          </a:extLst>
        </p:spPr>
      </p:pic>
      <p:sp>
        <p:nvSpPr>
          <p:cNvPr id="4" name="Espace réservé du numéro de diapositive 3"/>
          <p:cNvSpPr>
            <a:spLocks noGrp="1"/>
          </p:cNvSpPr>
          <p:nvPr>
            <p:ph type="sldNum" sz="quarter" idx="12"/>
          </p:nvPr>
        </p:nvSpPr>
        <p:spPr/>
        <p:txBody>
          <a:bodyPr/>
          <a:lstStyle/>
          <a:p>
            <a:fld id="{51F074E9-1B56-458D-B411-D109289B208A}" type="slidenum">
              <a:rPr lang="fr-FR" smtClean="0"/>
              <a:t>10</a:t>
            </a:fld>
            <a:endParaRPr lang="fr-FR"/>
          </a:p>
        </p:txBody>
      </p:sp>
      <p:pic>
        <p:nvPicPr>
          <p:cNvPr id="4098" name="Picture 2" descr="Résultat d’images pour image ordinateur face vid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82498" y="4148946"/>
            <a:ext cx="2913445" cy="2097680"/>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p:cNvSpPr txBox="1"/>
          <p:nvPr/>
        </p:nvSpPr>
        <p:spPr>
          <a:xfrm>
            <a:off x="5640434" y="4553082"/>
            <a:ext cx="1597572" cy="923330"/>
          </a:xfrm>
          <a:prstGeom prst="rect">
            <a:avLst/>
          </a:prstGeom>
          <a:noFill/>
        </p:spPr>
        <p:txBody>
          <a:bodyPr wrap="square" rtlCol="0">
            <a:spAutoFit/>
          </a:bodyPr>
          <a:lstStyle/>
          <a:p>
            <a:pPr algn="ctr"/>
            <a:r>
              <a:rPr lang="fr-FR" dirty="0" smtClean="0"/>
              <a:t>Ordinateur</a:t>
            </a:r>
          </a:p>
          <a:p>
            <a:pPr algn="ctr"/>
            <a:r>
              <a:rPr lang="fr-FR" dirty="0" smtClean="0"/>
              <a:t>Hors </a:t>
            </a:r>
          </a:p>
          <a:p>
            <a:pPr algn="ctr"/>
            <a:r>
              <a:rPr lang="fr-FR" dirty="0" smtClean="0"/>
              <a:t>réseau</a:t>
            </a:r>
            <a:endParaRPr lang="fr-FR" dirty="0"/>
          </a:p>
        </p:txBody>
      </p:sp>
    </p:spTree>
    <p:extLst>
      <p:ext uri="{BB962C8B-B14F-4D97-AF65-F5344CB8AC3E}">
        <p14:creationId xmlns:p14="http://schemas.microsoft.com/office/powerpoint/2010/main" val="3485215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93739" y="127950"/>
            <a:ext cx="8911687" cy="1280890"/>
          </a:xfrm>
        </p:spPr>
        <p:txBody>
          <a:bodyPr>
            <a:normAutofit/>
          </a:bodyPr>
          <a:lstStyle/>
          <a:p>
            <a:pPr algn="ctr"/>
            <a:r>
              <a:rPr lang="fr-FR" sz="4000" b="1" dirty="0"/>
              <a:t>P</a:t>
            </a:r>
            <a:r>
              <a:rPr lang="fr-FR" sz="4000" b="1" dirty="0" smtClean="0"/>
              <a:t>rocédé C.A.R</a:t>
            </a:r>
            <a:endParaRPr lang="fr-FR" sz="4000" b="1" dirty="0"/>
          </a:p>
        </p:txBody>
      </p:sp>
      <p:sp>
        <p:nvSpPr>
          <p:cNvPr id="10" name="Espace réservé du numéro de diapositive 9"/>
          <p:cNvSpPr>
            <a:spLocks noGrp="1"/>
          </p:cNvSpPr>
          <p:nvPr>
            <p:ph type="sldNum" sz="quarter" idx="12"/>
          </p:nvPr>
        </p:nvSpPr>
        <p:spPr/>
        <p:txBody>
          <a:bodyPr/>
          <a:lstStyle/>
          <a:p>
            <a:fld id="{51F074E9-1B56-458D-B411-D109289B208A}" type="slidenum">
              <a:rPr lang="fr-FR" smtClean="0"/>
              <a:t>11</a:t>
            </a:fld>
            <a:endParaRPr lang="fr-FR"/>
          </a:p>
        </p:txBody>
      </p:sp>
      <p:pic>
        <p:nvPicPr>
          <p:cNvPr id="6146" name="Picture 2" descr="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2819" y="1876912"/>
            <a:ext cx="9153525" cy="4114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94199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835420" y="0"/>
            <a:ext cx="8911687" cy="1280890"/>
          </a:xfrm>
        </p:spPr>
        <p:txBody>
          <a:bodyPr>
            <a:normAutofit/>
          </a:bodyPr>
          <a:lstStyle/>
          <a:p>
            <a:pPr algn="ctr"/>
            <a:r>
              <a:rPr lang="fr-FR" sz="4000" b="1" dirty="0" smtClean="0"/>
              <a:t>L’acculturation</a:t>
            </a:r>
            <a:endParaRPr lang="fr-FR" sz="4000" b="1" dirty="0"/>
          </a:p>
        </p:txBody>
      </p:sp>
      <p:pic>
        <p:nvPicPr>
          <p:cNvPr id="5" name="Image 4"/>
          <p:cNvPicPr>
            <a:picLocks noChangeAspect="1"/>
          </p:cNvPicPr>
          <p:nvPr/>
        </p:nvPicPr>
        <p:blipFill>
          <a:blip r:embed="rId2"/>
          <a:stretch>
            <a:fillRect/>
          </a:stretch>
        </p:blipFill>
        <p:spPr>
          <a:xfrm>
            <a:off x="818833" y="2007191"/>
            <a:ext cx="5071371" cy="2852102"/>
          </a:xfrm>
          <a:prstGeom prst="rect">
            <a:avLst/>
          </a:prstGeom>
        </p:spPr>
      </p:pic>
      <p:sp>
        <p:nvSpPr>
          <p:cNvPr id="7" name="Espace réservé du numéro de diapositive 6"/>
          <p:cNvSpPr>
            <a:spLocks noGrp="1"/>
          </p:cNvSpPr>
          <p:nvPr>
            <p:ph type="sldNum" sz="quarter" idx="12"/>
          </p:nvPr>
        </p:nvSpPr>
        <p:spPr/>
        <p:txBody>
          <a:bodyPr/>
          <a:lstStyle/>
          <a:p>
            <a:fld id="{51F074E9-1B56-458D-B411-D109289B208A}" type="slidenum">
              <a:rPr lang="fr-FR" smtClean="0"/>
              <a:t>12</a:t>
            </a:fld>
            <a:endParaRPr lang="fr-FR"/>
          </a:p>
        </p:txBody>
      </p:sp>
      <p:pic>
        <p:nvPicPr>
          <p:cNvPr id="3" name="Image 2"/>
          <p:cNvPicPr>
            <a:picLocks noChangeAspect="1"/>
          </p:cNvPicPr>
          <p:nvPr/>
        </p:nvPicPr>
        <p:blipFill>
          <a:blip r:embed="rId3"/>
          <a:stretch>
            <a:fillRect/>
          </a:stretch>
        </p:blipFill>
        <p:spPr>
          <a:xfrm>
            <a:off x="6291263" y="2007191"/>
            <a:ext cx="5053388" cy="2852102"/>
          </a:xfrm>
          <a:prstGeom prst="rect">
            <a:avLst/>
          </a:prstGeom>
        </p:spPr>
      </p:pic>
    </p:spTree>
    <p:extLst>
      <p:ext uri="{BB962C8B-B14F-4D97-AF65-F5344CB8AC3E}">
        <p14:creationId xmlns:p14="http://schemas.microsoft.com/office/powerpoint/2010/main" val="136363311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98070" y="886968"/>
            <a:ext cx="10058400" cy="3566160"/>
          </a:xfrm>
        </p:spPr>
        <p:txBody>
          <a:bodyPr>
            <a:normAutofit/>
          </a:bodyPr>
          <a:lstStyle/>
          <a:p>
            <a:pPr algn="ctr"/>
            <a:r>
              <a:rPr lang="fr-FR" dirty="0"/>
              <a:t>P</a:t>
            </a:r>
            <a:r>
              <a:rPr lang="fr-FR" dirty="0" smtClean="0"/>
              <a:t>rojet d’entraînement</a:t>
            </a:r>
            <a:endParaRPr lang="fr-FR" dirty="0"/>
          </a:p>
        </p:txBody>
      </p:sp>
      <p:sp>
        <p:nvSpPr>
          <p:cNvPr id="5" name="Espace réservé du texte 4"/>
          <p:cNvSpPr>
            <a:spLocks noGrp="1"/>
          </p:cNvSpPr>
          <p:nvPr>
            <p:ph type="body" idx="1"/>
          </p:nvPr>
        </p:nvSpPr>
        <p:spPr>
          <a:xfrm>
            <a:off x="768003" y="4053840"/>
            <a:ext cx="11302077" cy="1899920"/>
          </a:xfrm>
        </p:spPr>
        <p:txBody>
          <a:bodyPr>
            <a:normAutofit fontScale="25000" lnSpcReduction="20000"/>
          </a:bodyPr>
          <a:lstStyle/>
          <a:p>
            <a:pPr marL="342900" indent="-342900">
              <a:buFont typeface="Arial" panose="020B0604020202020204" pitchFamily="34" charset="0"/>
              <a:buChar char="•"/>
            </a:pPr>
            <a:endParaRPr lang="fr-FR" sz="8000" dirty="0"/>
          </a:p>
          <a:p>
            <a:pPr marL="342900" indent="-342900">
              <a:buClr>
                <a:schemeClr val="tx1"/>
              </a:buClr>
              <a:buFont typeface="Arial" panose="020B0604020202020204" pitchFamily="34" charset="0"/>
              <a:buChar char="•"/>
            </a:pPr>
            <a:r>
              <a:rPr lang="fr-FR" sz="7200" dirty="0"/>
              <a:t>Schématisation du projet</a:t>
            </a:r>
          </a:p>
          <a:p>
            <a:pPr marL="342900" indent="-342900">
              <a:buClr>
                <a:schemeClr val="tx1"/>
              </a:buClr>
              <a:buFont typeface="Arial" panose="020B0604020202020204" pitchFamily="34" charset="0"/>
              <a:buChar char="•"/>
            </a:pPr>
            <a:r>
              <a:rPr lang="fr-FR" sz="7200" dirty="0"/>
              <a:t>labellisation des données</a:t>
            </a:r>
          </a:p>
          <a:p>
            <a:pPr marL="342900" indent="-342900">
              <a:buClr>
                <a:schemeClr val="tx1"/>
              </a:buClr>
              <a:buFont typeface="Arial" panose="020B0604020202020204" pitchFamily="34" charset="0"/>
              <a:buChar char="•"/>
            </a:pPr>
            <a:r>
              <a:rPr lang="fr-FR" sz="7200" dirty="0" smtClean="0"/>
              <a:t>Exploration </a:t>
            </a:r>
            <a:r>
              <a:rPr lang="fr-FR" sz="7200" dirty="0"/>
              <a:t>et nettoyage </a:t>
            </a:r>
          </a:p>
          <a:p>
            <a:pPr marL="342900" indent="-342900">
              <a:buClr>
                <a:schemeClr val="tx1"/>
              </a:buClr>
              <a:buFont typeface="Arial" panose="020B0604020202020204" pitchFamily="34" charset="0"/>
              <a:buChar char="•"/>
            </a:pPr>
            <a:r>
              <a:rPr lang="fr-FR" sz="7200" dirty="0" smtClean="0"/>
              <a:t>CHOIX </a:t>
            </a:r>
            <a:r>
              <a:rPr lang="fr-FR" sz="7200" dirty="0"/>
              <a:t>d’un modèle de machine </a:t>
            </a:r>
            <a:r>
              <a:rPr lang="fr-FR" sz="7200" dirty="0" err="1"/>
              <a:t>learning</a:t>
            </a:r>
            <a:endParaRPr lang="fr-FR" sz="7200" dirty="0"/>
          </a:p>
        </p:txBody>
      </p:sp>
      <p:sp>
        <p:nvSpPr>
          <p:cNvPr id="3" name="Espace réservé du numéro de diapositive 2"/>
          <p:cNvSpPr>
            <a:spLocks noGrp="1"/>
          </p:cNvSpPr>
          <p:nvPr>
            <p:ph type="sldNum" sz="quarter" idx="12"/>
          </p:nvPr>
        </p:nvSpPr>
        <p:spPr/>
        <p:txBody>
          <a:bodyPr/>
          <a:lstStyle/>
          <a:p>
            <a:fld id="{51F074E9-1B56-458D-B411-D109289B208A}" type="slidenum">
              <a:rPr lang="fr-FR" smtClean="0"/>
              <a:t>13</a:t>
            </a:fld>
            <a:endParaRPr lang="fr-FR"/>
          </a:p>
        </p:txBody>
      </p:sp>
    </p:spTree>
    <p:extLst>
      <p:ext uri="{BB962C8B-B14F-4D97-AF65-F5344CB8AC3E}">
        <p14:creationId xmlns:p14="http://schemas.microsoft.com/office/powerpoint/2010/main" val="13294069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Schématisation du projet</a:t>
            </a:r>
            <a:endParaRPr lang="fr-FR" dirty="0"/>
          </a:p>
        </p:txBody>
      </p:sp>
      <p:sp>
        <p:nvSpPr>
          <p:cNvPr id="4" name="Espace réservé du numéro de diapositive 3"/>
          <p:cNvSpPr>
            <a:spLocks noGrp="1"/>
          </p:cNvSpPr>
          <p:nvPr>
            <p:ph type="sldNum" sz="quarter" idx="12"/>
          </p:nvPr>
        </p:nvSpPr>
        <p:spPr/>
        <p:txBody>
          <a:bodyPr/>
          <a:lstStyle/>
          <a:p>
            <a:fld id="{51F074E9-1B56-458D-B411-D109289B208A}" type="slidenum">
              <a:rPr lang="fr-FR" smtClean="0"/>
              <a:t>14</a:t>
            </a:fld>
            <a:endParaRPr lang="fr-FR"/>
          </a:p>
        </p:txBody>
      </p:sp>
      <p:pic>
        <p:nvPicPr>
          <p:cNvPr id="10" name="Imag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966" y="2531427"/>
            <a:ext cx="11969613" cy="2477453"/>
          </a:xfrm>
          <a:prstGeom prst="rect">
            <a:avLst/>
          </a:prstGeom>
        </p:spPr>
      </p:pic>
    </p:spTree>
    <p:extLst>
      <p:ext uri="{BB962C8B-B14F-4D97-AF65-F5344CB8AC3E}">
        <p14:creationId xmlns:p14="http://schemas.microsoft.com/office/powerpoint/2010/main" val="34196993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29141" y="150960"/>
            <a:ext cx="10058400" cy="1450757"/>
          </a:xfrm>
        </p:spPr>
        <p:txBody>
          <a:bodyPr/>
          <a:lstStyle/>
          <a:p>
            <a:pPr algn="ctr"/>
            <a:r>
              <a:rPr lang="fr-FR" dirty="0" smtClean="0"/>
              <a:t>Labellisation </a:t>
            </a:r>
            <a:r>
              <a:rPr lang="fr-FR" dirty="0"/>
              <a:t>des données</a:t>
            </a:r>
          </a:p>
        </p:txBody>
      </p:sp>
      <p:sp>
        <p:nvSpPr>
          <p:cNvPr id="4" name="Espace réservé du numéro de diapositive 3"/>
          <p:cNvSpPr>
            <a:spLocks noGrp="1"/>
          </p:cNvSpPr>
          <p:nvPr>
            <p:ph type="sldNum" sz="quarter" idx="12"/>
          </p:nvPr>
        </p:nvSpPr>
        <p:spPr/>
        <p:txBody>
          <a:bodyPr/>
          <a:lstStyle/>
          <a:p>
            <a:fld id="{51F074E9-1B56-458D-B411-D109289B208A}" type="slidenum">
              <a:rPr lang="fr-FR" smtClean="0"/>
              <a:t>15</a:t>
            </a:fld>
            <a:endParaRPr lang="fr-FR"/>
          </a:p>
        </p:txBody>
      </p:sp>
      <p:pic>
        <p:nvPicPr>
          <p:cNvPr id="7" name="Image 6"/>
          <p:cNvPicPr>
            <a:picLocks noChangeAspect="1"/>
          </p:cNvPicPr>
          <p:nvPr/>
        </p:nvPicPr>
        <p:blipFill rotWithShape="1">
          <a:blip r:embed="rId2">
            <a:extLst>
              <a:ext uri="{28A0092B-C50C-407E-A947-70E740481C1C}">
                <a14:useLocalDpi xmlns:a14="http://schemas.microsoft.com/office/drawing/2010/main" val="0"/>
              </a:ext>
            </a:extLst>
          </a:blip>
          <a:srcRect l="74416" t="279" r="-166" b="-123"/>
          <a:stretch/>
        </p:blipFill>
        <p:spPr>
          <a:xfrm>
            <a:off x="8098210" y="2285966"/>
            <a:ext cx="2686397" cy="3111379"/>
          </a:xfrm>
          <a:prstGeom prst="rect">
            <a:avLst/>
          </a:prstGeom>
        </p:spPr>
      </p:pic>
      <p:pic>
        <p:nvPicPr>
          <p:cNvPr id="7172" name="Picture 4" descr="La labellisation pour du NLP à forte valeur ajoutée - Quantmetr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7941" y="1936995"/>
            <a:ext cx="5989819" cy="37280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001934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Exploration et nettoyage</a:t>
            </a:r>
            <a:endParaRPr lang="fr-FR" dirty="0"/>
          </a:p>
        </p:txBody>
      </p:sp>
      <p:sp>
        <p:nvSpPr>
          <p:cNvPr id="4" name="Espace réservé du numéro de diapositive 3"/>
          <p:cNvSpPr>
            <a:spLocks noGrp="1"/>
          </p:cNvSpPr>
          <p:nvPr>
            <p:ph type="sldNum" sz="quarter" idx="12"/>
          </p:nvPr>
        </p:nvSpPr>
        <p:spPr/>
        <p:txBody>
          <a:bodyPr/>
          <a:lstStyle/>
          <a:p>
            <a:fld id="{51F074E9-1B56-458D-B411-D109289B208A}" type="slidenum">
              <a:rPr lang="fr-FR" smtClean="0"/>
              <a:t>16</a:t>
            </a:fld>
            <a:endParaRPr lang="fr-FR"/>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9696" y="1808480"/>
            <a:ext cx="9493568" cy="4424260"/>
          </a:xfrm>
          <a:prstGeom prst="rect">
            <a:avLst/>
          </a:prstGeom>
        </p:spPr>
      </p:pic>
    </p:spTree>
    <p:extLst>
      <p:ext uri="{BB962C8B-B14F-4D97-AF65-F5344CB8AC3E}">
        <p14:creationId xmlns:p14="http://schemas.microsoft.com/office/powerpoint/2010/main" val="11780649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Choix d’un modèle de machine Learning</a:t>
            </a:r>
            <a:endParaRPr lang="fr-FR" dirty="0"/>
          </a:p>
        </p:txBody>
      </p:sp>
      <p:sp>
        <p:nvSpPr>
          <p:cNvPr id="4" name="Espace réservé du numéro de diapositive 3"/>
          <p:cNvSpPr>
            <a:spLocks noGrp="1"/>
          </p:cNvSpPr>
          <p:nvPr>
            <p:ph type="sldNum" sz="quarter" idx="12"/>
          </p:nvPr>
        </p:nvSpPr>
        <p:spPr/>
        <p:txBody>
          <a:bodyPr/>
          <a:lstStyle/>
          <a:p>
            <a:fld id="{51F074E9-1B56-458D-B411-D109289B208A}" type="slidenum">
              <a:rPr lang="fr-FR" smtClean="0"/>
              <a:t>17</a:t>
            </a:fld>
            <a:endParaRPr lang="fr-FR"/>
          </a:p>
        </p:txBody>
      </p:sp>
      <p:pic>
        <p:nvPicPr>
          <p:cNvPr id="10242" name="Picture 2" descr="Tout pour bien démarrer dans l’intelligence artificielle (Partie 4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2055" y="1843052"/>
            <a:ext cx="7068185" cy="44071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545857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21360" y="886966"/>
            <a:ext cx="10058400" cy="3566160"/>
          </a:xfrm>
        </p:spPr>
        <p:txBody>
          <a:bodyPr>
            <a:normAutofit/>
          </a:bodyPr>
          <a:lstStyle/>
          <a:p>
            <a:pPr algn="ctr"/>
            <a:r>
              <a:rPr lang="fr-FR" dirty="0" smtClean="0"/>
              <a:t>Le </a:t>
            </a:r>
            <a:r>
              <a:rPr lang="fr-FR" dirty="0"/>
              <a:t>projet </a:t>
            </a:r>
            <a:r>
              <a:rPr lang="fr-FR" dirty="0" smtClean="0"/>
              <a:t>chef-d’œuvre</a:t>
            </a:r>
            <a:endParaRPr lang="fr-FR" dirty="0"/>
          </a:p>
        </p:txBody>
      </p:sp>
      <p:sp>
        <p:nvSpPr>
          <p:cNvPr id="4" name="Espace réservé du texte 3"/>
          <p:cNvSpPr>
            <a:spLocks noGrp="1"/>
          </p:cNvSpPr>
          <p:nvPr>
            <p:ph type="body" idx="1"/>
          </p:nvPr>
        </p:nvSpPr>
        <p:spPr>
          <a:xfrm>
            <a:off x="1080511" y="4319996"/>
            <a:ext cx="10058400" cy="2006657"/>
          </a:xfrm>
        </p:spPr>
        <p:txBody>
          <a:bodyPr>
            <a:noAutofit/>
          </a:bodyPr>
          <a:lstStyle/>
          <a:p>
            <a:pPr marL="285750" indent="-285750">
              <a:buClr>
                <a:schemeClr val="tx1"/>
              </a:buClr>
              <a:buFont typeface="Arial" panose="020B0604020202020204" pitchFamily="34" charset="0"/>
              <a:buChar char="•"/>
            </a:pPr>
            <a:r>
              <a:rPr lang="fr-FR" sz="1400" dirty="0" smtClean="0"/>
              <a:t>Visualisation des données</a:t>
            </a:r>
          </a:p>
          <a:p>
            <a:pPr marL="285750" indent="-285750">
              <a:buClr>
                <a:schemeClr val="tx1"/>
              </a:buClr>
              <a:buFont typeface="Arial" panose="020B0604020202020204" pitchFamily="34" charset="0"/>
              <a:buChar char="•"/>
            </a:pPr>
            <a:r>
              <a:rPr lang="fr-FR" sz="1400" dirty="0" smtClean="0"/>
              <a:t>L’analyse </a:t>
            </a:r>
            <a:r>
              <a:rPr lang="fr-FR" sz="1400" dirty="0"/>
              <a:t>exploratoire </a:t>
            </a:r>
            <a:r>
              <a:rPr lang="fr-FR" sz="1400" dirty="0" smtClean="0"/>
              <a:t>et</a:t>
            </a:r>
            <a:r>
              <a:rPr lang="fr-FR" sz="1400" dirty="0"/>
              <a:t> </a:t>
            </a:r>
            <a:r>
              <a:rPr lang="fr-FR" sz="1400" dirty="0" smtClean="0"/>
              <a:t>le </a:t>
            </a:r>
            <a:r>
              <a:rPr lang="fr-FR" sz="1400" dirty="0"/>
              <a:t>nettoyage de </a:t>
            </a:r>
            <a:r>
              <a:rPr lang="fr-FR" sz="1400" dirty="0" smtClean="0"/>
              <a:t>données</a:t>
            </a:r>
          </a:p>
          <a:p>
            <a:pPr marL="285750" indent="-285750">
              <a:buClr>
                <a:schemeClr val="tx1"/>
              </a:buClr>
              <a:buFont typeface="Arial" panose="020B0604020202020204" pitchFamily="34" charset="0"/>
              <a:buChar char="•"/>
            </a:pPr>
            <a:r>
              <a:rPr lang="fr-FR" sz="1400" dirty="0"/>
              <a:t>Création de nuage de </a:t>
            </a:r>
            <a:r>
              <a:rPr lang="fr-FR" sz="1400" dirty="0" smtClean="0"/>
              <a:t>mots</a:t>
            </a:r>
          </a:p>
          <a:p>
            <a:pPr marL="285750" indent="-285750">
              <a:buClr>
                <a:schemeClr val="tx1"/>
              </a:buClr>
              <a:buFont typeface="Arial" panose="020B0604020202020204" pitchFamily="34" charset="0"/>
              <a:buChar char="•"/>
            </a:pPr>
            <a:r>
              <a:rPr lang="fr-FR" sz="1400" dirty="0" err="1" smtClean="0"/>
              <a:t>Slicing</a:t>
            </a:r>
            <a:endParaRPr lang="fr-FR" sz="1400" dirty="0" smtClean="0"/>
          </a:p>
          <a:p>
            <a:pPr marL="285750" indent="-285750">
              <a:buClr>
                <a:schemeClr val="tx1"/>
              </a:buClr>
              <a:buFont typeface="Arial" panose="020B0604020202020204" pitchFamily="34" charset="0"/>
              <a:buChar char="•"/>
            </a:pPr>
            <a:r>
              <a:rPr lang="fr-FR" sz="1400" dirty="0"/>
              <a:t>Utilisation d’un modèle de machine </a:t>
            </a:r>
            <a:r>
              <a:rPr lang="fr-FR" sz="1400" dirty="0" err="1" smtClean="0"/>
              <a:t>learning</a:t>
            </a:r>
            <a:endParaRPr lang="fr-FR" sz="1400" dirty="0" smtClean="0"/>
          </a:p>
          <a:p>
            <a:pPr marL="285750" indent="-285750">
              <a:buClr>
                <a:schemeClr val="tx1"/>
              </a:buClr>
              <a:buFont typeface="Arial" panose="020B0604020202020204" pitchFamily="34" charset="0"/>
              <a:buChar char="•"/>
            </a:pPr>
            <a:r>
              <a:rPr lang="fr-FR" sz="1400" dirty="0"/>
              <a:t>Résultats obtenus</a:t>
            </a:r>
          </a:p>
        </p:txBody>
      </p:sp>
      <p:sp>
        <p:nvSpPr>
          <p:cNvPr id="3" name="Espace réservé du numéro de diapositive 2"/>
          <p:cNvSpPr>
            <a:spLocks noGrp="1"/>
          </p:cNvSpPr>
          <p:nvPr>
            <p:ph type="sldNum" sz="quarter" idx="12"/>
          </p:nvPr>
        </p:nvSpPr>
        <p:spPr/>
        <p:txBody>
          <a:bodyPr/>
          <a:lstStyle/>
          <a:p>
            <a:fld id="{51F074E9-1B56-458D-B411-D109289B208A}" type="slidenum">
              <a:rPr lang="fr-FR" smtClean="0"/>
              <a:t>18</a:t>
            </a:fld>
            <a:endParaRPr lang="fr-FR"/>
          </a:p>
        </p:txBody>
      </p:sp>
    </p:spTree>
    <p:extLst>
      <p:ext uri="{BB962C8B-B14F-4D97-AF65-F5344CB8AC3E}">
        <p14:creationId xmlns:p14="http://schemas.microsoft.com/office/powerpoint/2010/main" val="6602036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51F074E9-1B56-458D-B411-D109289B208A}" type="slidenum">
              <a:rPr lang="fr-FR" smtClean="0"/>
              <a:t>19</a:t>
            </a:fld>
            <a:endParaRPr lang="fr-FR"/>
          </a:p>
        </p:txBody>
      </p:sp>
      <p:sp>
        <p:nvSpPr>
          <p:cNvPr id="2" name="Titre 1"/>
          <p:cNvSpPr>
            <a:spLocks noGrp="1"/>
          </p:cNvSpPr>
          <p:nvPr>
            <p:ph type="title" idx="4294967295"/>
          </p:nvPr>
        </p:nvSpPr>
        <p:spPr>
          <a:xfrm>
            <a:off x="1154083" y="-749618"/>
            <a:ext cx="10058400" cy="1450976"/>
          </a:xfrm>
        </p:spPr>
        <p:txBody>
          <a:bodyPr/>
          <a:lstStyle/>
          <a:p>
            <a:pPr algn="ctr"/>
            <a:r>
              <a:rPr lang="fr-FR" dirty="0" smtClean="0"/>
              <a:t>Visualisation des données </a:t>
            </a:r>
            <a:endParaRPr lang="fr-FR" dirty="0"/>
          </a:p>
        </p:txBody>
      </p:sp>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5030" y="701358"/>
            <a:ext cx="6136810" cy="5597441"/>
          </a:xfrm>
          <a:prstGeom prst="rect">
            <a:avLst/>
          </a:prstGeom>
        </p:spPr>
      </p:pic>
    </p:spTree>
    <p:extLst>
      <p:ext uri="{BB962C8B-B14F-4D97-AF65-F5344CB8AC3E}">
        <p14:creationId xmlns:p14="http://schemas.microsoft.com/office/powerpoint/2010/main" val="112212872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88275" y="266118"/>
            <a:ext cx="10058400" cy="1450757"/>
          </a:xfrm>
        </p:spPr>
        <p:txBody>
          <a:bodyPr>
            <a:normAutofit/>
          </a:bodyPr>
          <a:lstStyle/>
          <a:p>
            <a:pPr algn="ctr"/>
            <a:r>
              <a:rPr lang="fr-FR" dirty="0" smtClean="0"/>
              <a:t>L’analyse exploratoire et</a:t>
            </a:r>
            <a:br>
              <a:rPr lang="fr-FR" dirty="0" smtClean="0"/>
            </a:br>
            <a:r>
              <a:rPr lang="fr-FR" dirty="0" smtClean="0"/>
              <a:t> le nettoyage de données</a:t>
            </a:r>
            <a:endParaRPr lang="fr-FR" dirty="0"/>
          </a:p>
        </p:txBody>
      </p:sp>
      <p:sp>
        <p:nvSpPr>
          <p:cNvPr id="4" name="Espace réservé du numéro de diapositive 3"/>
          <p:cNvSpPr>
            <a:spLocks noGrp="1"/>
          </p:cNvSpPr>
          <p:nvPr>
            <p:ph type="sldNum" sz="quarter" idx="12"/>
          </p:nvPr>
        </p:nvSpPr>
        <p:spPr/>
        <p:txBody>
          <a:bodyPr/>
          <a:lstStyle/>
          <a:p>
            <a:fld id="{51F074E9-1B56-458D-B411-D109289B208A}" type="slidenum">
              <a:rPr lang="fr-FR" smtClean="0"/>
              <a:t>20</a:t>
            </a:fld>
            <a:endParaRPr lang="fr-FR"/>
          </a:p>
        </p:txBody>
      </p:sp>
      <p:sp>
        <p:nvSpPr>
          <p:cNvPr id="7" name="ZoneTexte 6"/>
          <p:cNvSpPr txBox="1"/>
          <p:nvPr/>
        </p:nvSpPr>
        <p:spPr>
          <a:xfrm>
            <a:off x="6338048" y="1809208"/>
            <a:ext cx="5441576" cy="369332"/>
          </a:xfrm>
          <a:prstGeom prst="rect">
            <a:avLst/>
          </a:prstGeom>
          <a:noFill/>
        </p:spPr>
        <p:txBody>
          <a:bodyPr wrap="square" rtlCol="0">
            <a:spAutoFit/>
          </a:bodyPr>
          <a:lstStyle/>
          <a:p>
            <a:pPr marL="285750" indent="-285750">
              <a:buFontTx/>
              <a:buChar char="-"/>
            </a:pPr>
            <a:endParaRPr lang="fr-FR" dirty="0"/>
          </a:p>
        </p:txBody>
      </p:sp>
      <p:pic>
        <p:nvPicPr>
          <p:cNvPr id="6" name="Imag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050" y="2345670"/>
            <a:ext cx="11517075" cy="2622570"/>
          </a:xfrm>
          <a:prstGeom prst="rect">
            <a:avLst/>
          </a:prstGeom>
        </p:spPr>
      </p:pic>
    </p:spTree>
    <p:extLst>
      <p:ext uri="{BB962C8B-B14F-4D97-AF65-F5344CB8AC3E}">
        <p14:creationId xmlns:p14="http://schemas.microsoft.com/office/powerpoint/2010/main" val="350368861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99723" y="341336"/>
            <a:ext cx="10058400" cy="1450757"/>
          </a:xfrm>
        </p:spPr>
        <p:txBody>
          <a:bodyPr/>
          <a:lstStyle/>
          <a:p>
            <a:pPr algn="ctr"/>
            <a:r>
              <a:rPr lang="fr-FR" dirty="0"/>
              <a:t>Création de nuage de </a:t>
            </a:r>
            <a:r>
              <a:rPr lang="fr-FR" dirty="0" smtClean="0"/>
              <a:t>mots</a:t>
            </a:r>
            <a:endParaRPr lang="fr-FR" dirty="0"/>
          </a:p>
        </p:txBody>
      </p:sp>
      <p:sp>
        <p:nvSpPr>
          <p:cNvPr id="4" name="Espace réservé du numéro de diapositive 3"/>
          <p:cNvSpPr>
            <a:spLocks noGrp="1"/>
          </p:cNvSpPr>
          <p:nvPr>
            <p:ph type="sldNum" sz="quarter" idx="12"/>
          </p:nvPr>
        </p:nvSpPr>
        <p:spPr/>
        <p:txBody>
          <a:bodyPr/>
          <a:lstStyle/>
          <a:p>
            <a:fld id="{51F074E9-1B56-458D-B411-D109289B208A}" type="slidenum">
              <a:rPr lang="fr-FR" smtClean="0"/>
              <a:t>21</a:t>
            </a:fld>
            <a:endParaRPr lang="fr-FR"/>
          </a:p>
        </p:txBody>
      </p:sp>
      <p:pic>
        <p:nvPicPr>
          <p:cNvPr id="7" name="Espace réservé du contenu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67686" y="2361608"/>
            <a:ext cx="3644797" cy="2476318"/>
          </a:xfr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1454" y="2361608"/>
            <a:ext cx="3836627" cy="2476318"/>
          </a:xfrm>
          <a:prstGeom prst="rect">
            <a:avLst/>
          </a:prstGeom>
        </p:spPr>
      </p:pic>
      <p:sp>
        <p:nvSpPr>
          <p:cNvPr id="9" name="Flèche droite 8"/>
          <p:cNvSpPr/>
          <p:nvPr/>
        </p:nvSpPr>
        <p:spPr>
          <a:xfrm>
            <a:off x="5090160" y="3352800"/>
            <a:ext cx="2397760" cy="3657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5090160" y="2675989"/>
            <a:ext cx="2153920" cy="1753771"/>
          </a:xfrm>
          <a:prstGeom prst="rect">
            <a:avLst/>
          </a:prstGeom>
          <a:noFill/>
        </p:spPr>
        <p:txBody>
          <a:bodyPr wrap="square" rtlCol="0">
            <a:spAutoFit/>
          </a:bodyPr>
          <a:lstStyle/>
          <a:p>
            <a:pPr algn="ctr"/>
            <a:r>
              <a:rPr lang="fr-FR" dirty="0" smtClean="0"/>
              <a:t>Suppression </a:t>
            </a:r>
          </a:p>
          <a:p>
            <a:pPr algn="ctr"/>
            <a:r>
              <a:rPr lang="fr-FR" dirty="0" smtClean="0"/>
              <a:t>des </a:t>
            </a:r>
            <a:r>
              <a:rPr lang="fr-FR" dirty="0" err="1" smtClean="0"/>
              <a:t>stopword</a:t>
            </a:r>
            <a:endParaRPr lang="fr-FR" dirty="0" smtClean="0"/>
          </a:p>
          <a:p>
            <a:pPr algn="ctr"/>
            <a:endParaRPr lang="fr-FR" dirty="0"/>
          </a:p>
          <a:p>
            <a:pPr algn="ctr"/>
            <a:endParaRPr lang="fr-FR" dirty="0" smtClean="0"/>
          </a:p>
          <a:p>
            <a:pPr algn="ctr"/>
            <a:r>
              <a:rPr lang="fr-FR" dirty="0"/>
              <a:t>e</a:t>
            </a:r>
            <a:r>
              <a:rPr lang="fr-FR" dirty="0" smtClean="0"/>
              <a:t>t des mots redondants</a:t>
            </a:r>
            <a:endParaRPr lang="fr-FR" dirty="0"/>
          </a:p>
        </p:txBody>
      </p:sp>
    </p:spTree>
    <p:extLst>
      <p:ext uri="{BB962C8B-B14F-4D97-AF65-F5344CB8AC3E}">
        <p14:creationId xmlns:p14="http://schemas.microsoft.com/office/powerpoint/2010/main" val="156374378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err="1"/>
              <a:t>Slicing</a:t>
            </a:r>
            <a:endParaRPr lang="fr-FR" dirty="0"/>
          </a:p>
        </p:txBody>
      </p:sp>
      <p:sp>
        <p:nvSpPr>
          <p:cNvPr id="4" name="Espace réservé du numéro de diapositive 3"/>
          <p:cNvSpPr>
            <a:spLocks noGrp="1"/>
          </p:cNvSpPr>
          <p:nvPr>
            <p:ph type="sldNum" sz="quarter" idx="12"/>
          </p:nvPr>
        </p:nvSpPr>
        <p:spPr/>
        <p:txBody>
          <a:bodyPr/>
          <a:lstStyle/>
          <a:p>
            <a:fld id="{51F074E9-1B56-458D-B411-D109289B208A}" type="slidenum">
              <a:rPr lang="fr-FR" smtClean="0"/>
              <a:t>22</a:t>
            </a:fld>
            <a:endParaRPr lang="fr-FR"/>
          </a:p>
        </p:txBody>
      </p:sp>
      <p:sp>
        <p:nvSpPr>
          <p:cNvPr id="5" name="ZoneTexte 4"/>
          <p:cNvSpPr txBox="1"/>
          <p:nvPr/>
        </p:nvSpPr>
        <p:spPr>
          <a:xfrm>
            <a:off x="1024037" y="1737360"/>
            <a:ext cx="10468304" cy="4493538"/>
          </a:xfrm>
          <a:prstGeom prst="rect">
            <a:avLst/>
          </a:prstGeom>
          <a:noFill/>
        </p:spPr>
        <p:txBody>
          <a:bodyPr wrap="square" rtlCol="0">
            <a:spAutoFit/>
          </a:bodyPr>
          <a:lstStyle/>
          <a:p>
            <a:r>
              <a:rPr lang="fr-FR" sz="1400" dirty="0"/>
              <a:t>Bonjour, </a:t>
            </a:r>
          </a:p>
          <a:p>
            <a:r>
              <a:rPr lang="fr-FR" sz="1400" dirty="0" smtClean="0"/>
              <a:t>Voici l'extraction </a:t>
            </a:r>
            <a:r>
              <a:rPr lang="fr-FR" sz="1400" dirty="0"/>
              <a:t>OSD ABP numéro 1098/2088 pour la période du 01/12/2021 au </a:t>
            </a:r>
            <a:r>
              <a:rPr lang="fr-FR" sz="1400" dirty="0" smtClean="0"/>
              <a:t>10/08/2022.OSD </a:t>
            </a:r>
            <a:r>
              <a:rPr lang="fr-FR" sz="1400" dirty="0"/>
              <a:t>N°	466365	</a:t>
            </a:r>
          </a:p>
          <a:p>
            <a:r>
              <a:rPr lang="fr-FR" sz="1400" dirty="0"/>
              <a:t>Date	18/03/2022	</a:t>
            </a:r>
          </a:p>
          <a:p>
            <a:r>
              <a:rPr lang="fr-FR" sz="1400" dirty="0"/>
              <a:t>Date de </a:t>
            </a:r>
            <a:r>
              <a:rPr lang="fr-FR" sz="1400" dirty="0" err="1"/>
              <a:t>cloture</a:t>
            </a:r>
            <a:r>
              <a:rPr lang="fr-FR" sz="1400" dirty="0"/>
              <a:t>	21/03/2022	</a:t>
            </a:r>
          </a:p>
          <a:p>
            <a:r>
              <a:rPr lang="fr-FR" sz="1400" dirty="0"/>
              <a:t>Statut	ACCEPTÉ ET CLOS	</a:t>
            </a:r>
          </a:p>
          <a:p>
            <a:r>
              <a:rPr lang="fr-FR" sz="1400" dirty="0"/>
              <a:t>Assuré PACIFICA	Assuré PACIFICA : Oui	</a:t>
            </a:r>
          </a:p>
          <a:p>
            <a:r>
              <a:rPr lang="fr-FR" sz="1400" dirty="0"/>
              <a:t>Numéro de contrat concerné par la demande	000007430564907	</a:t>
            </a:r>
          </a:p>
          <a:p>
            <a:r>
              <a:rPr lang="fr-FR" sz="1400" dirty="0"/>
              <a:t>Produit concerné	Produit concerné : NH	</a:t>
            </a:r>
          </a:p>
          <a:p>
            <a:r>
              <a:rPr lang="fr-FR" sz="1400" dirty="0"/>
              <a:t>Motif de la demande	Motif de la demande : Règles de souscription	</a:t>
            </a:r>
          </a:p>
          <a:p>
            <a:endParaRPr lang="fr-FR" sz="1400" dirty="0"/>
          </a:p>
          <a:p>
            <a:r>
              <a:rPr lang="fr-FR" sz="1600" b="1" dirty="0">
                <a:solidFill>
                  <a:schemeClr val="accent1">
                    <a:lumMod val="60000"/>
                    <a:lumOff val="40000"/>
                  </a:schemeClr>
                </a:solidFill>
              </a:rPr>
              <a:t>Détails de la demande</a:t>
            </a:r>
            <a:r>
              <a:rPr lang="fr-FR" sz="1400" dirty="0"/>
              <a:t>	Bonjour, Notre cliente va participer à une exposition. La salle est mise à disposition par la commune et 38 artistes seront présents. Elle n'exerce pas à titre professionnel et ne souhaite pas couvrir ses sculptures. Cependant, elle souhaite assurer les visiteurs si jamais une sculpture tombait. Est il possible de la couvrir au titre de sa </a:t>
            </a:r>
            <a:r>
              <a:rPr lang="fr-FR" sz="1400" dirty="0" err="1"/>
              <a:t>rc</a:t>
            </a:r>
            <a:r>
              <a:rPr lang="fr-FR" sz="1400" dirty="0"/>
              <a:t> ? Merci pour votre </a:t>
            </a:r>
            <a:r>
              <a:rPr lang="fr-FR" sz="1400" dirty="0" smtClean="0"/>
              <a:t>aide</a:t>
            </a:r>
            <a:endParaRPr lang="fr-FR" sz="1400" dirty="0"/>
          </a:p>
          <a:p>
            <a:r>
              <a:rPr lang="fr-FR" sz="1600" b="1" dirty="0">
                <a:solidFill>
                  <a:schemeClr val="accent1">
                    <a:lumMod val="60000"/>
                    <a:lumOff val="40000"/>
                  </a:schemeClr>
                </a:solidFill>
              </a:rPr>
              <a:t>Commentaire</a:t>
            </a:r>
            <a:r>
              <a:rPr lang="fr-FR" sz="1400" dirty="0"/>
              <a:t>	BONJOUR JULIE, J'AI SOLLICITÉ UGP CIE POUR TA DEMANDE (REF 16586) CAR NOUS AVONS DÉJÀ EU DES DEMANDES POUR DES CAS SIMILAIRES MAIS LES CLIENTS SOUHAITAIENT COUVRIR LEURS OEUVRES (CHOSE QUI N'EST PAS POSSIBLE AVEC NOTRE CONTRAT NH). DANS LE CAS PRÉSENT, LA CLIENTE SOUHAITE SEULEMENT COUVRIR SA RC. JE TE TIENS INFORMÉE DÈS RETOUR DE LEUR PART. BONNE JOURNÉE SANDRINE	</a:t>
            </a:r>
          </a:p>
          <a:p>
            <a:endParaRPr lang="fr-FR" sz="1400" dirty="0"/>
          </a:p>
          <a:p>
            <a:r>
              <a:rPr lang="fr-FR" sz="1600" b="1" dirty="0">
                <a:solidFill>
                  <a:schemeClr val="accent1">
                    <a:lumMod val="60000"/>
                    <a:lumOff val="40000"/>
                  </a:schemeClr>
                </a:solidFill>
              </a:rPr>
              <a:t>Cordialement</a:t>
            </a:r>
            <a:r>
              <a:rPr lang="fr-FR" sz="1400" dirty="0" smtClean="0"/>
              <a:t>,</a:t>
            </a:r>
          </a:p>
          <a:p>
            <a:r>
              <a:rPr lang="fr-FR" sz="1400" dirty="0" smtClean="0"/>
              <a:t>Le </a:t>
            </a:r>
            <a:r>
              <a:rPr lang="fr-FR" sz="1400" dirty="0"/>
              <a:t>Pôle Péri-informatique </a:t>
            </a:r>
            <a:r>
              <a:rPr lang="fr-FR" sz="1400" dirty="0" smtClean="0"/>
              <a:t>Breton</a:t>
            </a:r>
            <a:endParaRPr lang="fr-FR" sz="1400" dirty="0"/>
          </a:p>
        </p:txBody>
      </p:sp>
    </p:spTree>
    <p:extLst>
      <p:ext uri="{BB962C8B-B14F-4D97-AF65-F5344CB8AC3E}">
        <p14:creationId xmlns:p14="http://schemas.microsoft.com/office/powerpoint/2010/main" val="37555955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err="1"/>
              <a:t>Slicing</a:t>
            </a:r>
            <a:endParaRPr lang="fr-FR" dirty="0"/>
          </a:p>
        </p:txBody>
      </p:sp>
      <p:sp>
        <p:nvSpPr>
          <p:cNvPr id="4" name="Espace réservé du numéro de diapositive 3"/>
          <p:cNvSpPr>
            <a:spLocks noGrp="1"/>
          </p:cNvSpPr>
          <p:nvPr>
            <p:ph type="sldNum" sz="quarter" idx="12"/>
          </p:nvPr>
        </p:nvSpPr>
        <p:spPr/>
        <p:txBody>
          <a:bodyPr/>
          <a:lstStyle/>
          <a:p>
            <a:fld id="{51F074E9-1B56-458D-B411-D109289B208A}" type="slidenum">
              <a:rPr lang="fr-FR" smtClean="0"/>
              <a:t>23</a:t>
            </a:fld>
            <a:endParaRPr lang="fr-FR"/>
          </a:p>
        </p:txBody>
      </p:sp>
      <p:sp>
        <p:nvSpPr>
          <p:cNvPr id="5" name="ZoneTexte 4"/>
          <p:cNvSpPr txBox="1"/>
          <p:nvPr/>
        </p:nvSpPr>
        <p:spPr>
          <a:xfrm>
            <a:off x="1003717" y="2418080"/>
            <a:ext cx="10468304" cy="2308324"/>
          </a:xfrm>
          <a:prstGeom prst="rect">
            <a:avLst/>
          </a:prstGeom>
          <a:noFill/>
        </p:spPr>
        <p:txBody>
          <a:bodyPr wrap="square" rtlCol="0">
            <a:spAutoFit/>
          </a:bodyPr>
          <a:lstStyle/>
          <a:p>
            <a:r>
              <a:rPr lang="fr-FR" sz="1400" dirty="0"/>
              <a:t>	Bonjour, Notre cliente va participer à une exposition. La salle est mise à disposition par la commune et 38 artistes seront présents. Elle n'exerce pas à titre professionnel et ne souhaite pas couvrir ses sculptures. Cependant, elle souhaite assurer les visiteurs si jamais une sculpture tombait. Est il possible de la couvrir au titre de sa </a:t>
            </a:r>
            <a:r>
              <a:rPr lang="fr-FR" sz="1400" dirty="0" err="1"/>
              <a:t>rc</a:t>
            </a:r>
            <a:r>
              <a:rPr lang="fr-FR" sz="1400" dirty="0"/>
              <a:t> ? Merci pour votre </a:t>
            </a:r>
            <a:r>
              <a:rPr lang="fr-FR" sz="1400" dirty="0" smtClean="0"/>
              <a:t>aide</a:t>
            </a:r>
            <a:endParaRPr lang="fr-FR" sz="1400" dirty="0"/>
          </a:p>
          <a:p>
            <a:r>
              <a:rPr lang="fr-FR" sz="1600" b="1" dirty="0">
                <a:solidFill>
                  <a:schemeClr val="accent1">
                    <a:lumMod val="60000"/>
                    <a:lumOff val="40000"/>
                  </a:schemeClr>
                </a:solidFill>
              </a:rPr>
              <a:t>Commentaire</a:t>
            </a:r>
            <a:r>
              <a:rPr lang="fr-FR" sz="1400" dirty="0"/>
              <a:t>	BONJOUR JULIE, J'AI SOLLICITÉ UGP CIE POUR TA DEMANDE (REF 16586) CAR NOUS AVONS DÉJÀ EU DES DEMANDES POUR DES CAS SIMILAIRES MAIS LES CLIENTS SOUHAITAIENT COUVRIR LEURS OEUVRES (CHOSE QUI N'EST PAS POSSIBLE AVEC NOTRE CONTRAT NH). DANS LE CAS PRÉSENT, LA CLIENTE SOUHAITE SEULEMENT COUVRIR SA RC. JE TE TIENS INFORMÉE DÈS RETOUR DE LEUR PART. BONNE JOURNÉE SANDRINE	</a:t>
            </a:r>
          </a:p>
          <a:p>
            <a:endParaRPr lang="fr-FR" sz="1400" dirty="0"/>
          </a:p>
          <a:p>
            <a:r>
              <a:rPr lang="fr-FR" sz="1600" b="1" dirty="0">
                <a:solidFill>
                  <a:schemeClr val="accent1">
                    <a:lumMod val="60000"/>
                    <a:lumOff val="40000"/>
                  </a:schemeClr>
                </a:solidFill>
              </a:rPr>
              <a:t>Cordialement</a:t>
            </a:r>
            <a:r>
              <a:rPr lang="fr-FR" sz="1400" dirty="0" smtClean="0"/>
              <a:t>,</a:t>
            </a:r>
          </a:p>
          <a:p>
            <a:r>
              <a:rPr lang="fr-FR" sz="1400" dirty="0" smtClean="0"/>
              <a:t>Le </a:t>
            </a:r>
            <a:r>
              <a:rPr lang="fr-FR" sz="1400" dirty="0"/>
              <a:t>Pôle Péri-informatique </a:t>
            </a:r>
            <a:r>
              <a:rPr lang="fr-FR" sz="1400" dirty="0" smtClean="0"/>
              <a:t>Breton</a:t>
            </a:r>
            <a:endParaRPr lang="fr-FR" sz="1400" dirty="0"/>
          </a:p>
        </p:txBody>
      </p:sp>
    </p:spTree>
    <p:extLst>
      <p:ext uri="{BB962C8B-B14F-4D97-AF65-F5344CB8AC3E}">
        <p14:creationId xmlns:p14="http://schemas.microsoft.com/office/powerpoint/2010/main" val="25365531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err="1"/>
              <a:t>Slicing</a:t>
            </a:r>
            <a:endParaRPr lang="fr-FR" dirty="0"/>
          </a:p>
        </p:txBody>
      </p:sp>
      <p:sp>
        <p:nvSpPr>
          <p:cNvPr id="4" name="Espace réservé du numéro de diapositive 3"/>
          <p:cNvSpPr>
            <a:spLocks noGrp="1"/>
          </p:cNvSpPr>
          <p:nvPr>
            <p:ph type="sldNum" sz="quarter" idx="12"/>
          </p:nvPr>
        </p:nvSpPr>
        <p:spPr/>
        <p:txBody>
          <a:bodyPr/>
          <a:lstStyle/>
          <a:p>
            <a:fld id="{51F074E9-1B56-458D-B411-D109289B208A}" type="slidenum">
              <a:rPr lang="fr-FR" smtClean="0"/>
              <a:t>24</a:t>
            </a:fld>
            <a:endParaRPr lang="fr-FR"/>
          </a:p>
        </p:txBody>
      </p:sp>
      <p:sp>
        <p:nvSpPr>
          <p:cNvPr id="5" name="ZoneTexte 4"/>
          <p:cNvSpPr txBox="1"/>
          <p:nvPr/>
        </p:nvSpPr>
        <p:spPr>
          <a:xfrm>
            <a:off x="1198880" y="1869440"/>
            <a:ext cx="10468304" cy="1631216"/>
          </a:xfrm>
          <a:prstGeom prst="rect">
            <a:avLst/>
          </a:prstGeom>
          <a:noFill/>
        </p:spPr>
        <p:txBody>
          <a:bodyPr wrap="square" rtlCol="0">
            <a:spAutoFit/>
          </a:bodyPr>
          <a:lstStyle/>
          <a:p>
            <a:r>
              <a:rPr lang="fr-FR" sz="1400" dirty="0" smtClean="0"/>
              <a:t>Bonjour</a:t>
            </a:r>
            <a:r>
              <a:rPr lang="fr-FR" sz="1400" dirty="0"/>
              <a:t>, Notre cliente va participer à une exposition. La salle est mise à disposition par la commune et 38 artistes seront présents. Elle n'exerce pas à titre professionnel et ne souhaite pas couvrir ses sculptures. Cependant, elle souhaite assurer les visiteurs si jamais une sculpture tombait. Est il possible de la couvrir au titre de sa </a:t>
            </a:r>
            <a:r>
              <a:rPr lang="fr-FR" sz="1400" dirty="0" err="1"/>
              <a:t>rc</a:t>
            </a:r>
            <a:r>
              <a:rPr lang="fr-FR" sz="1400" dirty="0"/>
              <a:t> ? Merci pour votre </a:t>
            </a:r>
            <a:r>
              <a:rPr lang="fr-FR" sz="1400" dirty="0" smtClean="0"/>
              <a:t>aide</a:t>
            </a:r>
            <a:endParaRPr lang="fr-FR" sz="1400" dirty="0"/>
          </a:p>
          <a:p>
            <a:r>
              <a:rPr lang="fr-FR" sz="1600" b="1" dirty="0">
                <a:solidFill>
                  <a:schemeClr val="accent1">
                    <a:lumMod val="60000"/>
                    <a:lumOff val="40000"/>
                  </a:schemeClr>
                </a:solidFill>
              </a:rPr>
              <a:t>Commentaire</a:t>
            </a:r>
            <a:r>
              <a:rPr lang="fr-FR" sz="1400" dirty="0"/>
              <a:t>	BONJOUR JULIE, J'AI SOLLICITÉ UGP CIE POUR TA DEMANDE (REF 16586) CAR NOUS AVONS DÉJÀ EU DES DEMANDES POUR DES CAS SIMILAIRES MAIS LES CLIENTS SOUHAITAIENT COUVRIR LEURS OEUVRES (CHOSE QUI N'EST PAS POSSIBLE AVEC NOTRE CONTRAT NH). DANS LE CAS PRÉSENT, LA CLIENTE SOUHAITE SEULEMENT COUVRIR SA RC. JE TE TIENS INFORMÉE DÈS RETOUR DE LEUR PART. BONNE JOURNÉE SANDRINE	</a:t>
            </a:r>
          </a:p>
        </p:txBody>
      </p:sp>
    </p:spTree>
    <p:extLst>
      <p:ext uri="{BB962C8B-B14F-4D97-AF65-F5344CB8AC3E}">
        <p14:creationId xmlns:p14="http://schemas.microsoft.com/office/powerpoint/2010/main" val="11332003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err="1"/>
              <a:t>Slicing</a:t>
            </a:r>
            <a:endParaRPr lang="fr-FR" dirty="0"/>
          </a:p>
        </p:txBody>
      </p:sp>
      <p:sp>
        <p:nvSpPr>
          <p:cNvPr id="4" name="Espace réservé du numéro de diapositive 3"/>
          <p:cNvSpPr>
            <a:spLocks noGrp="1"/>
          </p:cNvSpPr>
          <p:nvPr>
            <p:ph type="sldNum" sz="quarter" idx="12"/>
          </p:nvPr>
        </p:nvSpPr>
        <p:spPr/>
        <p:txBody>
          <a:bodyPr/>
          <a:lstStyle/>
          <a:p>
            <a:fld id="{51F074E9-1B56-458D-B411-D109289B208A}" type="slidenum">
              <a:rPr lang="fr-FR" smtClean="0"/>
              <a:t>25</a:t>
            </a:fld>
            <a:endParaRPr lang="fr-FR"/>
          </a:p>
        </p:txBody>
      </p:sp>
      <p:sp>
        <p:nvSpPr>
          <p:cNvPr id="5" name="ZoneTexte 4"/>
          <p:cNvSpPr txBox="1"/>
          <p:nvPr/>
        </p:nvSpPr>
        <p:spPr>
          <a:xfrm>
            <a:off x="6797039" y="1350694"/>
            <a:ext cx="3423921" cy="5109091"/>
          </a:xfrm>
          <a:prstGeom prst="rect">
            <a:avLst/>
          </a:prstGeom>
          <a:noFill/>
        </p:spPr>
        <p:txBody>
          <a:bodyPr wrap="square" rtlCol="0">
            <a:spAutoFit/>
          </a:bodyPr>
          <a:lstStyle/>
          <a:p>
            <a:endParaRPr lang="fr-FR" sz="1400" dirty="0" smtClean="0"/>
          </a:p>
          <a:p>
            <a:endParaRPr lang="fr-FR" sz="1400" dirty="0"/>
          </a:p>
          <a:p>
            <a:r>
              <a:rPr lang="fr-FR" sz="3200" dirty="0" smtClean="0"/>
              <a:t>Réponse : </a:t>
            </a:r>
          </a:p>
          <a:p>
            <a:endParaRPr lang="fr-FR" sz="1400" dirty="0"/>
          </a:p>
          <a:p>
            <a:r>
              <a:rPr lang="fr-FR" dirty="0"/>
              <a:t>BONJOUR JULIE, J'AI SOLLICITÉ UGP CIE POUR TA DEMANDE (REF 16586) CAR NOUS AVONS DÉJÀ EU DES DEMANDES POUR DES CAS SIMILAIRES MAIS LES CLIENTS SOUHAITAIENT COUVRIR LEURS OEUVRES (CHOSE QUI N'EST PAS POSSIBLE AVEC NOTRE CONTRAT NH). </a:t>
            </a:r>
            <a:r>
              <a:rPr lang="fr-FR" dirty="0" smtClean="0"/>
              <a:t>DANS LE CAS PRÉSENT, LA CLIENTE SOUHAITE SEULEMENT COUVRIR SA RC. JE TE TIENS INFORMÉE DÈS RETOUR DE LEUR PART. BONNE JOURNÉE SANDRINE</a:t>
            </a:r>
            <a:r>
              <a:rPr lang="fr-FR" dirty="0"/>
              <a:t>	</a:t>
            </a:r>
          </a:p>
        </p:txBody>
      </p:sp>
      <p:sp>
        <p:nvSpPr>
          <p:cNvPr id="3" name="Rectangle 2"/>
          <p:cNvSpPr/>
          <p:nvPr/>
        </p:nvSpPr>
        <p:spPr>
          <a:xfrm>
            <a:off x="1219200" y="1725658"/>
            <a:ext cx="2987040" cy="4462760"/>
          </a:xfrm>
          <a:prstGeom prst="rect">
            <a:avLst/>
          </a:prstGeom>
        </p:spPr>
        <p:txBody>
          <a:bodyPr wrap="square">
            <a:spAutoFit/>
          </a:bodyPr>
          <a:lstStyle/>
          <a:p>
            <a:r>
              <a:rPr lang="fr-FR" sz="3200" dirty="0" smtClean="0"/>
              <a:t>Question :</a:t>
            </a:r>
          </a:p>
          <a:p>
            <a:endParaRPr lang="fr-FR" dirty="0"/>
          </a:p>
          <a:p>
            <a:r>
              <a:rPr lang="fr-FR" dirty="0" smtClean="0"/>
              <a:t>Bonjour</a:t>
            </a:r>
            <a:r>
              <a:rPr lang="fr-FR" dirty="0"/>
              <a:t>, Notre cliente va participer à une exposition. La salle est mise à disposition par la commune et 38 artistes seront présents. Elle n'exerce pas à titre professionnel et ne souhaite pas couvrir ses sculptures. </a:t>
            </a:r>
            <a:r>
              <a:rPr lang="fr-FR" dirty="0" smtClean="0"/>
              <a:t>Cependant, elle souhaite assurer les visiteurs si jamais une sculpture tombait. Est il possible de la couvrir au titre de sa </a:t>
            </a:r>
            <a:r>
              <a:rPr lang="fr-FR" dirty="0" err="1" smtClean="0"/>
              <a:t>rc</a:t>
            </a:r>
            <a:r>
              <a:rPr lang="fr-FR" dirty="0" smtClean="0"/>
              <a:t> ? Merci pour votre aide</a:t>
            </a:r>
            <a:endParaRPr lang="fr-FR" dirty="0"/>
          </a:p>
        </p:txBody>
      </p:sp>
    </p:spTree>
    <p:extLst>
      <p:ext uri="{BB962C8B-B14F-4D97-AF65-F5344CB8AC3E}">
        <p14:creationId xmlns:p14="http://schemas.microsoft.com/office/powerpoint/2010/main" val="28689692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2552" y="269499"/>
            <a:ext cx="10054008" cy="1280890"/>
          </a:xfrm>
        </p:spPr>
        <p:txBody>
          <a:bodyPr>
            <a:normAutofit fontScale="90000"/>
          </a:bodyPr>
          <a:lstStyle/>
          <a:p>
            <a:pPr algn="ctr"/>
            <a:r>
              <a:rPr lang="fr-FR" dirty="0" smtClean="0"/>
              <a:t>Utilisation d’un modèle de machine </a:t>
            </a:r>
            <a:r>
              <a:rPr lang="fr-FR" dirty="0" err="1" smtClean="0"/>
              <a:t>learning</a:t>
            </a:r>
            <a:r>
              <a:rPr lang="fr-FR" dirty="0" smtClean="0"/>
              <a:t/>
            </a:r>
            <a:br>
              <a:rPr lang="fr-FR" dirty="0" smtClean="0"/>
            </a:br>
            <a:r>
              <a:rPr lang="fr-FR" sz="3100" dirty="0" smtClean="0"/>
              <a:t>(questions)</a:t>
            </a:r>
            <a:endParaRPr lang="fr-FR" sz="3100" dirty="0"/>
          </a:p>
        </p:txBody>
      </p:sp>
      <p:sp>
        <p:nvSpPr>
          <p:cNvPr id="4" name="Espace réservé du numéro de diapositive 3"/>
          <p:cNvSpPr>
            <a:spLocks noGrp="1"/>
          </p:cNvSpPr>
          <p:nvPr>
            <p:ph type="sldNum" sz="quarter" idx="12"/>
          </p:nvPr>
        </p:nvSpPr>
        <p:spPr/>
        <p:txBody>
          <a:bodyPr/>
          <a:lstStyle/>
          <a:p>
            <a:fld id="{51F074E9-1B56-458D-B411-D109289B208A}" type="slidenum">
              <a:rPr lang="fr-FR" smtClean="0"/>
              <a:t>26</a:t>
            </a:fld>
            <a:endParaRPr lang="fr-FR"/>
          </a:p>
        </p:txBody>
      </p:sp>
      <p:pic>
        <p:nvPicPr>
          <p:cNvPr id="7" name="Image 6"/>
          <p:cNvPicPr>
            <a:picLocks noChangeAspect="1"/>
          </p:cNvPicPr>
          <p:nvPr/>
        </p:nvPicPr>
        <p:blipFill rotWithShape="1">
          <a:blip r:embed="rId3">
            <a:extLst>
              <a:ext uri="{28A0092B-C50C-407E-A947-70E740481C1C}">
                <a14:useLocalDpi xmlns:a14="http://schemas.microsoft.com/office/drawing/2010/main" val="0"/>
              </a:ext>
            </a:extLst>
          </a:blip>
          <a:srcRect r="47647"/>
          <a:stretch/>
        </p:blipFill>
        <p:spPr>
          <a:xfrm>
            <a:off x="1558872" y="1782162"/>
            <a:ext cx="3754808" cy="4535277"/>
          </a:xfrm>
          <a:prstGeom prst="rect">
            <a:avLst/>
          </a:prstGeom>
        </p:spPr>
      </p:pic>
      <p:pic>
        <p:nvPicPr>
          <p:cNvPr id="8" name="Image 7"/>
          <p:cNvPicPr>
            <a:picLocks noChangeAspect="1"/>
          </p:cNvPicPr>
          <p:nvPr/>
        </p:nvPicPr>
        <p:blipFill>
          <a:blip r:embed="rId4"/>
          <a:stretch>
            <a:fillRect/>
          </a:stretch>
        </p:blipFill>
        <p:spPr>
          <a:xfrm>
            <a:off x="5793740" y="1860141"/>
            <a:ext cx="5229860" cy="4197651"/>
          </a:xfrm>
          <a:prstGeom prst="rect">
            <a:avLst/>
          </a:prstGeom>
        </p:spPr>
      </p:pic>
    </p:spTree>
    <p:extLst>
      <p:ext uri="{BB962C8B-B14F-4D97-AF65-F5344CB8AC3E}">
        <p14:creationId xmlns:p14="http://schemas.microsoft.com/office/powerpoint/2010/main" val="409829733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2552" y="269499"/>
            <a:ext cx="10054008" cy="1280890"/>
          </a:xfrm>
        </p:spPr>
        <p:txBody>
          <a:bodyPr>
            <a:normAutofit fontScale="90000"/>
          </a:bodyPr>
          <a:lstStyle/>
          <a:p>
            <a:pPr algn="ctr"/>
            <a:r>
              <a:rPr lang="fr-FR" dirty="0" smtClean="0"/>
              <a:t>Utilisation d’un modèle de machine </a:t>
            </a:r>
            <a:r>
              <a:rPr lang="fr-FR" dirty="0" err="1" smtClean="0"/>
              <a:t>learning</a:t>
            </a:r>
            <a:r>
              <a:rPr lang="fr-FR" dirty="0" smtClean="0"/>
              <a:t/>
            </a:r>
            <a:br>
              <a:rPr lang="fr-FR" dirty="0" smtClean="0"/>
            </a:br>
            <a:r>
              <a:rPr lang="fr-FR" sz="3100" dirty="0" smtClean="0"/>
              <a:t>(les réponses)</a:t>
            </a:r>
            <a:endParaRPr lang="fr-FR" sz="3100" dirty="0"/>
          </a:p>
        </p:txBody>
      </p:sp>
      <p:sp>
        <p:nvSpPr>
          <p:cNvPr id="4" name="Espace réservé du numéro de diapositive 3"/>
          <p:cNvSpPr>
            <a:spLocks noGrp="1"/>
          </p:cNvSpPr>
          <p:nvPr>
            <p:ph type="sldNum" sz="quarter" idx="12"/>
          </p:nvPr>
        </p:nvSpPr>
        <p:spPr/>
        <p:txBody>
          <a:bodyPr/>
          <a:lstStyle/>
          <a:p>
            <a:fld id="{51F074E9-1B56-458D-B411-D109289B208A}" type="slidenum">
              <a:rPr lang="fr-FR" smtClean="0"/>
              <a:t>27</a:t>
            </a:fld>
            <a:endParaRPr lang="fr-FR"/>
          </a:p>
        </p:txBody>
      </p:sp>
      <p:pic>
        <p:nvPicPr>
          <p:cNvPr id="8" name="Image 7"/>
          <p:cNvPicPr>
            <a:picLocks noChangeAspect="1"/>
          </p:cNvPicPr>
          <p:nvPr/>
        </p:nvPicPr>
        <p:blipFill rotWithShape="1">
          <a:blip r:embed="rId2">
            <a:extLst>
              <a:ext uri="{28A0092B-C50C-407E-A947-70E740481C1C}">
                <a14:useLocalDpi xmlns:a14="http://schemas.microsoft.com/office/drawing/2010/main" val="0"/>
              </a:ext>
            </a:extLst>
          </a:blip>
          <a:srcRect r="47777"/>
          <a:stretch/>
        </p:blipFill>
        <p:spPr>
          <a:xfrm>
            <a:off x="1123166" y="1770317"/>
            <a:ext cx="3691142" cy="4469539"/>
          </a:xfrm>
          <a:prstGeom prst="rect">
            <a:avLst/>
          </a:prstGeom>
        </p:spPr>
      </p:pic>
      <p:pic>
        <p:nvPicPr>
          <p:cNvPr id="9" name="Image 8"/>
          <p:cNvPicPr>
            <a:picLocks noChangeAspect="1"/>
          </p:cNvPicPr>
          <p:nvPr/>
        </p:nvPicPr>
        <p:blipFill>
          <a:blip r:embed="rId3"/>
          <a:stretch>
            <a:fillRect/>
          </a:stretch>
        </p:blipFill>
        <p:spPr>
          <a:xfrm>
            <a:off x="5336510" y="1880234"/>
            <a:ext cx="5727730" cy="4099149"/>
          </a:xfrm>
          <a:prstGeom prst="rect">
            <a:avLst/>
          </a:prstGeom>
        </p:spPr>
      </p:pic>
    </p:spTree>
    <p:extLst>
      <p:ext uri="{BB962C8B-B14F-4D97-AF65-F5344CB8AC3E}">
        <p14:creationId xmlns:p14="http://schemas.microsoft.com/office/powerpoint/2010/main" val="165713365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2552" y="269499"/>
            <a:ext cx="10054008" cy="1280890"/>
          </a:xfrm>
        </p:spPr>
        <p:txBody>
          <a:bodyPr>
            <a:normAutofit fontScale="90000"/>
          </a:bodyPr>
          <a:lstStyle/>
          <a:p>
            <a:pPr algn="ctr"/>
            <a:r>
              <a:rPr lang="fr-FR" dirty="0" smtClean="0"/>
              <a:t>Utilisation d’un modèle de machine </a:t>
            </a:r>
            <a:r>
              <a:rPr lang="fr-FR" dirty="0" err="1" smtClean="0"/>
              <a:t>learning</a:t>
            </a:r>
            <a:r>
              <a:rPr lang="fr-FR" dirty="0" smtClean="0"/>
              <a:t/>
            </a:r>
            <a:br>
              <a:rPr lang="fr-FR" dirty="0" smtClean="0"/>
            </a:br>
            <a:r>
              <a:rPr lang="fr-FR" sz="3100" dirty="0" smtClean="0"/>
              <a:t>(les questions et réponses)</a:t>
            </a:r>
            <a:endParaRPr lang="fr-FR" sz="3100" dirty="0"/>
          </a:p>
        </p:txBody>
      </p:sp>
      <p:sp>
        <p:nvSpPr>
          <p:cNvPr id="4" name="Espace réservé du numéro de diapositive 3"/>
          <p:cNvSpPr>
            <a:spLocks noGrp="1"/>
          </p:cNvSpPr>
          <p:nvPr>
            <p:ph type="sldNum" sz="quarter" idx="12"/>
          </p:nvPr>
        </p:nvSpPr>
        <p:spPr/>
        <p:txBody>
          <a:bodyPr/>
          <a:lstStyle/>
          <a:p>
            <a:fld id="{51F074E9-1B56-458D-B411-D109289B208A}" type="slidenum">
              <a:rPr lang="fr-FR" smtClean="0"/>
              <a:t>28</a:t>
            </a:fld>
            <a:endParaRPr lang="fr-FR"/>
          </a:p>
        </p:txBody>
      </p:sp>
      <p:pic>
        <p:nvPicPr>
          <p:cNvPr id="7" name="Image 6"/>
          <p:cNvPicPr>
            <a:picLocks noChangeAspect="1"/>
          </p:cNvPicPr>
          <p:nvPr/>
        </p:nvPicPr>
        <p:blipFill rotWithShape="1">
          <a:blip r:embed="rId3"/>
          <a:srcRect t="8781"/>
          <a:stretch/>
        </p:blipFill>
        <p:spPr>
          <a:xfrm>
            <a:off x="5591000" y="1828800"/>
            <a:ext cx="5889799" cy="3943743"/>
          </a:xfrm>
          <a:prstGeom prst="rect">
            <a:avLst/>
          </a:prstGeom>
        </p:spPr>
      </p:pic>
      <p:pic>
        <p:nvPicPr>
          <p:cNvPr id="9" name="Image 8"/>
          <p:cNvPicPr>
            <a:picLocks noChangeAspect="1"/>
          </p:cNvPicPr>
          <p:nvPr/>
        </p:nvPicPr>
        <p:blipFill rotWithShape="1">
          <a:blip r:embed="rId4">
            <a:extLst>
              <a:ext uri="{28A0092B-C50C-407E-A947-70E740481C1C}">
                <a14:useLocalDpi xmlns:a14="http://schemas.microsoft.com/office/drawing/2010/main" val="0"/>
              </a:ext>
            </a:extLst>
          </a:blip>
          <a:srcRect r="46993"/>
          <a:stretch/>
        </p:blipFill>
        <p:spPr>
          <a:xfrm>
            <a:off x="1316206" y="1828800"/>
            <a:ext cx="3662194" cy="4368863"/>
          </a:xfrm>
          <a:prstGeom prst="rect">
            <a:avLst/>
          </a:prstGeom>
        </p:spPr>
      </p:pic>
    </p:spTree>
    <p:extLst>
      <p:ext uri="{BB962C8B-B14F-4D97-AF65-F5344CB8AC3E}">
        <p14:creationId xmlns:p14="http://schemas.microsoft.com/office/powerpoint/2010/main" val="1859602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51F074E9-1B56-458D-B411-D109289B208A}" type="slidenum">
              <a:rPr lang="fr-FR" smtClean="0"/>
              <a:t>29</a:t>
            </a:fld>
            <a:endParaRPr lang="fr-FR"/>
          </a:p>
        </p:txBody>
      </p:sp>
      <p:sp>
        <p:nvSpPr>
          <p:cNvPr id="2" name="Titre 1"/>
          <p:cNvSpPr>
            <a:spLocks noGrp="1"/>
          </p:cNvSpPr>
          <p:nvPr>
            <p:ph type="title" idx="4294967295"/>
          </p:nvPr>
        </p:nvSpPr>
        <p:spPr>
          <a:xfrm>
            <a:off x="991523" y="-416560"/>
            <a:ext cx="10058400" cy="1449387"/>
          </a:xfrm>
        </p:spPr>
        <p:txBody>
          <a:bodyPr/>
          <a:lstStyle/>
          <a:p>
            <a:pPr algn="ctr"/>
            <a:r>
              <a:rPr lang="fr-FR" dirty="0" smtClean="0"/>
              <a:t>Résultats obtenus</a:t>
            </a:r>
            <a:endParaRPr lang="fr-FR" dirty="0"/>
          </a:p>
        </p:txBody>
      </p:sp>
      <p:pic>
        <p:nvPicPr>
          <p:cNvPr id="7" name="Image 6"/>
          <p:cNvPicPr>
            <a:picLocks noChangeAspect="1"/>
          </p:cNvPicPr>
          <p:nvPr/>
        </p:nvPicPr>
        <p:blipFill>
          <a:blip r:embed="rId2"/>
          <a:stretch>
            <a:fillRect/>
          </a:stretch>
        </p:blipFill>
        <p:spPr>
          <a:xfrm>
            <a:off x="2191558" y="1032827"/>
            <a:ext cx="8098630" cy="5124133"/>
          </a:xfrm>
          <a:prstGeom prst="rect">
            <a:avLst/>
          </a:prstGeom>
        </p:spPr>
      </p:pic>
    </p:spTree>
    <p:extLst>
      <p:ext uri="{BB962C8B-B14F-4D97-AF65-F5344CB8AC3E}">
        <p14:creationId xmlns:p14="http://schemas.microsoft.com/office/powerpoint/2010/main" val="100801360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a:t>
            </a:r>
            <a:r>
              <a:rPr lang="fr-FR" dirty="0" smtClean="0"/>
              <a:t>onclusion</a:t>
            </a:r>
            <a:endParaRPr lang="fr-FR" dirty="0"/>
          </a:p>
        </p:txBody>
      </p:sp>
      <p:sp>
        <p:nvSpPr>
          <p:cNvPr id="5" name="Espace réservé du texte 4"/>
          <p:cNvSpPr>
            <a:spLocks noGrp="1"/>
          </p:cNvSpPr>
          <p:nvPr>
            <p:ph type="body" idx="1"/>
          </p:nvPr>
        </p:nvSpPr>
        <p:spPr/>
        <p:txBody>
          <a:bodyPr>
            <a:normAutofit/>
          </a:bodyPr>
          <a:lstStyle/>
          <a:p>
            <a:pPr marL="342900" indent="-342900">
              <a:buClr>
                <a:schemeClr val="tx1"/>
              </a:buClr>
              <a:buFont typeface="Arial" panose="020B0604020202020204" pitchFamily="34" charset="0"/>
              <a:buChar char="•"/>
            </a:pPr>
            <a:r>
              <a:rPr lang="fr-FR" sz="2000" dirty="0" smtClean="0"/>
              <a:t>Possibilités d’amélioration</a:t>
            </a:r>
          </a:p>
          <a:p>
            <a:pPr marL="342900" indent="-342900">
              <a:buClr>
                <a:schemeClr val="tx1"/>
              </a:buClr>
              <a:buFont typeface="Arial" panose="020B0604020202020204" pitchFamily="34" charset="0"/>
              <a:buChar char="•"/>
            </a:pPr>
            <a:r>
              <a:rPr lang="fr-FR" sz="2000" dirty="0"/>
              <a:t>État actuel</a:t>
            </a:r>
          </a:p>
        </p:txBody>
      </p:sp>
      <p:sp>
        <p:nvSpPr>
          <p:cNvPr id="4" name="Espace réservé du numéro de diapositive 3"/>
          <p:cNvSpPr>
            <a:spLocks noGrp="1"/>
          </p:cNvSpPr>
          <p:nvPr>
            <p:ph type="sldNum" sz="quarter" idx="12"/>
          </p:nvPr>
        </p:nvSpPr>
        <p:spPr/>
        <p:txBody>
          <a:bodyPr/>
          <a:lstStyle/>
          <a:p>
            <a:fld id="{51F074E9-1B56-458D-B411-D109289B208A}" type="slidenum">
              <a:rPr lang="fr-FR" smtClean="0"/>
              <a:t>30</a:t>
            </a:fld>
            <a:endParaRPr lang="fr-FR"/>
          </a:p>
        </p:txBody>
      </p:sp>
    </p:spTree>
    <p:extLst>
      <p:ext uri="{BB962C8B-B14F-4D97-AF65-F5344CB8AC3E}">
        <p14:creationId xmlns:p14="http://schemas.microsoft.com/office/powerpoint/2010/main" val="152342408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27438" y="324234"/>
            <a:ext cx="10058400" cy="1450757"/>
          </a:xfrm>
        </p:spPr>
        <p:txBody>
          <a:bodyPr/>
          <a:lstStyle/>
          <a:p>
            <a:pPr algn="ctr"/>
            <a:r>
              <a:rPr lang="fr-FR" dirty="0" smtClean="0"/>
              <a:t>Possibilités d’amélioration</a:t>
            </a:r>
            <a:endParaRPr lang="fr-FR" dirty="0"/>
          </a:p>
        </p:txBody>
      </p:sp>
      <p:sp>
        <p:nvSpPr>
          <p:cNvPr id="4" name="Espace réservé du numéro de diapositive 3"/>
          <p:cNvSpPr>
            <a:spLocks noGrp="1"/>
          </p:cNvSpPr>
          <p:nvPr>
            <p:ph type="sldNum" sz="quarter" idx="12"/>
          </p:nvPr>
        </p:nvSpPr>
        <p:spPr/>
        <p:txBody>
          <a:bodyPr/>
          <a:lstStyle/>
          <a:p>
            <a:fld id="{51F074E9-1B56-458D-B411-D109289B208A}" type="slidenum">
              <a:rPr lang="fr-FR" smtClean="0"/>
              <a:t>31</a:t>
            </a:fld>
            <a:endParaRPr lang="fr-FR"/>
          </a:p>
        </p:txBody>
      </p:sp>
      <p:pic>
        <p:nvPicPr>
          <p:cNvPr id="5" name="Imag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3937" y="2487647"/>
            <a:ext cx="5738546" cy="2891245"/>
          </a:xfrm>
          <a:prstGeom prst="rect">
            <a:avLst/>
          </a:prstGeom>
        </p:spPr>
      </p:pic>
      <p:pic>
        <p:nvPicPr>
          <p:cNvPr id="6" name="Imag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752" y="2487647"/>
            <a:ext cx="5082516" cy="2859911"/>
          </a:xfrm>
          <a:prstGeom prst="rect">
            <a:avLst/>
          </a:prstGeom>
        </p:spPr>
      </p:pic>
    </p:spTree>
    <p:extLst>
      <p:ext uri="{BB962C8B-B14F-4D97-AF65-F5344CB8AC3E}">
        <p14:creationId xmlns:p14="http://schemas.microsoft.com/office/powerpoint/2010/main" val="283053407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97280" y="99631"/>
            <a:ext cx="10058400" cy="1450757"/>
          </a:xfrm>
        </p:spPr>
        <p:txBody>
          <a:bodyPr/>
          <a:lstStyle/>
          <a:p>
            <a:pPr algn="ctr"/>
            <a:r>
              <a:rPr lang="fr-FR" dirty="0" smtClean="0"/>
              <a:t>État actuel</a:t>
            </a:r>
            <a:endParaRPr lang="fr-FR" dirty="0"/>
          </a:p>
        </p:txBody>
      </p:sp>
      <p:sp>
        <p:nvSpPr>
          <p:cNvPr id="4" name="Espace réservé du numéro de diapositive 3"/>
          <p:cNvSpPr>
            <a:spLocks noGrp="1"/>
          </p:cNvSpPr>
          <p:nvPr>
            <p:ph type="sldNum" sz="quarter" idx="12"/>
          </p:nvPr>
        </p:nvSpPr>
        <p:spPr/>
        <p:txBody>
          <a:bodyPr/>
          <a:lstStyle/>
          <a:p>
            <a:fld id="{51F074E9-1B56-458D-B411-D109289B208A}" type="slidenum">
              <a:rPr lang="fr-FR" smtClean="0"/>
              <a:t>32</a:t>
            </a:fld>
            <a:endParaRPr lang="fr-FR"/>
          </a:p>
        </p:txBody>
      </p:sp>
      <p:pic>
        <p:nvPicPr>
          <p:cNvPr id="1026" name="Picture 2" descr="Growth Progress Blue Arrow Graph Stock Vector - Illustration of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1740" y="1827430"/>
            <a:ext cx="4910411" cy="4462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791098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049219" y="578069"/>
            <a:ext cx="10058400" cy="1329664"/>
          </a:xfrm>
        </p:spPr>
        <p:txBody>
          <a:bodyPr>
            <a:normAutofit/>
          </a:bodyPr>
          <a:lstStyle/>
          <a:p>
            <a:pPr algn="ctr"/>
            <a:r>
              <a:rPr lang="fr-FR" sz="4000" b="1" dirty="0"/>
              <a:t>CAS PRATIQUE E2</a:t>
            </a:r>
            <a:r>
              <a:rPr lang="fr-FR" sz="4000" dirty="0"/>
              <a:t> </a:t>
            </a:r>
            <a:br>
              <a:rPr lang="fr-FR" sz="4000" dirty="0"/>
            </a:br>
            <a:endParaRPr lang="fr-FR" sz="4000" dirty="0"/>
          </a:p>
        </p:txBody>
      </p:sp>
      <p:sp>
        <p:nvSpPr>
          <p:cNvPr id="4" name="Espace réservé du numéro de diapositive 3"/>
          <p:cNvSpPr>
            <a:spLocks noGrp="1"/>
          </p:cNvSpPr>
          <p:nvPr>
            <p:ph type="sldNum" sz="quarter" idx="12"/>
          </p:nvPr>
        </p:nvSpPr>
        <p:spPr/>
        <p:txBody>
          <a:bodyPr/>
          <a:lstStyle/>
          <a:p>
            <a:fld id="{51F074E9-1B56-458D-B411-D109289B208A}" type="slidenum">
              <a:rPr lang="fr-FR" smtClean="0"/>
              <a:t>33</a:t>
            </a:fld>
            <a:endParaRPr lang="fr-FR"/>
          </a:p>
        </p:txBody>
      </p:sp>
      <p:sp>
        <p:nvSpPr>
          <p:cNvPr id="6" name="Rectangle 5"/>
          <p:cNvSpPr/>
          <p:nvPr/>
        </p:nvSpPr>
        <p:spPr>
          <a:xfrm>
            <a:off x="3375259" y="1582350"/>
            <a:ext cx="5507983" cy="1231106"/>
          </a:xfrm>
          <a:prstGeom prst="rect">
            <a:avLst/>
          </a:prstGeom>
        </p:spPr>
        <p:txBody>
          <a:bodyPr wrap="none">
            <a:spAutoFit/>
          </a:bodyPr>
          <a:lstStyle/>
          <a:p>
            <a:pPr algn="ctr"/>
            <a:r>
              <a:rPr lang="fr-FR" sz="2800" b="1" dirty="0"/>
              <a:t>Améliorer </a:t>
            </a:r>
            <a:r>
              <a:rPr lang="fr-FR" sz="2800" b="1" dirty="0" smtClean="0"/>
              <a:t>une application de projet</a:t>
            </a:r>
          </a:p>
          <a:p>
            <a:pPr algn="ctr"/>
            <a:r>
              <a:rPr lang="fr-FR" sz="2800" b="1" dirty="0" smtClean="0"/>
              <a:t> avec </a:t>
            </a:r>
            <a:r>
              <a:rPr lang="fr-FR" sz="2800" b="1" dirty="0"/>
              <a:t>de l’intelligence </a:t>
            </a:r>
            <a:r>
              <a:rPr lang="fr-FR" sz="2800" b="1" dirty="0" smtClean="0"/>
              <a:t>artificielle</a:t>
            </a:r>
          </a:p>
          <a:p>
            <a:pPr algn="ctr"/>
            <a:r>
              <a:rPr lang="fr-FR" b="1" dirty="0" smtClean="0"/>
              <a:t>« projet journaux »</a:t>
            </a:r>
            <a:endParaRPr lang="fr-FR" dirty="0"/>
          </a:p>
        </p:txBody>
      </p:sp>
      <p:sp>
        <p:nvSpPr>
          <p:cNvPr id="8" name="ZoneTexte 7"/>
          <p:cNvSpPr txBox="1"/>
          <p:nvPr/>
        </p:nvSpPr>
        <p:spPr>
          <a:xfrm>
            <a:off x="1179160" y="4006158"/>
            <a:ext cx="7630510" cy="369332"/>
          </a:xfrm>
          <a:prstGeom prst="rect">
            <a:avLst/>
          </a:prstGeom>
          <a:noFill/>
        </p:spPr>
        <p:txBody>
          <a:bodyPr wrap="square" rtlCol="0">
            <a:spAutoFit/>
          </a:bodyPr>
          <a:lstStyle/>
          <a:p>
            <a:r>
              <a:rPr lang="fr-FR" dirty="0" smtClean="0"/>
              <a:t>PASQUIERS Anatole</a:t>
            </a:r>
            <a:endParaRPr lang="fr-FR" dirty="0"/>
          </a:p>
        </p:txBody>
      </p:sp>
      <p:sp>
        <p:nvSpPr>
          <p:cNvPr id="9" name="Rectangle 8"/>
          <p:cNvSpPr/>
          <p:nvPr/>
        </p:nvSpPr>
        <p:spPr>
          <a:xfrm>
            <a:off x="2117739" y="4734522"/>
            <a:ext cx="7921360" cy="869405"/>
          </a:xfrm>
          <a:prstGeom prst="rect">
            <a:avLst/>
          </a:prstGeom>
        </p:spPr>
        <p:txBody>
          <a:bodyPr wrap="square">
            <a:spAutoFit/>
          </a:bodyPr>
          <a:lstStyle/>
          <a:p>
            <a:pPr algn="ctr">
              <a:lnSpc>
                <a:spcPct val="107000"/>
              </a:lnSpc>
              <a:spcAft>
                <a:spcPts val="800"/>
              </a:spcAft>
            </a:pPr>
            <a:r>
              <a:rPr lang="fr-FR" sz="1600" dirty="0" smtClean="0">
                <a:latin typeface="Arial" panose="020B0604020202020204" pitchFamily="34" charset="0"/>
                <a:ea typeface="Calibri" panose="020F0502020204030204" pitchFamily="34" charset="0"/>
                <a:cs typeface="Times New Roman" panose="02020603050405020304" pitchFamily="18" charset="0"/>
              </a:rPr>
              <a:t>« L’objectif </a:t>
            </a:r>
            <a:r>
              <a:rPr lang="fr-FR" sz="1600" dirty="0">
                <a:latin typeface="Arial" panose="020B0604020202020204" pitchFamily="34" charset="0"/>
                <a:ea typeface="Calibri" panose="020F0502020204030204" pitchFamily="34" charset="0"/>
                <a:cs typeface="Times New Roman" panose="02020603050405020304" pitchFamily="18" charset="0"/>
              </a:rPr>
              <a:t>de ce projet est la création d’une IA qui en fonction d’un texte est capable de prédire dans quel journal il a pu être publié, ce projet se base sur 3 journaux qui seront des publications en français</a:t>
            </a:r>
            <a:r>
              <a:rPr lang="fr-FR" sz="1600" dirty="0" smtClean="0">
                <a:latin typeface="Arial" panose="020B0604020202020204" pitchFamily="34" charset="0"/>
                <a:ea typeface="Calibri" panose="020F0502020204030204" pitchFamily="34" charset="0"/>
                <a:cs typeface="Times New Roman" panose="02020603050405020304" pitchFamily="18" charset="0"/>
              </a:rPr>
              <a:t>. »</a:t>
            </a:r>
            <a:endParaRPr lang="fr-FR"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0080148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Les journaux </a:t>
            </a:r>
            <a:endParaRPr lang="fr-FR" dirty="0"/>
          </a:p>
        </p:txBody>
      </p:sp>
      <p:sp>
        <p:nvSpPr>
          <p:cNvPr id="4" name="Espace réservé du numéro de diapositive 3"/>
          <p:cNvSpPr>
            <a:spLocks noGrp="1"/>
          </p:cNvSpPr>
          <p:nvPr>
            <p:ph type="sldNum" sz="quarter" idx="12"/>
          </p:nvPr>
        </p:nvSpPr>
        <p:spPr/>
        <p:txBody>
          <a:bodyPr/>
          <a:lstStyle/>
          <a:p>
            <a:fld id="{51F074E9-1B56-458D-B411-D109289B208A}" type="slidenum">
              <a:rPr lang="fr-FR" smtClean="0"/>
              <a:t>34</a:t>
            </a:fld>
            <a:endParaRPr lang="fr-FR"/>
          </a:p>
        </p:txBody>
      </p:sp>
      <p:pic>
        <p:nvPicPr>
          <p:cNvPr id="2050" name="Picture 2" descr="Lebigdata.fr, site 100 % Cloud et Big Data, connaît une forte croissa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0768" y="3693539"/>
            <a:ext cx="4617757" cy="131935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20 Minutes - Demain Genèv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3983" y="1783581"/>
            <a:ext cx="3871326" cy="1951998"/>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p:cNvPicPr>
            <a:picLocks noChangeAspect="1"/>
          </p:cNvPicPr>
          <p:nvPr/>
        </p:nvPicPr>
        <p:blipFill>
          <a:blip r:embed="rId4"/>
          <a:stretch>
            <a:fillRect/>
          </a:stretch>
        </p:blipFill>
        <p:spPr>
          <a:xfrm>
            <a:off x="1706881" y="5012898"/>
            <a:ext cx="8193577" cy="1256915"/>
          </a:xfrm>
          <a:prstGeom prst="rect">
            <a:avLst/>
          </a:prstGeom>
        </p:spPr>
      </p:pic>
    </p:spTree>
    <p:extLst>
      <p:ext uri="{BB962C8B-B14F-4D97-AF65-F5344CB8AC3E}">
        <p14:creationId xmlns:p14="http://schemas.microsoft.com/office/powerpoint/2010/main" val="104832505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Amélioration</a:t>
            </a:r>
            <a:endParaRPr lang="fr-FR" dirty="0"/>
          </a:p>
        </p:txBody>
      </p:sp>
      <p:sp>
        <p:nvSpPr>
          <p:cNvPr id="4" name="Espace réservé du numéro de diapositive 3"/>
          <p:cNvSpPr>
            <a:spLocks noGrp="1"/>
          </p:cNvSpPr>
          <p:nvPr>
            <p:ph type="sldNum" sz="quarter" idx="12"/>
          </p:nvPr>
        </p:nvSpPr>
        <p:spPr/>
        <p:txBody>
          <a:bodyPr/>
          <a:lstStyle/>
          <a:p>
            <a:fld id="{51F074E9-1B56-458D-B411-D109289B208A}" type="slidenum">
              <a:rPr lang="fr-FR" smtClean="0"/>
              <a:t>35</a:t>
            </a:fld>
            <a:endParaRPr lang="fr-FR"/>
          </a:p>
        </p:txBody>
      </p:sp>
      <p:pic>
        <p:nvPicPr>
          <p:cNvPr id="3074" name="Picture 2" descr="An Intro to Hyper-parameter Optimization using Grid Search and Random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49626" y="2382291"/>
            <a:ext cx="5576854" cy="282731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Diplomado Profesional Python México DF CDMX - Grupo Codes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6788" y="2124309"/>
            <a:ext cx="3333750" cy="3343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9841088"/>
      </p:ext>
    </p:extLst>
  </p:cSld>
  <p:clrMapOvr>
    <a:masterClrMapping/>
  </p:clrMapOvr>
  <p:timing>
    <p:tnLst>
      <p:par>
        <p:cTn id="1" dur="indefinite" restart="never" nodeType="tmRoot"/>
      </p:par>
    </p:tnLst>
  </p:timing>
</p:sld>
</file>

<file path=ppt/theme/theme1.xml><?xml version="1.0" encoding="utf-8"?>
<a:theme xmlns:a="http://schemas.openxmlformats.org/drawingml/2006/main" name="Rétrospective">
  <a:themeElements>
    <a:clrScheme name="Personnalisé 5">
      <a:dk1>
        <a:sysClr val="windowText" lastClr="000000"/>
      </a:dk1>
      <a:lt1>
        <a:sysClr val="window" lastClr="FFFFFF"/>
      </a:lt1>
      <a:dk2>
        <a:srgbClr val="455F51"/>
      </a:dk2>
      <a:lt2>
        <a:srgbClr val="E2DFCC"/>
      </a:lt2>
      <a:accent1>
        <a:srgbClr val="BA2406"/>
      </a:accent1>
      <a:accent2>
        <a:srgbClr val="30937B"/>
      </a:accent2>
      <a:accent3>
        <a:srgbClr val="37A76F"/>
      </a:accent3>
      <a:accent4>
        <a:srgbClr val="44C1A3"/>
      </a:accent4>
      <a:accent5>
        <a:srgbClr val="4EB3CF"/>
      </a:accent5>
      <a:accent6>
        <a:srgbClr val="51C3F9"/>
      </a:accent6>
      <a:hlink>
        <a:srgbClr val="6B9F25"/>
      </a:hlink>
      <a:folHlink>
        <a:srgbClr val="B26B02"/>
      </a:folHlink>
    </a:clrScheme>
    <a:fontScheme name="Rétrospectiv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étrospective">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16268</TotalTime>
  <Words>585</Words>
  <Application>Microsoft Office PowerPoint</Application>
  <PresentationFormat>Grand écran</PresentationFormat>
  <Paragraphs>199</Paragraphs>
  <Slides>35</Slides>
  <Notes>8</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35</vt:i4>
      </vt:variant>
    </vt:vector>
  </HeadingPairs>
  <TitlesOfParts>
    <vt:vector size="41" baseType="lpstr">
      <vt:lpstr>Arial</vt:lpstr>
      <vt:lpstr>Calibri</vt:lpstr>
      <vt:lpstr>Calibri Light</vt:lpstr>
      <vt:lpstr>Times New Roman</vt:lpstr>
      <vt:lpstr>Wingdings</vt:lpstr>
      <vt:lpstr>Rétrospective</vt:lpstr>
      <vt:lpstr>Présentation PowerPoint</vt:lpstr>
      <vt:lpstr>Plan</vt:lpstr>
      <vt:lpstr>Introduction</vt:lpstr>
      <vt:lpstr>Le Crédit Agricole</vt:lpstr>
      <vt:lpstr>Le Pôle A.B.P.  (Assurance Biens et Personnes)   </vt:lpstr>
      <vt:lpstr>L’unité C.A.R. (Conseil Assistance Réseau)</vt:lpstr>
      <vt:lpstr>L’implémentation du projet au sein  de la Caisse Régionale </vt:lpstr>
      <vt:lpstr>Cadre du projet</vt:lpstr>
      <vt:lpstr>Les outils de gestion de projet</vt:lpstr>
      <vt:lpstr>Les outils de développement </vt:lpstr>
      <vt:lpstr>Procédé C.A.R</vt:lpstr>
      <vt:lpstr>L’acculturation</vt:lpstr>
      <vt:lpstr>Projet d’entraînement</vt:lpstr>
      <vt:lpstr>Schématisation du projet</vt:lpstr>
      <vt:lpstr>Labellisation des données</vt:lpstr>
      <vt:lpstr>Exploration et nettoyage</vt:lpstr>
      <vt:lpstr>Choix d’un modèle de machine Learning</vt:lpstr>
      <vt:lpstr>Le projet chef-d’œuvre</vt:lpstr>
      <vt:lpstr>Visualisation des données </vt:lpstr>
      <vt:lpstr>L’analyse exploratoire et  le nettoyage de données</vt:lpstr>
      <vt:lpstr>Création de nuage de mots</vt:lpstr>
      <vt:lpstr>Slicing</vt:lpstr>
      <vt:lpstr>Slicing</vt:lpstr>
      <vt:lpstr>Slicing</vt:lpstr>
      <vt:lpstr>Slicing</vt:lpstr>
      <vt:lpstr>Utilisation d’un modèle de machine learning (questions)</vt:lpstr>
      <vt:lpstr>Utilisation d’un modèle de machine learning (les réponses)</vt:lpstr>
      <vt:lpstr>Utilisation d’un modèle de machine learning (les questions et réponses)</vt:lpstr>
      <vt:lpstr>Résultats obtenus</vt:lpstr>
      <vt:lpstr>Conclusion</vt:lpstr>
      <vt:lpstr>Possibilités d’amélioration</vt:lpstr>
      <vt:lpstr>État actuel</vt:lpstr>
      <vt:lpstr>CAS PRATIQUE E2  </vt:lpstr>
      <vt:lpstr>Les journaux </vt:lpstr>
      <vt:lpstr>Amélioration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IA-Alternant</dc:creator>
  <cp:lastModifiedBy>IA-Alternant</cp:lastModifiedBy>
  <cp:revision>126</cp:revision>
  <dcterms:created xsi:type="dcterms:W3CDTF">2023-04-06T12:51:31Z</dcterms:created>
  <dcterms:modified xsi:type="dcterms:W3CDTF">2023-05-09T13:07:46Z</dcterms:modified>
</cp:coreProperties>
</file>